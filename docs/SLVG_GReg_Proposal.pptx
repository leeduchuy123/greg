
<file path=[Content_Types].xml><?xml version="1.0" encoding="utf-8"?>
<Types xmlns="http://schemas.openxmlformats.org/package/2006/content-types">
  <Default Extension="bin" ContentType="application/vnd.openxmlformats-officedocument.presentationml.printerSetting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hand_normal.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flow_Is.png"/><Relationship Id="rId3" Type="http://schemas.openxmlformats.org/officeDocument/2006/relationships/image" Target="../media/flow_Nt.png"/><Relationship Id="rId4" Type="http://schemas.openxmlformats.org/officeDocument/2006/relationships/image" Target="../media/flow_Ns.png"/><Relationship Id="rId5" Type="http://schemas.openxmlformats.org/officeDocument/2006/relationships/image" Target="../media/flow_R.png"/><Relationship Id="rId6" Type="http://schemas.openxmlformats.org/officeDocument/2006/relationships/image" Target="../media/flow_GR.png"/><Relationship Id="rId7" Type="http://schemas.openxmlformats.org/officeDocument/2006/relationships/image" Target="../media/flow_F.png"/><Relationship Id="rId8" Type="http://schemas.openxmlformats.org/officeDocument/2006/relationships/image" Target="../media/flow_O.png"/><Relationship Id="rId9" Type="http://schemas.openxmlformats.org/officeDocument/2006/relationships/image" Target="../media/flow_Ist.png"/><Relationship Id="rId10" Type="http://schemas.openxmlformats.org/officeDocument/2006/relationships/image" Target="../media/flow_Igen.png"/><Relationship Id="rId11" Type="http://schemas.openxmlformats.org/officeDocument/2006/relationships/image" Target="../media/flow_out.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37"/>
        </a:solidFill>
        <a:effectLst/>
      </p:bgPr>
    </p:bg>
    <p:spTree>
      <p:nvGrpSpPr>
        <p:cNvPr id="1" name=""/>
        <p:cNvGrpSpPr/>
        <p:nvPr/>
      </p:nvGrpSpPr>
      <p:grpSpPr/>
      <p:cxnSp>
        <p:nvCxnSpPr>
          <p:cNvPr id="2" name="Connector 1"/>
          <p:cNvCxnSpPr/>
          <p:nvPr/>
        </p:nvCxnSpPr>
        <p:spPr>
          <a:xfrm>
            <a:off x="850392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00684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50976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01268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51560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603504"/>
            <a:ext cx="4572000" cy="256032"/>
          </a:xfrm>
          <a:prstGeom prst="rect">
            <a:avLst/>
          </a:prstGeom>
          <a:noFill/>
        </p:spPr>
        <p:txBody>
          <a:bodyPr wrap="square" lIns="36576" rIns="36576" tIns="36576" bIns="36576" anchor="t">
            <a:spAutoFit/>
          </a:bodyPr>
          <a:lstStyle/>
          <a:p>
            <a:pPr algn="l">
              <a:spcAft>
                <a:spcPts val="400"/>
              </a:spcAft>
            </a:pPr>
            <a:r>
              <a:rPr sz="1000" b="1" i="0">
                <a:solidFill>
                  <a:srgbClr val="5BC4D2"/>
                </a:solidFill>
                <a:latin typeface="Aptos"/>
              </a:rPr>
              <a:t>RESEARCH PROPOSAL  •  2026</a:t>
            </a:r>
          </a:p>
        </p:txBody>
      </p:sp>
      <p:sp>
        <p:nvSpPr>
          <p:cNvPr id="8" name="TextBox 7"/>
          <p:cNvSpPr txBox="1"/>
          <p:nvPr/>
        </p:nvSpPr>
        <p:spPr>
          <a:xfrm>
            <a:off x="713232" y="1078992"/>
            <a:ext cx="6400800" cy="1234440"/>
          </a:xfrm>
          <a:prstGeom prst="rect">
            <a:avLst/>
          </a:prstGeom>
          <a:noFill/>
        </p:spPr>
        <p:txBody>
          <a:bodyPr wrap="square" lIns="36576" rIns="36576" tIns="36576" bIns="36576" anchor="t">
            <a:spAutoFit/>
          </a:bodyPr>
          <a:lstStyle/>
          <a:p>
            <a:pPr algn="l">
              <a:spcAft>
                <a:spcPts val="400"/>
              </a:spcAft>
            </a:pPr>
            <a:r>
              <a:rPr sz="3100" b="1" i="0">
                <a:solidFill>
                  <a:srgbClr val="FFFFFF"/>
                </a:solidFill>
                <a:latin typeface="Aptos Display"/>
              </a:rPr>
              <a:t>Sign Language</a:t>
            </a:r>
          </a:p>
          <a:p>
            <a:pPr algn="l">
              <a:spcAft>
                <a:spcPts val="400"/>
              </a:spcAft>
            </a:pPr>
            <a:r>
              <a:rPr sz="3100" b="1" i="0">
                <a:solidFill>
                  <a:srgbClr val="FFFFFF"/>
                </a:solidFill>
                <a:latin typeface="Aptos Display"/>
              </a:rPr>
              <a:t>Video Generation</a:t>
            </a:r>
          </a:p>
        </p:txBody>
      </p:sp>
      <p:sp>
        <p:nvSpPr>
          <p:cNvPr id="9" name="TextBox 8"/>
          <p:cNvSpPr txBox="1"/>
          <p:nvPr/>
        </p:nvSpPr>
        <p:spPr>
          <a:xfrm>
            <a:off x="749808" y="2487168"/>
            <a:ext cx="5577840" cy="594360"/>
          </a:xfrm>
          <a:prstGeom prst="rect">
            <a:avLst/>
          </a:prstGeom>
          <a:noFill/>
        </p:spPr>
        <p:txBody>
          <a:bodyPr wrap="square" lIns="36576" rIns="36576" tIns="36576" bIns="36576" anchor="t">
            <a:spAutoFit/>
          </a:bodyPr>
          <a:lstStyle/>
          <a:p>
            <a:pPr algn="l">
              <a:spcAft>
                <a:spcPts val="400"/>
              </a:spcAft>
            </a:pPr>
            <a:r>
              <a:rPr sz="1700" b="0" i="0">
                <a:solidFill>
                  <a:srgbClr val="D0DCEA"/>
                </a:solidFill>
                <a:latin typeface="Aptos"/>
              </a:rPr>
              <a:t>Tái triển khai GReg và nghiên cứu cải thiện</a:t>
            </a:r>
          </a:p>
          <a:p>
            <a:pPr algn="l">
              <a:spcAft>
                <a:spcPts val="400"/>
              </a:spcAft>
            </a:pPr>
            <a:r>
              <a:rPr sz="1700" b="0" i="0">
                <a:solidFill>
                  <a:srgbClr val="D0DCEA"/>
                </a:solidFill>
                <a:latin typeface="Aptos"/>
              </a:rPr>
              <a:t>độ chính xác bàn tay trong video ký hiệu</a:t>
            </a:r>
          </a:p>
        </p:txBody>
      </p:sp>
      <p:sp>
        <p:nvSpPr>
          <p:cNvPr id="10" name="Rounded Rectangle 9"/>
          <p:cNvSpPr/>
          <p:nvPr/>
        </p:nvSpPr>
        <p:spPr>
          <a:xfrm>
            <a:off x="749808" y="3429000"/>
            <a:ext cx="1874519" cy="384048"/>
          </a:xfrm>
          <a:prstGeom prst="roundRect">
            <a:avLst>
              <a:gd name="adj" fmla="val 12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511296"/>
            <a:ext cx="1691640" cy="182880"/>
          </a:xfrm>
          <a:prstGeom prst="rect">
            <a:avLst/>
          </a:prstGeom>
          <a:noFill/>
        </p:spPr>
        <p:txBody>
          <a:bodyPr wrap="square" lIns="36576" rIns="36576" tIns="36576" bIns="36576" anchor="t">
            <a:spAutoFit/>
          </a:bodyPr>
          <a:lstStyle/>
          <a:p>
            <a:pPr algn="ctr">
              <a:spcAft>
                <a:spcPts val="400"/>
              </a:spcAft>
            </a:pPr>
            <a:r>
              <a:rPr sz="900" b="1" i="0">
                <a:solidFill>
                  <a:srgbClr val="FFFFFF"/>
                </a:solidFill>
                <a:latin typeface="Aptos"/>
              </a:rPr>
              <a:t>FOCUS: GReg / PGMM</a:t>
            </a:r>
          </a:p>
        </p:txBody>
      </p:sp>
      <p:sp>
        <p:nvSpPr>
          <p:cNvPr id="12" name="Rounded Rectangle 11"/>
          <p:cNvSpPr/>
          <p:nvPr/>
        </p:nvSpPr>
        <p:spPr>
          <a:xfrm>
            <a:off x="7315200" y="1005840"/>
            <a:ext cx="3977639" cy="868680"/>
          </a:xfrm>
          <a:prstGeom prst="roundRect">
            <a:avLst>
              <a:gd name="adj" fmla="val 12000"/>
            </a:avLst>
          </a:prstGeom>
          <a:solidFill>
            <a:srgbClr val="1F304E"/>
          </a:solidFill>
          <a:ln>
            <a:solidFill>
              <a:srgbClr val="3749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43800" y="1216152"/>
            <a:ext cx="411480" cy="411480"/>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1298448"/>
            <a:ext cx="411480" cy="182880"/>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A</a:t>
            </a:r>
          </a:p>
        </p:txBody>
      </p:sp>
      <p:sp>
        <p:nvSpPr>
          <p:cNvPr id="15" name="TextBox 14"/>
          <p:cNvSpPr txBox="1"/>
          <p:nvPr/>
        </p:nvSpPr>
        <p:spPr>
          <a:xfrm>
            <a:off x="8138160" y="1152144"/>
            <a:ext cx="2834640" cy="274320"/>
          </a:xfrm>
          <a:prstGeom prst="rect">
            <a:avLst/>
          </a:prstGeom>
          <a:noFill/>
        </p:spPr>
        <p:txBody>
          <a:bodyPr wrap="square" lIns="36576" rIns="36576" tIns="36576" bIns="36576" anchor="t">
            <a:spAutoFit/>
          </a:bodyPr>
          <a:lstStyle/>
          <a:p>
            <a:pPr algn="l">
              <a:spcAft>
                <a:spcPts val="400"/>
              </a:spcAft>
            </a:pPr>
            <a:r>
              <a:rPr sz="1500" b="1" i="0">
                <a:solidFill>
                  <a:srgbClr val="FFFFFF"/>
                </a:solidFill>
                <a:latin typeface="Aptos"/>
              </a:rPr>
              <a:t>Reference + pose</a:t>
            </a:r>
          </a:p>
        </p:txBody>
      </p:sp>
      <p:sp>
        <p:nvSpPr>
          <p:cNvPr id="16" name="TextBox 15"/>
          <p:cNvSpPr txBox="1"/>
          <p:nvPr/>
        </p:nvSpPr>
        <p:spPr>
          <a:xfrm>
            <a:off x="8138160" y="1490472"/>
            <a:ext cx="2926080" cy="201168"/>
          </a:xfrm>
          <a:prstGeom prst="rect">
            <a:avLst/>
          </a:prstGeom>
          <a:noFill/>
        </p:spPr>
        <p:txBody>
          <a:bodyPr wrap="square" lIns="36576" rIns="36576" tIns="36576" bIns="36576" anchor="t">
            <a:spAutoFit/>
          </a:bodyPr>
          <a:lstStyle/>
          <a:p>
            <a:pPr algn="l">
              <a:spcAft>
                <a:spcPts val="400"/>
              </a:spcAft>
            </a:pPr>
            <a:r>
              <a:rPr sz="1000" b="0" i="0">
                <a:solidFill>
                  <a:srgbClr val="BECCDC"/>
                </a:solidFill>
                <a:latin typeface="Aptos"/>
              </a:rPr>
              <a:t>Điều khiển chuyển động</a:t>
            </a:r>
          </a:p>
        </p:txBody>
      </p:sp>
      <p:sp>
        <p:nvSpPr>
          <p:cNvPr id="17" name="Rounded Rectangle 16"/>
          <p:cNvSpPr/>
          <p:nvPr/>
        </p:nvSpPr>
        <p:spPr>
          <a:xfrm>
            <a:off x="7315200" y="2176272"/>
            <a:ext cx="3977639" cy="868680"/>
          </a:xfrm>
          <a:prstGeom prst="roundRect">
            <a:avLst>
              <a:gd name="adj" fmla="val 12000"/>
            </a:avLst>
          </a:prstGeom>
          <a:solidFill>
            <a:srgbClr val="1F304E"/>
          </a:solidFill>
          <a:ln>
            <a:solidFill>
              <a:srgbClr val="3749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543800" y="2386584"/>
            <a:ext cx="411480" cy="411480"/>
          </a:xfrm>
          <a:prstGeom prst="ellipse">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800" y="2468879"/>
            <a:ext cx="411480" cy="182880"/>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B</a:t>
            </a:r>
          </a:p>
        </p:txBody>
      </p:sp>
      <p:sp>
        <p:nvSpPr>
          <p:cNvPr id="20" name="TextBox 19"/>
          <p:cNvSpPr txBox="1"/>
          <p:nvPr/>
        </p:nvSpPr>
        <p:spPr>
          <a:xfrm>
            <a:off x="8138160" y="2322576"/>
            <a:ext cx="2834640" cy="274320"/>
          </a:xfrm>
          <a:prstGeom prst="rect">
            <a:avLst/>
          </a:prstGeom>
          <a:noFill/>
        </p:spPr>
        <p:txBody>
          <a:bodyPr wrap="square" lIns="36576" rIns="36576" tIns="36576" bIns="36576" anchor="t">
            <a:spAutoFit/>
          </a:bodyPr>
          <a:lstStyle/>
          <a:p>
            <a:pPr algn="l">
              <a:spcAft>
                <a:spcPts val="400"/>
              </a:spcAft>
            </a:pPr>
            <a:r>
              <a:rPr sz="1500" b="1" i="0">
                <a:solidFill>
                  <a:srgbClr val="FFFFFF"/>
                </a:solidFill>
                <a:latin typeface="Aptos"/>
              </a:rPr>
              <a:t>Text → sign video</a:t>
            </a:r>
          </a:p>
        </p:txBody>
      </p:sp>
      <p:sp>
        <p:nvSpPr>
          <p:cNvPr id="21" name="TextBox 20"/>
          <p:cNvSpPr txBox="1"/>
          <p:nvPr/>
        </p:nvSpPr>
        <p:spPr>
          <a:xfrm>
            <a:off x="8138160" y="2660904"/>
            <a:ext cx="2926080" cy="201168"/>
          </a:xfrm>
          <a:prstGeom prst="rect">
            <a:avLst/>
          </a:prstGeom>
          <a:noFill/>
        </p:spPr>
        <p:txBody>
          <a:bodyPr wrap="square" lIns="36576" rIns="36576" tIns="36576" bIns="36576" anchor="t">
            <a:spAutoFit/>
          </a:bodyPr>
          <a:lstStyle/>
          <a:p>
            <a:pPr algn="l">
              <a:spcAft>
                <a:spcPts val="400"/>
              </a:spcAft>
            </a:pPr>
            <a:r>
              <a:rPr sz="1000" b="0" i="0">
                <a:solidFill>
                  <a:srgbClr val="BECCDC"/>
                </a:solidFill>
                <a:latin typeface="Aptos"/>
              </a:rPr>
              <a:t>Sinh trực tiếp từ văn bản</a:t>
            </a:r>
          </a:p>
        </p:txBody>
      </p:sp>
      <p:sp>
        <p:nvSpPr>
          <p:cNvPr id="22" name="Rounded Rectangle 21"/>
          <p:cNvSpPr/>
          <p:nvPr/>
        </p:nvSpPr>
        <p:spPr>
          <a:xfrm>
            <a:off x="7315200" y="3346704"/>
            <a:ext cx="3977639" cy="868680"/>
          </a:xfrm>
          <a:prstGeom prst="roundRect">
            <a:avLst>
              <a:gd name="adj" fmla="val 12000"/>
            </a:avLst>
          </a:prstGeom>
          <a:solidFill>
            <a:srgbClr val="1F304E"/>
          </a:solidFill>
          <a:ln>
            <a:solidFill>
              <a:srgbClr val="3749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43800" y="3557016"/>
            <a:ext cx="411480" cy="411480"/>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0" y="3639312"/>
            <a:ext cx="411480" cy="182880"/>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C</a:t>
            </a:r>
          </a:p>
        </p:txBody>
      </p:sp>
      <p:sp>
        <p:nvSpPr>
          <p:cNvPr id="25" name="TextBox 24"/>
          <p:cNvSpPr txBox="1"/>
          <p:nvPr/>
        </p:nvSpPr>
        <p:spPr>
          <a:xfrm>
            <a:off x="8138160" y="3493008"/>
            <a:ext cx="2834640" cy="274320"/>
          </a:xfrm>
          <a:prstGeom prst="rect">
            <a:avLst/>
          </a:prstGeom>
          <a:noFill/>
        </p:spPr>
        <p:txBody>
          <a:bodyPr wrap="square" lIns="36576" rIns="36576" tIns="36576" bIns="36576" anchor="t">
            <a:spAutoFit/>
          </a:bodyPr>
          <a:lstStyle/>
          <a:p>
            <a:pPr algn="l">
              <a:spcAft>
                <a:spcPts val="400"/>
              </a:spcAft>
            </a:pPr>
            <a:r>
              <a:rPr sz="1500" b="1" i="0">
                <a:solidFill>
                  <a:srgbClr val="FFFFFF"/>
                </a:solidFill>
                <a:latin typeface="Aptos"/>
              </a:rPr>
              <a:t>Foundation models</a:t>
            </a:r>
          </a:p>
        </p:txBody>
      </p:sp>
      <p:sp>
        <p:nvSpPr>
          <p:cNvPr id="26" name="TextBox 25"/>
          <p:cNvSpPr txBox="1"/>
          <p:nvPr/>
        </p:nvSpPr>
        <p:spPr>
          <a:xfrm>
            <a:off x="8138160" y="3831336"/>
            <a:ext cx="2926080" cy="201168"/>
          </a:xfrm>
          <a:prstGeom prst="rect">
            <a:avLst/>
          </a:prstGeom>
          <a:noFill/>
        </p:spPr>
        <p:txBody>
          <a:bodyPr wrap="square" lIns="36576" rIns="36576" tIns="36576" bIns="36576" anchor="t">
            <a:spAutoFit/>
          </a:bodyPr>
          <a:lstStyle/>
          <a:p>
            <a:pPr algn="l">
              <a:spcAft>
                <a:spcPts val="400"/>
              </a:spcAft>
            </a:pPr>
            <a:r>
              <a:rPr sz="1000" b="0" i="0">
                <a:solidFill>
                  <a:srgbClr val="BECCDC"/>
                </a:solidFill>
                <a:latin typeface="Aptos"/>
              </a:rPr>
              <a:t>Tận dụng video diffusion</a:t>
            </a:r>
          </a:p>
        </p:txBody>
      </p:sp>
      <p:sp>
        <p:nvSpPr>
          <p:cNvPr id="27" name="TextBox 26"/>
          <p:cNvSpPr txBox="1"/>
          <p:nvPr/>
        </p:nvSpPr>
        <p:spPr>
          <a:xfrm>
            <a:off x="749808" y="6016752"/>
            <a:ext cx="6583680" cy="274320"/>
          </a:xfrm>
          <a:prstGeom prst="rect">
            <a:avLst/>
          </a:prstGeom>
          <a:noFill/>
        </p:spPr>
        <p:txBody>
          <a:bodyPr wrap="square" lIns="36576" rIns="36576" tIns="36576" bIns="36576" anchor="t">
            <a:spAutoFit/>
          </a:bodyPr>
          <a:lstStyle/>
          <a:p>
            <a:pPr algn="l">
              <a:spcAft>
                <a:spcPts val="400"/>
              </a:spcAft>
            </a:pPr>
            <a:r>
              <a:rPr sz="1000" b="0" i="0">
                <a:solidFill>
                  <a:srgbClr val="BECCDC"/>
                </a:solidFill>
                <a:latin typeface="Aptos"/>
              </a:rPr>
              <a:t>Đề xuất: tái lập baseline → kiểm chứng → mở rộng câu hỏi nghiên cứu</a:t>
            </a:r>
          </a:p>
        </p:txBody>
      </p:sp>
      <p:sp>
        <p:nvSpPr>
          <p:cNvPr id="28" name="TextBox 27"/>
          <p:cNvSpPr txBox="1"/>
          <p:nvPr/>
        </p:nvSpPr>
        <p:spPr>
          <a:xfrm>
            <a:off x="11018520" y="6492240"/>
            <a:ext cx="548640" cy="182880"/>
          </a:xfrm>
          <a:prstGeom prst="rect">
            <a:avLst/>
          </a:prstGeom>
          <a:noFill/>
        </p:spPr>
        <p:txBody>
          <a:bodyPr wrap="square" lIns="36576" rIns="36576" tIns="36576" bIns="36576" anchor="t">
            <a:spAutoFit/>
          </a:bodyPr>
          <a:lstStyle/>
          <a:p>
            <a:pPr algn="r">
              <a:spcAft>
                <a:spcPts val="400"/>
              </a:spcAft>
            </a:pPr>
            <a:r>
              <a:rPr sz="900" b="1" i="0">
                <a:solidFill>
                  <a:srgbClr val="5BC4D2"/>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300"/>
              </a:spcAft>
            </a:pPr>
            <a:r>
              <a:rPr sz="900" b="1">
                <a:solidFill>
                  <a:srgbClr val="24AEA0"/>
                </a:solidFill>
                <a:latin typeface="Aptos"/>
              </a:rPr>
              <a:t>01 • LANDSCAPE</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300"/>
              </a:spcAft>
            </a:pPr>
            <a:r>
              <a:rPr sz="2400" b="1">
                <a:solidFill>
                  <a:srgbClr val="142037"/>
                </a:solidFill>
                <a:latin typeface="Aptos Display"/>
              </a:rPr>
              <a:t>Ba hướng SLVG khác nhau ở đầu vào và cách tạo chuyển động</a:t>
            </a:r>
          </a:p>
        </p:txBody>
      </p:sp>
      <p:sp>
        <p:nvSpPr>
          <p:cNvPr id="4" name="TextBox 3"/>
          <p:cNvSpPr txBox="1"/>
          <p:nvPr/>
        </p:nvSpPr>
        <p:spPr>
          <a:xfrm>
            <a:off x="585216" y="1152144"/>
            <a:ext cx="10972800" cy="310896"/>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Điểm khác biệt cốt lõi: chuyển động được cung cấp sẵn, được suy ra từ văn bản, hay được điều khiển trên nền video diffusion pretrained.</a:t>
            </a:r>
          </a:p>
        </p:txBody>
      </p:sp>
      <p:sp>
        <p:nvSpPr>
          <p:cNvPr id="5" name="Rounded Rectangle 4"/>
          <p:cNvSpPr/>
          <p:nvPr/>
        </p:nvSpPr>
        <p:spPr>
          <a:xfrm>
            <a:off x="594360" y="1664208"/>
            <a:ext cx="3310128" cy="4507992"/>
          </a:xfrm>
          <a:prstGeom prst="roundRect">
            <a:avLst>
              <a:gd name="adj" fmla="val 10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664208"/>
            <a:ext cx="3310128" cy="91440"/>
          </a:xfrm>
          <a:prstGeom prst="roundRect">
            <a:avLst>
              <a:gd name="adj" fmla="val 10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01952"/>
            <a:ext cx="365760" cy="365760"/>
          </a:xfrm>
          <a:prstGeom prst="roundRect">
            <a:avLst>
              <a:gd name="adj" fmla="val 10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365760" cy="164592"/>
          </a:xfrm>
          <a:prstGeom prst="rect">
            <a:avLst/>
          </a:prstGeom>
          <a:noFill/>
        </p:spPr>
        <p:txBody>
          <a:bodyPr wrap="square" lIns="0" rIns="0" tIns="0" bIns="0" anchor="t">
            <a:spAutoFit/>
          </a:bodyPr>
          <a:lstStyle/>
          <a:p>
            <a:pPr algn="ctr">
              <a:spcAft>
                <a:spcPts val="300"/>
              </a:spcAft>
            </a:pPr>
            <a:r>
              <a:rPr sz="1000" b="1">
                <a:solidFill>
                  <a:srgbClr val="142037"/>
                </a:solidFill>
                <a:latin typeface="Aptos"/>
              </a:rPr>
              <a:t>A</a:t>
            </a:r>
          </a:p>
        </p:txBody>
      </p:sp>
      <p:sp>
        <p:nvSpPr>
          <p:cNvPr id="9" name="TextBox 8"/>
          <p:cNvSpPr txBox="1"/>
          <p:nvPr/>
        </p:nvSpPr>
        <p:spPr>
          <a:xfrm>
            <a:off x="1252728" y="1901952"/>
            <a:ext cx="2423160" cy="384048"/>
          </a:xfrm>
          <a:prstGeom prst="rect">
            <a:avLst/>
          </a:prstGeom>
          <a:noFill/>
        </p:spPr>
        <p:txBody>
          <a:bodyPr wrap="square" lIns="36576" rIns="36576" tIns="36576" bIns="36576" anchor="t">
            <a:spAutoFit/>
          </a:bodyPr>
          <a:lstStyle/>
          <a:p>
            <a:pPr algn="l">
              <a:spcAft>
                <a:spcPts val="300"/>
              </a:spcAft>
            </a:pPr>
            <a:r>
              <a:rPr sz="1400" b="1">
                <a:solidFill>
                  <a:srgbClr val="142037"/>
                </a:solidFill>
                <a:latin typeface="Aptos"/>
              </a:rPr>
              <a:t>Ảnh tham chiếu + pose</a:t>
            </a:r>
          </a:p>
        </p:txBody>
      </p:sp>
      <p:sp>
        <p:nvSpPr>
          <p:cNvPr id="10" name="TextBox 9"/>
          <p:cNvSpPr txBox="1"/>
          <p:nvPr/>
        </p:nvSpPr>
        <p:spPr>
          <a:xfrm>
            <a:off x="795528" y="23957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vào</a:t>
            </a:r>
          </a:p>
        </p:txBody>
      </p:sp>
      <p:sp>
        <p:nvSpPr>
          <p:cNvPr id="11" name="TextBox 10"/>
          <p:cNvSpPr txBox="1"/>
          <p:nvPr/>
        </p:nvSpPr>
        <p:spPr>
          <a:xfrm>
            <a:off x="795528" y="2633472"/>
            <a:ext cx="2880360" cy="621792"/>
          </a:xfrm>
          <a:prstGeom prst="rect">
            <a:avLst/>
          </a:prstGeom>
          <a:noFill/>
        </p:spPr>
        <p:txBody>
          <a:bodyPr wrap="square" lIns="36576" rIns="36576" tIns="36576" bIns="36576" anchor="t">
            <a:spAutoFit/>
          </a:bodyPr>
          <a:lstStyle/>
          <a:p>
            <a:pPr algn="l">
              <a:spcAft>
                <a:spcPts val="300"/>
              </a:spcAft>
            </a:pPr>
            <a:r>
              <a:rPr sz="1019" b="0">
                <a:solidFill>
                  <a:srgbClr val="253041"/>
                </a:solidFill>
                <a:latin typeface="Aptos"/>
              </a:rPr>
              <a:t>Một ảnh người làm ảnh tham chiếu, cùng chuỗi pose/keypoint theo thời gian mô tả chuyển động cần tạo.</a:t>
            </a:r>
          </a:p>
        </p:txBody>
      </p:sp>
      <p:sp>
        <p:nvSpPr>
          <p:cNvPr id="12" name="TextBox 11"/>
          <p:cNvSpPr txBox="1"/>
          <p:nvPr/>
        </p:nvSpPr>
        <p:spPr>
          <a:xfrm>
            <a:off x="795528" y="33101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Ý tưởng</a:t>
            </a:r>
          </a:p>
        </p:txBody>
      </p:sp>
      <p:sp>
        <p:nvSpPr>
          <p:cNvPr id="13" name="TextBox 12"/>
          <p:cNvSpPr txBox="1"/>
          <p:nvPr/>
        </p:nvSpPr>
        <p:spPr>
          <a:xfrm>
            <a:off x="795528" y="3547872"/>
            <a:ext cx="2880360" cy="1645920"/>
          </a:xfrm>
          <a:prstGeom prst="rect">
            <a:avLst/>
          </a:prstGeom>
          <a:noFill/>
        </p:spPr>
        <p:txBody>
          <a:bodyPr wrap="square" lIns="36576" rIns="36576" tIns="36576" bIns="36576" anchor="t">
            <a:spAutoFit/>
          </a:bodyPr>
          <a:lstStyle/>
          <a:p>
            <a:pPr algn="l">
              <a:spcAft>
                <a:spcPts val="300"/>
              </a:spcAft>
            </a:pPr>
            <a:r>
              <a:rPr sz="1010" b="0">
                <a:solidFill>
                  <a:srgbClr val="253041"/>
                </a:solidFill>
                <a:latin typeface="Aptos"/>
              </a:rPr>
              <a:t>Mô hình giữ ngoại hình của người trong ảnh nguồn, rồi tổng hợp từng khung hình sao cho cơ thể và bàn tay bám theo chuỗi pose đầu vào. Pose đóng vai trò “bản thiết kế chuyển động”; mô hình sinh ảnh/video chịu trách nhiệm tạo ngoại hình, quần áo, mặt và chi tiết bàn tay. Cách tiếp cận này gần với các mô hình pose-guided human animation như Animate Anyone. Vì pose đã được cung cấp, bài toán tập trung vào chuyển động có điều khiển và chất lượng hình ảnh, thay vì tự dịch câu văn sang ngôn ngữ ký hiệu.</a:t>
            </a:r>
          </a:p>
        </p:txBody>
      </p:sp>
      <p:sp>
        <p:nvSpPr>
          <p:cNvPr id="14" name="TextBox 13"/>
          <p:cNvSpPr txBox="1"/>
          <p:nvPr/>
        </p:nvSpPr>
        <p:spPr>
          <a:xfrm>
            <a:off x="795528" y="5257800"/>
            <a:ext cx="2880360" cy="182880"/>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ra</a:t>
            </a:r>
          </a:p>
        </p:txBody>
      </p:sp>
      <p:sp>
        <p:nvSpPr>
          <p:cNvPr id="15" name="TextBox 14"/>
          <p:cNvSpPr txBox="1"/>
          <p:nvPr/>
        </p:nvSpPr>
        <p:spPr>
          <a:xfrm>
            <a:off x="795528" y="5468112"/>
            <a:ext cx="2880360" cy="338328"/>
          </a:xfrm>
          <a:prstGeom prst="rect">
            <a:avLst/>
          </a:prstGeom>
          <a:noFill/>
        </p:spPr>
        <p:txBody>
          <a:bodyPr wrap="square" lIns="36576" rIns="36576" tIns="36576" bIns="36576" anchor="t">
            <a:spAutoFit/>
          </a:bodyPr>
          <a:lstStyle/>
          <a:p>
            <a:pPr algn="l">
              <a:spcAft>
                <a:spcPts val="300"/>
              </a:spcAft>
            </a:pPr>
            <a:r>
              <a:rPr sz="1000" b="1">
                <a:solidFill>
                  <a:srgbClr val="142037"/>
                </a:solidFill>
                <a:latin typeface="Aptos"/>
              </a:rPr>
              <a:t>Video người tham chiếu thực hiện chuỗi chuyển động đã chỉ định.</a:t>
            </a:r>
          </a:p>
        </p:txBody>
      </p:sp>
      <p:sp>
        <p:nvSpPr>
          <p:cNvPr id="16" name="TextBox 15"/>
          <p:cNvSpPr txBox="1"/>
          <p:nvPr/>
        </p:nvSpPr>
        <p:spPr>
          <a:xfrm>
            <a:off x="795528" y="5843016"/>
            <a:ext cx="2880360" cy="219456"/>
          </a:xfrm>
          <a:prstGeom prst="rect">
            <a:avLst/>
          </a:prstGeom>
          <a:noFill/>
        </p:spPr>
        <p:txBody>
          <a:bodyPr wrap="square" lIns="36576" rIns="36576" tIns="36576" bIns="36576" anchor="t">
            <a:spAutoFit/>
          </a:bodyPr>
          <a:lstStyle/>
          <a:p>
            <a:pPr algn="l">
              <a:spcAft>
                <a:spcPts val="300"/>
              </a:spcAft>
            </a:pPr>
            <a:r>
              <a:rPr sz="860" b="1">
                <a:solidFill>
                  <a:srgbClr val="24AEA0"/>
                </a:solidFill>
                <a:latin typeface="Aptos"/>
              </a:rPr>
              <a:t>PGMM (ECCV 2024) • GReg (ICCV 2025)</a:t>
            </a:r>
          </a:p>
        </p:txBody>
      </p:sp>
      <p:sp>
        <p:nvSpPr>
          <p:cNvPr id="17" name="Rounded Rectangle 16"/>
          <p:cNvSpPr/>
          <p:nvPr/>
        </p:nvSpPr>
        <p:spPr>
          <a:xfrm>
            <a:off x="4443984" y="1664208"/>
            <a:ext cx="3310128" cy="4507992"/>
          </a:xfrm>
          <a:prstGeom prst="roundRect">
            <a:avLst>
              <a:gd name="adj" fmla="val 10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4" y="1664208"/>
            <a:ext cx="3310128" cy="91440"/>
          </a:xfrm>
          <a:prstGeom prst="roundRect">
            <a:avLst>
              <a:gd name="adj" fmla="val 10000"/>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26864" y="1901952"/>
            <a:ext cx="365760" cy="365760"/>
          </a:xfrm>
          <a:prstGeom prst="roundRect">
            <a:avLst>
              <a:gd name="adj" fmla="val 10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26864" y="1975104"/>
            <a:ext cx="365760" cy="164592"/>
          </a:xfrm>
          <a:prstGeom prst="rect">
            <a:avLst/>
          </a:prstGeom>
          <a:noFill/>
        </p:spPr>
        <p:txBody>
          <a:bodyPr wrap="square" lIns="0" rIns="0" tIns="0" bIns="0" anchor="t">
            <a:spAutoFit/>
          </a:bodyPr>
          <a:lstStyle/>
          <a:p>
            <a:pPr algn="ctr">
              <a:spcAft>
                <a:spcPts val="300"/>
              </a:spcAft>
            </a:pPr>
            <a:r>
              <a:rPr sz="1000" b="1">
                <a:solidFill>
                  <a:srgbClr val="142037"/>
                </a:solidFill>
                <a:latin typeface="Aptos"/>
              </a:rPr>
              <a:t>B</a:t>
            </a:r>
          </a:p>
        </p:txBody>
      </p:sp>
      <p:sp>
        <p:nvSpPr>
          <p:cNvPr id="21" name="TextBox 20"/>
          <p:cNvSpPr txBox="1"/>
          <p:nvPr/>
        </p:nvSpPr>
        <p:spPr>
          <a:xfrm>
            <a:off x="5102352" y="1901952"/>
            <a:ext cx="2423160" cy="384048"/>
          </a:xfrm>
          <a:prstGeom prst="rect">
            <a:avLst/>
          </a:prstGeom>
          <a:noFill/>
        </p:spPr>
        <p:txBody>
          <a:bodyPr wrap="square" lIns="36576" rIns="36576" tIns="36576" bIns="36576" anchor="t">
            <a:spAutoFit/>
          </a:bodyPr>
          <a:lstStyle/>
          <a:p>
            <a:pPr algn="l">
              <a:spcAft>
                <a:spcPts val="300"/>
              </a:spcAft>
            </a:pPr>
            <a:r>
              <a:rPr sz="1400" b="1">
                <a:solidFill>
                  <a:srgbClr val="142037"/>
                </a:solidFill>
                <a:latin typeface="Aptos"/>
              </a:rPr>
              <a:t>Text-to-sign-video</a:t>
            </a:r>
          </a:p>
        </p:txBody>
      </p:sp>
      <p:sp>
        <p:nvSpPr>
          <p:cNvPr id="22" name="TextBox 21"/>
          <p:cNvSpPr txBox="1"/>
          <p:nvPr/>
        </p:nvSpPr>
        <p:spPr>
          <a:xfrm>
            <a:off x="4645152" y="23957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vào</a:t>
            </a:r>
          </a:p>
        </p:txBody>
      </p:sp>
      <p:sp>
        <p:nvSpPr>
          <p:cNvPr id="23" name="TextBox 22"/>
          <p:cNvSpPr txBox="1"/>
          <p:nvPr/>
        </p:nvSpPr>
        <p:spPr>
          <a:xfrm>
            <a:off x="4645152" y="2633472"/>
            <a:ext cx="2880360" cy="621792"/>
          </a:xfrm>
          <a:prstGeom prst="rect">
            <a:avLst/>
          </a:prstGeom>
          <a:noFill/>
        </p:spPr>
        <p:txBody>
          <a:bodyPr wrap="square" lIns="36576" rIns="36576" tIns="36576" bIns="36576" anchor="t">
            <a:spAutoFit/>
          </a:bodyPr>
          <a:lstStyle/>
          <a:p>
            <a:pPr algn="l">
              <a:spcAft>
                <a:spcPts val="300"/>
              </a:spcAft>
            </a:pPr>
            <a:r>
              <a:rPr sz="1019" b="0">
                <a:solidFill>
                  <a:srgbClr val="253041"/>
                </a:solidFill>
                <a:latin typeface="Aptos"/>
              </a:rPr>
              <a:t>Câu văn bản ở ngôn ngữ nói; thường không yêu cầu người dùng cung cấp chuỗi pose ở đầu vào.</a:t>
            </a:r>
          </a:p>
        </p:txBody>
      </p:sp>
      <p:sp>
        <p:nvSpPr>
          <p:cNvPr id="24" name="TextBox 23"/>
          <p:cNvSpPr txBox="1"/>
          <p:nvPr/>
        </p:nvSpPr>
        <p:spPr>
          <a:xfrm>
            <a:off x="4645152" y="33101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Ý tưởng</a:t>
            </a:r>
          </a:p>
        </p:txBody>
      </p:sp>
      <p:sp>
        <p:nvSpPr>
          <p:cNvPr id="25" name="TextBox 24"/>
          <p:cNvSpPr txBox="1"/>
          <p:nvPr/>
        </p:nvSpPr>
        <p:spPr>
          <a:xfrm>
            <a:off x="4645152" y="3547872"/>
            <a:ext cx="2880360" cy="1645920"/>
          </a:xfrm>
          <a:prstGeom prst="rect">
            <a:avLst/>
          </a:prstGeom>
          <a:noFill/>
        </p:spPr>
        <p:txBody>
          <a:bodyPr wrap="square" lIns="36576" rIns="36576" tIns="36576" bIns="36576" anchor="t">
            <a:spAutoFit/>
          </a:bodyPr>
          <a:lstStyle/>
          <a:p>
            <a:pPr algn="l">
              <a:spcAft>
                <a:spcPts val="300"/>
              </a:spcAft>
            </a:pPr>
            <a:r>
              <a:rPr sz="1010" b="0">
                <a:solidFill>
                  <a:srgbClr val="253041"/>
                </a:solidFill>
                <a:latin typeface="Aptos"/>
              </a:rPr>
              <a:t>Hệ thống phải biến câu văn thành video ký hiệu có nội dung tương ứng. Tùy phương pháp, mô hình có thể học liên kết giữa văn bản và chuyển động trực tiếp, hoặc tạo các điều kiện trung gian như pose/motion rồi dùng chúng để điều khiển bộ sinh video. Ví dụ SignGen dùng latent video diffusion với điều kiện văn bản và chuyển động; các hướng pose-free mới hơn tìm cách sinh trực tiếp từ văn bản mà không cần pose tường minh. Vì vậy, bài toán bao gồm cả tính đúng ngữ nghĩa/ngữ pháp ký hiệu lẫn chất lượng hình ảnh và tính liên tục theo thời gian.</a:t>
            </a:r>
          </a:p>
        </p:txBody>
      </p:sp>
      <p:sp>
        <p:nvSpPr>
          <p:cNvPr id="26" name="TextBox 25"/>
          <p:cNvSpPr txBox="1"/>
          <p:nvPr/>
        </p:nvSpPr>
        <p:spPr>
          <a:xfrm>
            <a:off x="4645152" y="5257800"/>
            <a:ext cx="2880360" cy="182880"/>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ra</a:t>
            </a:r>
          </a:p>
        </p:txBody>
      </p:sp>
      <p:sp>
        <p:nvSpPr>
          <p:cNvPr id="27" name="TextBox 26"/>
          <p:cNvSpPr txBox="1"/>
          <p:nvPr/>
        </p:nvSpPr>
        <p:spPr>
          <a:xfrm>
            <a:off x="4645152" y="5468112"/>
            <a:ext cx="2880360" cy="338328"/>
          </a:xfrm>
          <a:prstGeom prst="rect">
            <a:avLst/>
          </a:prstGeom>
          <a:noFill/>
        </p:spPr>
        <p:txBody>
          <a:bodyPr wrap="square" lIns="36576" rIns="36576" tIns="36576" bIns="36576" anchor="t">
            <a:spAutoFit/>
          </a:bodyPr>
          <a:lstStyle/>
          <a:p>
            <a:pPr algn="l">
              <a:spcAft>
                <a:spcPts val="300"/>
              </a:spcAft>
            </a:pPr>
            <a:r>
              <a:rPr sz="1000" b="1">
                <a:solidFill>
                  <a:srgbClr val="142037"/>
                </a:solidFill>
                <a:latin typeface="Aptos"/>
              </a:rPr>
              <a:t>Video ký hiệu biểu đạt nội dung của câu đầu vào.</a:t>
            </a:r>
          </a:p>
        </p:txBody>
      </p:sp>
      <p:sp>
        <p:nvSpPr>
          <p:cNvPr id="28" name="TextBox 27"/>
          <p:cNvSpPr txBox="1"/>
          <p:nvPr/>
        </p:nvSpPr>
        <p:spPr>
          <a:xfrm>
            <a:off x="4645152" y="5843016"/>
            <a:ext cx="2880360" cy="219456"/>
          </a:xfrm>
          <a:prstGeom prst="rect">
            <a:avLst/>
          </a:prstGeom>
          <a:noFill/>
        </p:spPr>
        <p:txBody>
          <a:bodyPr wrap="square" lIns="36576" rIns="36576" tIns="36576" bIns="36576" anchor="t">
            <a:spAutoFit/>
          </a:bodyPr>
          <a:lstStyle/>
          <a:p>
            <a:pPr algn="l">
              <a:spcAft>
                <a:spcPts val="300"/>
              </a:spcAft>
            </a:pPr>
            <a:r>
              <a:rPr sz="860" b="1">
                <a:solidFill>
                  <a:srgbClr val="F2B74A"/>
                </a:solidFill>
                <a:latin typeface="Aptos"/>
              </a:rPr>
              <a:t>SignGen (ECCV 2024) • FlashSign (2026)</a:t>
            </a:r>
          </a:p>
        </p:txBody>
      </p:sp>
      <p:sp>
        <p:nvSpPr>
          <p:cNvPr id="29" name="Rounded Rectangle 28"/>
          <p:cNvSpPr/>
          <p:nvPr/>
        </p:nvSpPr>
        <p:spPr>
          <a:xfrm>
            <a:off x="8293608" y="1664208"/>
            <a:ext cx="3310128" cy="4507992"/>
          </a:xfrm>
          <a:prstGeom prst="roundRect">
            <a:avLst>
              <a:gd name="adj" fmla="val 10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93608" y="1664208"/>
            <a:ext cx="3310128" cy="91440"/>
          </a:xfrm>
          <a:prstGeom prst="roundRect">
            <a:avLst>
              <a:gd name="adj" fmla="val 10000"/>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476488" y="1901952"/>
            <a:ext cx="365760" cy="365760"/>
          </a:xfrm>
          <a:prstGeom prst="roundRect">
            <a:avLst>
              <a:gd name="adj" fmla="val 10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76488" y="1975104"/>
            <a:ext cx="365760" cy="164592"/>
          </a:xfrm>
          <a:prstGeom prst="rect">
            <a:avLst/>
          </a:prstGeom>
          <a:noFill/>
        </p:spPr>
        <p:txBody>
          <a:bodyPr wrap="square" lIns="0" rIns="0" tIns="0" bIns="0" anchor="t">
            <a:spAutoFit/>
          </a:bodyPr>
          <a:lstStyle/>
          <a:p>
            <a:pPr algn="ctr">
              <a:spcAft>
                <a:spcPts val="300"/>
              </a:spcAft>
            </a:pPr>
            <a:r>
              <a:rPr sz="1000" b="1">
                <a:solidFill>
                  <a:srgbClr val="142037"/>
                </a:solidFill>
                <a:latin typeface="Aptos"/>
              </a:rPr>
              <a:t>C</a:t>
            </a:r>
          </a:p>
        </p:txBody>
      </p:sp>
      <p:sp>
        <p:nvSpPr>
          <p:cNvPr id="33" name="TextBox 32"/>
          <p:cNvSpPr txBox="1"/>
          <p:nvPr/>
        </p:nvSpPr>
        <p:spPr>
          <a:xfrm>
            <a:off x="8951976" y="1901952"/>
            <a:ext cx="2423160" cy="384048"/>
          </a:xfrm>
          <a:prstGeom prst="rect">
            <a:avLst/>
          </a:prstGeom>
          <a:noFill/>
        </p:spPr>
        <p:txBody>
          <a:bodyPr wrap="square" lIns="36576" rIns="36576" tIns="36576" bIns="36576" anchor="t">
            <a:spAutoFit/>
          </a:bodyPr>
          <a:lstStyle/>
          <a:p>
            <a:pPr algn="l">
              <a:spcAft>
                <a:spcPts val="300"/>
              </a:spcAft>
            </a:pPr>
            <a:r>
              <a:rPr sz="1400" b="1">
                <a:solidFill>
                  <a:srgbClr val="142037"/>
                </a:solidFill>
                <a:latin typeface="Aptos"/>
              </a:rPr>
              <a:t>Foundation model</a:t>
            </a:r>
          </a:p>
        </p:txBody>
      </p:sp>
      <p:sp>
        <p:nvSpPr>
          <p:cNvPr id="34" name="TextBox 33"/>
          <p:cNvSpPr txBox="1"/>
          <p:nvPr/>
        </p:nvSpPr>
        <p:spPr>
          <a:xfrm>
            <a:off x="8494776" y="23957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vào</a:t>
            </a:r>
          </a:p>
        </p:txBody>
      </p:sp>
      <p:sp>
        <p:nvSpPr>
          <p:cNvPr id="35" name="TextBox 34"/>
          <p:cNvSpPr txBox="1"/>
          <p:nvPr/>
        </p:nvSpPr>
        <p:spPr>
          <a:xfrm>
            <a:off x="8494776" y="2633472"/>
            <a:ext cx="2880360" cy="621792"/>
          </a:xfrm>
          <a:prstGeom prst="rect">
            <a:avLst/>
          </a:prstGeom>
          <a:noFill/>
        </p:spPr>
        <p:txBody>
          <a:bodyPr wrap="square" lIns="36576" rIns="36576" tIns="36576" bIns="36576" anchor="t">
            <a:spAutoFit/>
          </a:bodyPr>
          <a:lstStyle/>
          <a:p>
            <a:pPr algn="l">
              <a:spcAft>
                <a:spcPts val="300"/>
              </a:spcAft>
            </a:pPr>
            <a:r>
              <a:rPr sz="1019" b="0">
                <a:solidFill>
                  <a:srgbClr val="253041"/>
                </a:solidFill>
                <a:latin typeface="Aptos"/>
              </a:rPr>
              <a:t>Thường là ảnh/video tham chiếu cùng pose/keypoint; có thể bổ sung điều kiện không gian hoặc vùng quan tâm.</a:t>
            </a:r>
          </a:p>
        </p:txBody>
      </p:sp>
      <p:sp>
        <p:nvSpPr>
          <p:cNvPr id="36" name="TextBox 35"/>
          <p:cNvSpPr txBox="1"/>
          <p:nvPr/>
        </p:nvSpPr>
        <p:spPr>
          <a:xfrm>
            <a:off x="8494776" y="33101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Ý tưởng</a:t>
            </a:r>
          </a:p>
        </p:txBody>
      </p:sp>
      <p:sp>
        <p:nvSpPr>
          <p:cNvPr id="37" name="TextBox 36"/>
          <p:cNvSpPr txBox="1"/>
          <p:nvPr/>
        </p:nvSpPr>
        <p:spPr>
          <a:xfrm>
            <a:off x="8494776" y="3547872"/>
            <a:ext cx="2880360" cy="1645920"/>
          </a:xfrm>
          <a:prstGeom prst="rect">
            <a:avLst/>
          </a:prstGeom>
          <a:noFill/>
        </p:spPr>
        <p:txBody>
          <a:bodyPr wrap="square" lIns="36576" rIns="36576" tIns="36576" bIns="36576" anchor="t">
            <a:spAutoFit/>
          </a:bodyPr>
          <a:lstStyle/>
          <a:p>
            <a:pPr algn="l">
              <a:spcAft>
                <a:spcPts val="300"/>
              </a:spcAft>
            </a:pPr>
            <a:r>
              <a:rPr sz="1010" b="0">
                <a:solidFill>
                  <a:srgbClr val="253041"/>
                </a:solidFill>
                <a:latin typeface="Aptos"/>
              </a:rPr>
              <a:t>Thay vì huấn luyện toàn bộ bộ sinh từ đầu, phương pháp này tận dụng prior về ngoại hình và động học đã học từ video diffusion model pretrained. Các điều kiện như keypoint/pose hướng dẫn chuyển động, trong khi adapter hoặc module chuyên biệt điều chỉnh mô hình ở những vùng khó như bàn tay và khuôn mặt. Mục tiêu là kết hợp khả năng sinh video tổng quát của mô hình nền với yêu cầu hình học chính xác của ngôn ngữ ký hiệu. Đây không nhất thiết là text-to-sign: đầu vào vẫn có thể là pose và ảnh tham chiếu, nên cần phân biệt loại điều kiện với kiến trúc sinh.</a:t>
            </a:r>
          </a:p>
        </p:txBody>
      </p:sp>
      <p:sp>
        <p:nvSpPr>
          <p:cNvPr id="38" name="TextBox 37"/>
          <p:cNvSpPr txBox="1"/>
          <p:nvPr/>
        </p:nvSpPr>
        <p:spPr>
          <a:xfrm>
            <a:off x="8494776" y="5257800"/>
            <a:ext cx="2880360" cy="182880"/>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ra</a:t>
            </a:r>
          </a:p>
        </p:txBody>
      </p:sp>
      <p:sp>
        <p:nvSpPr>
          <p:cNvPr id="39" name="TextBox 38"/>
          <p:cNvSpPr txBox="1"/>
          <p:nvPr/>
        </p:nvSpPr>
        <p:spPr>
          <a:xfrm>
            <a:off x="8494776" y="5468112"/>
            <a:ext cx="2880360" cy="338328"/>
          </a:xfrm>
          <a:prstGeom prst="rect">
            <a:avLst/>
          </a:prstGeom>
          <a:noFill/>
        </p:spPr>
        <p:txBody>
          <a:bodyPr wrap="square" lIns="36576" rIns="36576" tIns="36576" bIns="36576" anchor="t">
            <a:spAutoFit/>
          </a:bodyPr>
          <a:lstStyle/>
          <a:p>
            <a:pPr algn="l">
              <a:spcAft>
                <a:spcPts val="300"/>
              </a:spcAft>
            </a:pPr>
            <a:r>
              <a:rPr sz="1000" b="1">
                <a:solidFill>
                  <a:srgbClr val="142037"/>
                </a:solidFill>
                <a:latin typeface="Aptos"/>
              </a:rPr>
              <a:t>Video ký hiệu được điều khiển bằng pose, với prior hình ảnh từ mô hình pretrained.</a:t>
            </a:r>
          </a:p>
        </p:txBody>
      </p:sp>
      <p:sp>
        <p:nvSpPr>
          <p:cNvPr id="40" name="TextBox 39"/>
          <p:cNvSpPr txBox="1"/>
          <p:nvPr/>
        </p:nvSpPr>
        <p:spPr>
          <a:xfrm>
            <a:off x="8494776" y="5843016"/>
            <a:ext cx="2880360" cy="219456"/>
          </a:xfrm>
          <a:prstGeom prst="rect">
            <a:avLst/>
          </a:prstGeom>
          <a:noFill/>
        </p:spPr>
        <p:txBody>
          <a:bodyPr wrap="square" lIns="36576" rIns="36576" tIns="36576" bIns="36576" anchor="t">
            <a:spAutoFit/>
          </a:bodyPr>
          <a:lstStyle/>
          <a:p>
            <a:pPr algn="l">
              <a:spcAft>
                <a:spcPts val="300"/>
              </a:spcAft>
            </a:pPr>
            <a:r>
              <a:rPr sz="860" b="1">
                <a:solidFill>
                  <a:srgbClr val="5BC4D2"/>
                </a:solidFill>
                <a:latin typeface="Aptos"/>
              </a:rPr>
              <a:t>SignRefine (2026) • các hướng diffusion có điều kiện</a:t>
            </a:r>
          </a:p>
        </p:txBody>
      </p:sp>
      <p:sp>
        <p:nvSpPr>
          <p:cNvPr id="41" name="Rounded Rectangle 40"/>
          <p:cNvSpPr/>
          <p:nvPr/>
        </p:nvSpPr>
        <p:spPr>
          <a:xfrm>
            <a:off x="621792" y="6236208"/>
            <a:ext cx="10927080" cy="228600"/>
          </a:xfrm>
          <a:prstGeom prst="roundRect">
            <a:avLst>
              <a:gd name="adj" fmla="val 10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8" y="6268212"/>
            <a:ext cx="10607040" cy="146304"/>
          </a:xfrm>
          <a:prstGeom prst="rect">
            <a:avLst/>
          </a:prstGeom>
          <a:noFill/>
        </p:spPr>
        <p:txBody>
          <a:bodyPr wrap="square" lIns="36576" rIns="36576" tIns="36576" bIns="36576" anchor="t">
            <a:spAutoFit/>
          </a:bodyPr>
          <a:lstStyle/>
          <a:p>
            <a:pPr algn="l">
              <a:spcAft>
                <a:spcPts val="300"/>
              </a:spcAft>
            </a:pPr>
            <a:r>
              <a:rPr sz="869" b="1">
                <a:solidFill>
                  <a:srgbClr val="142037"/>
                </a:solidFill>
                <a:latin typeface="Aptos"/>
              </a:rPr>
              <a:t>Lưu ý: hướng C mô tả cách xây dựng bộ sinh, không phải một loại đầu vào độc lập; các hướng có thể chồng lấn.</a:t>
            </a:r>
          </a:p>
        </p:txBody>
      </p:sp>
      <p:sp>
        <p:nvSpPr>
          <p:cNvPr id="43" name="TextBox 42"/>
          <p:cNvSpPr txBox="1"/>
          <p:nvPr/>
        </p:nvSpPr>
        <p:spPr>
          <a:xfrm>
            <a:off x="585216" y="6510528"/>
            <a:ext cx="9601200" cy="146304"/>
          </a:xfrm>
          <a:prstGeom prst="rect">
            <a:avLst/>
          </a:prstGeom>
          <a:noFill/>
        </p:spPr>
        <p:txBody>
          <a:bodyPr wrap="square" lIns="36576" rIns="36576" tIns="36576" bIns="36576" anchor="t">
            <a:spAutoFit/>
          </a:bodyPr>
          <a:lstStyle/>
          <a:p>
            <a:pPr algn="l">
              <a:spcAft>
                <a:spcPts val="300"/>
              </a:spcAft>
            </a:pPr>
            <a:r>
              <a:rPr sz="750" b="0">
                <a:solidFill>
                  <a:srgbClr val="657386"/>
                </a:solidFill>
                <a:latin typeface="Aptos"/>
              </a:rPr>
              <a:t>SLVG • Sources: PGMM (ECCV 2024); SignGen (ECCV 2024); SignViP (NeurIPS 2025); SignRefine (2026).</a:t>
            </a:r>
          </a:p>
        </p:txBody>
      </p:sp>
      <p:sp>
        <p:nvSpPr>
          <p:cNvPr id="44" name="TextBox 43"/>
          <p:cNvSpPr txBox="1"/>
          <p:nvPr/>
        </p:nvSpPr>
        <p:spPr>
          <a:xfrm>
            <a:off x="11201400" y="6510528"/>
            <a:ext cx="320040" cy="146304"/>
          </a:xfrm>
          <a:prstGeom prst="rect">
            <a:avLst/>
          </a:prstGeom>
          <a:noFill/>
        </p:spPr>
        <p:txBody>
          <a:bodyPr wrap="square" lIns="36576" rIns="36576" tIns="36576" bIns="36576" anchor="t">
            <a:spAutoFit/>
          </a:bodyPr>
          <a:lstStyle/>
          <a:p>
            <a:pPr algn="r">
              <a:spcAft>
                <a:spcPts val="300"/>
              </a:spcAft>
            </a:pPr>
            <a:r>
              <a:rPr sz="800" b="1">
                <a:solidFill>
                  <a:srgbClr val="657386"/>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01 • LANDSCAPE</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Trade-off và tình trạng mã nguồn cần được xác minh</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Tóm tắt theo tài liệu đã khảo sát; trạng thái code là ảnh chụp tại 18/10/2026.</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03 / 10</a:t>
            </a:r>
          </a:p>
        </p:txBody>
      </p:sp>
      <p:sp>
        <p:nvSpPr>
          <p:cNvPr id="6" name="Rounded Rectangle 5"/>
          <p:cNvSpPr/>
          <p:nvPr/>
        </p:nvSpPr>
        <p:spPr>
          <a:xfrm>
            <a:off x="658368" y="1719072"/>
            <a:ext cx="1417320" cy="384048"/>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810512"/>
            <a:ext cx="1271016" cy="164592"/>
          </a:xfrm>
          <a:prstGeom prst="rect">
            <a:avLst/>
          </a:prstGeom>
          <a:noFill/>
        </p:spPr>
        <p:txBody>
          <a:bodyPr wrap="square" lIns="36576" rIns="36576" tIns="36576" bIns="36576" anchor="t">
            <a:spAutoFit/>
          </a:bodyPr>
          <a:lstStyle/>
          <a:p>
            <a:pPr algn="ctr">
              <a:spcAft>
                <a:spcPts val="400"/>
              </a:spcAft>
            </a:pPr>
            <a:r>
              <a:rPr sz="900" b="1" i="0">
                <a:solidFill>
                  <a:srgbClr val="FFFFFF"/>
                </a:solidFill>
                <a:latin typeface="Aptos"/>
              </a:rPr>
              <a:t>HƯỚNG</a:t>
            </a:r>
          </a:p>
        </p:txBody>
      </p:sp>
      <p:sp>
        <p:nvSpPr>
          <p:cNvPr id="8" name="Rounded Rectangle 7"/>
          <p:cNvSpPr/>
          <p:nvPr/>
        </p:nvSpPr>
        <p:spPr>
          <a:xfrm>
            <a:off x="658368" y="2212848"/>
            <a:ext cx="141732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322576"/>
            <a:ext cx="1234440" cy="822960"/>
          </a:xfrm>
          <a:prstGeom prst="rect">
            <a:avLst/>
          </a:prstGeom>
          <a:noFill/>
        </p:spPr>
        <p:txBody>
          <a:bodyPr wrap="square" lIns="36576" rIns="36576" tIns="36576" bIns="36576" anchor="t">
            <a:spAutoFit/>
          </a:bodyPr>
          <a:lstStyle/>
          <a:p>
            <a:pPr algn="l">
              <a:spcAft>
                <a:spcPts val="400"/>
              </a:spcAft>
            </a:pPr>
            <a:r>
              <a:rPr sz="1050" b="1" i="0">
                <a:solidFill>
                  <a:srgbClr val="142037"/>
                </a:solidFill>
                <a:latin typeface="Aptos"/>
              </a:rPr>
              <a:t>A • Ref+pose</a:t>
            </a:r>
          </a:p>
        </p:txBody>
      </p:sp>
      <p:sp>
        <p:nvSpPr>
          <p:cNvPr id="10" name="Rounded Rectangle 9"/>
          <p:cNvSpPr/>
          <p:nvPr/>
        </p:nvSpPr>
        <p:spPr>
          <a:xfrm>
            <a:off x="2212848" y="2212848"/>
            <a:ext cx="2633472"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04288" y="2322576"/>
            <a:ext cx="2450591"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Điều khiển rõ; giữ danh tính; có thể chạy với 1 GPU theo báo cáo.</a:t>
            </a:r>
          </a:p>
        </p:txBody>
      </p:sp>
      <p:sp>
        <p:nvSpPr>
          <p:cNvPr id="12" name="Rounded Rectangle 11"/>
          <p:cNvSpPr/>
          <p:nvPr/>
        </p:nvSpPr>
        <p:spPr>
          <a:xfrm>
            <a:off x="5010912" y="2212848"/>
            <a:ext cx="274320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2352" y="2322576"/>
            <a:ext cx="256032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Cần pose; tay/mặt khó vẽ; nhất quán thời gian là thách thức.</a:t>
            </a:r>
          </a:p>
        </p:txBody>
      </p:sp>
      <p:sp>
        <p:nvSpPr>
          <p:cNvPr id="14" name="Rounded Rectangle 13"/>
          <p:cNvSpPr/>
          <p:nvPr/>
        </p:nvSpPr>
        <p:spPr>
          <a:xfrm>
            <a:off x="7909560" y="2212848"/>
            <a:ext cx="361188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322576"/>
            <a:ext cx="342900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PGMM: chưa tìm thấy link code</a:t>
            </a:r>
          </a:p>
          <a:p>
            <a:pPr algn="l">
              <a:spcAft>
                <a:spcPts val="400"/>
              </a:spcAft>
            </a:pPr>
            <a:r>
              <a:rPr sz="1050" b="0" i="0">
                <a:solidFill>
                  <a:srgbClr val="253041"/>
                </a:solidFill>
                <a:latin typeface="Aptos"/>
              </a:rPr>
              <a:t>GReg: chưa tìm thấy link code</a:t>
            </a:r>
          </a:p>
          <a:p>
            <a:pPr algn="l">
              <a:spcAft>
                <a:spcPts val="400"/>
              </a:spcAft>
            </a:pPr>
            <a:r>
              <a:rPr sz="1050" b="0" i="0">
                <a:solidFill>
                  <a:srgbClr val="253041"/>
                </a:solidFill>
                <a:latin typeface="Aptos"/>
              </a:rPr>
              <a:t>SignViP: repo được ghi nhận</a:t>
            </a:r>
          </a:p>
        </p:txBody>
      </p:sp>
      <p:sp>
        <p:nvSpPr>
          <p:cNvPr id="16" name="Rounded Rectangle 15"/>
          <p:cNvSpPr/>
          <p:nvPr/>
        </p:nvSpPr>
        <p:spPr>
          <a:xfrm>
            <a:off x="658368" y="3383280"/>
            <a:ext cx="1417320" cy="1033271"/>
          </a:xfrm>
          <a:prstGeom prst="roundRect">
            <a:avLst>
              <a:gd name="adj" fmla="val 12000"/>
            </a:avLst>
          </a:prstGeom>
          <a:solidFill>
            <a:srgbClr val="F2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93008"/>
            <a:ext cx="1234440" cy="822960"/>
          </a:xfrm>
          <a:prstGeom prst="rect">
            <a:avLst/>
          </a:prstGeom>
          <a:noFill/>
        </p:spPr>
        <p:txBody>
          <a:bodyPr wrap="square" lIns="36576" rIns="36576" tIns="36576" bIns="36576" anchor="t">
            <a:spAutoFit/>
          </a:bodyPr>
          <a:lstStyle/>
          <a:p>
            <a:pPr algn="l">
              <a:spcAft>
                <a:spcPts val="400"/>
              </a:spcAft>
            </a:pPr>
            <a:r>
              <a:rPr sz="1050" b="1" i="0">
                <a:solidFill>
                  <a:srgbClr val="142037"/>
                </a:solidFill>
                <a:latin typeface="Aptos"/>
              </a:rPr>
              <a:t>B • Text</a:t>
            </a:r>
          </a:p>
        </p:txBody>
      </p:sp>
      <p:sp>
        <p:nvSpPr>
          <p:cNvPr id="18" name="Rounded Rectangle 17"/>
          <p:cNvSpPr/>
          <p:nvPr/>
        </p:nvSpPr>
        <p:spPr>
          <a:xfrm>
            <a:off x="2212848" y="3383280"/>
            <a:ext cx="2633472" cy="1033271"/>
          </a:xfrm>
          <a:prstGeom prst="roundRect">
            <a:avLst>
              <a:gd name="adj" fmla="val 12000"/>
            </a:avLst>
          </a:prstGeom>
          <a:solidFill>
            <a:srgbClr val="F2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04288" y="3493008"/>
            <a:ext cx="2450591"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Đầu-cuối từ câu văn bản; không cần pose đầu vào.</a:t>
            </a:r>
          </a:p>
        </p:txBody>
      </p:sp>
      <p:sp>
        <p:nvSpPr>
          <p:cNvPr id="20" name="Rounded Rectangle 19"/>
          <p:cNvSpPr/>
          <p:nvPr/>
        </p:nvSpPr>
        <p:spPr>
          <a:xfrm>
            <a:off x="5010912" y="3383280"/>
            <a:ext cx="2743200" cy="1033271"/>
          </a:xfrm>
          <a:prstGeom prst="roundRect">
            <a:avLst>
              <a:gd name="adj" fmla="val 12000"/>
            </a:avLst>
          </a:prstGeom>
          <a:solidFill>
            <a:srgbClr val="F2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02352" y="3493008"/>
            <a:ext cx="256032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Ngữ nghĩa/ngữ pháp ký hiệu khó; chi phí diffusion có thể cao.</a:t>
            </a:r>
          </a:p>
        </p:txBody>
      </p:sp>
      <p:sp>
        <p:nvSpPr>
          <p:cNvPr id="22" name="Rounded Rectangle 21"/>
          <p:cNvSpPr/>
          <p:nvPr/>
        </p:nvSpPr>
        <p:spPr>
          <a:xfrm>
            <a:off x="7909560" y="3383280"/>
            <a:ext cx="3611880" cy="1033271"/>
          </a:xfrm>
          <a:prstGeom prst="roundRect">
            <a:avLst>
              <a:gd name="adj" fmla="val 12000"/>
            </a:avLst>
          </a:prstGeom>
          <a:solidFill>
            <a:srgbClr val="F2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01000" y="3493008"/>
            <a:ext cx="342900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SignGen / FlashSign: có link được ghi nhận</a:t>
            </a:r>
          </a:p>
          <a:p>
            <a:pPr algn="l">
              <a:spcAft>
                <a:spcPts val="400"/>
              </a:spcAft>
            </a:pPr>
            <a:r>
              <a:rPr sz="1050" b="0" i="0">
                <a:solidFill>
                  <a:srgbClr val="253041"/>
                </a:solidFill>
                <a:latin typeface="Aptos"/>
              </a:rPr>
              <a:t>SignMoD / Text2Sign: chưa xác nhận</a:t>
            </a:r>
          </a:p>
        </p:txBody>
      </p:sp>
      <p:sp>
        <p:nvSpPr>
          <p:cNvPr id="24" name="Rounded Rectangle 23"/>
          <p:cNvSpPr/>
          <p:nvPr/>
        </p:nvSpPr>
        <p:spPr>
          <a:xfrm>
            <a:off x="658368" y="4553712"/>
            <a:ext cx="141732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4663440"/>
            <a:ext cx="1234440" cy="822960"/>
          </a:xfrm>
          <a:prstGeom prst="rect">
            <a:avLst/>
          </a:prstGeom>
          <a:noFill/>
        </p:spPr>
        <p:txBody>
          <a:bodyPr wrap="square" lIns="36576" rIns="36576" tIns="36576" bIns="36576" anchor="t">
            <a:spAutoFit/>
          </a:bodyPr>
          <a:lstStyle/>
          <a:p>
            <a:pPr algn="l">
              <a:spcAft>
                <a:spcPts val="400"/>
              </a:spcAft>
            </a:pPr>
            <a:r>
              <a:rPr sz="1050" b="1" i="0">
                <a:solidFill>
                  <a:srgbClr val="142037"/>
                </a:solidFill>
                <a:latin typeface="Aptos"/>
              </a:rPr>
              <a:t>C • Foundation</a:t>
            </a:r>
          </a:p>
        </p:txBody>
      </p:sp>
      <p:sp>
        <p:nvSpPr>
          <p:cNvPr id="26" name="Rounded Rectangle 25"/>
          <p:cNvSpPr/>
          <p:nvPr/>
        </p:nvSpPr>
        <p:spPr>
          <a:xfrm>
            <a:off x="2212848" y="4553712"/>
            <a:ext cx="2633472"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04288" y="4663440"/>
            <a:ext cx="2450591"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Tận dụng prior hình ảnh pretrained; tiềm năng chân thực.</a:t>
            </a:r>
          </a:p>
        </p:txBody>
      </p:sp>
      <p:sp>
        <p:nvSpPr>
          <p:cNvPr id="28" name="Rounded Rectangle 27"/>
          <p:cNvSpPr/>
          <p:nvPr/>
        </p:nvSpPr>
        <p:spPr>
          <a:xfrm>
            <a:off x="5010912" y="4553712"/>
            <a:ext cx="274320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02352" y="4663440"/>
            <a:ext cx="256032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Tốn tài nguyên; adapter vẫn cần xử lý vùng tay/mặt.</a:t>
            </a:r>
          </a:p>
        </p:txBody>
      </p:sp>
      <p:sp>
        <p:nvSpPr>
          <p:cNvPr id="30" name="Rounded Rectangle 29"/>
          <p:cNvSpPr/>
          <p:nvPr/>
        </p:nvSpPr>
        <p:spPr>
          <a:xfrm>
            <a:off x="7909560" y="4553712"/>
            <a:ext cx="361188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0" y="4663440"/>
            <a:ext cx="342900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SignRefine: chưa tìm thấy repo trong kết quả đã khảo sát</a:t>
            </a:r>
          </a:p>
        </p:txBody>
      </p:sp>
      <p:sp>
        <p:nvSpPr>
          <p:cNvPr id="32" name="Rounded Rectangle 31"/>
          <p:cNvSpPr/>
          <p:nvPr/>
        </p:nvSpPr>
        <p:spPr>
          <a:xfrm>
            <a:off x="685800" y="5833872"/>
            <a:ext cx="10835640" cy="438912"/>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 y="5925312"/>
            <a:ext cx="1051560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Caveat: “chưa tìm thấy” ≠ “không tồn tại”; mở lại trang bài báo và GitHub trước khi báo cáo.</a:t>
            </a:r>
          </a:p>
        </p:txBody>
      </p:sp>
      <p:cxnSp>
        <p:nvCxnSpPr>
          <p:cNvPr id="34" name="Connector 33"/>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Literature snapshot — verify repository links before presentation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02 • RESEARCH PLAN</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Hai câu hỏi nghiên cứu — một baseline có thể kiểm chứng</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Tái triển khai GReg là bước đầu để phân biệt lỗi triển khai với giới hạn phương pháp.</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04 / 10</a:t>
            </a:r>
          </a:p>
        </p:txBody>
      </p:sp>
      <p:sp>
        <p:nvSpPr>
          <p:cNvPr id="6" name="Rounded Rectangle 5"/>
          <p:cNvSpPr/>
          <p:nvPr/>
        </p:nvSpPr>
        <p:spPr>
          <a:xfrm>
            <a:off x="658368" y="1737360"/>
            <a:ext cx="5303520" cy="196596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4008" cy="1965960"/>
          </a:xfrm>
          <a:prstGeom prst="roundRect">
            <a:avLst>
              <a:gd name="adj" fmla="val 12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4983480" cy="310896"/>
          </a:xfrm>
          <a:prstGeom prst="rect">
            <a:avLst/>
          </a:prstGeom>
          <a:noFill/>
        </p:spPr>
        <p:txBody>
          <a:bodyPr wrap="square" lIns="36576" rIns="36576" tIns="36576" bIns="36576" anchor="t">
            <a:spAutoFit/>
          </a:bodyPr>
          <a:lstStyle/>
          <a:p>
            <a:pPr algn="l">
              <a:spcAft>
                <a:spcPts val="400"/>
              </a:spcAft>
            </a:pPr>
            <a:r>
              <a:rPr sz="1600" b="1" i="0">
                <a:solidFill>
                  <a:srgbClr val="142037"/>
                </a:solidFill>
                <a:latin typeface="Aptos"/>
              </a:rPr>
              <a:t>RQ1  •  Biểu diễn động học 3D</a:t>
            </a:r>
          </a:p>
        </p:txBody>
      </p:sp>
      <p:sp>
        <p:nvSpPr>
          <p:cNvPr id="9" name="TextBox 8"/>
          <p:cNvSpPr txBox="1"/>
          <p:nvPr/>
        </p:nvSpPr>
        <p:spPr>
          <a:xfrm>
            <a:off x="841247" y="2240280"/>
            <a:ext cx="4983480" cy="1362455"/>
          </a:xfrm>
          <a:prstGeom prst="rect">
            <a:avLst/>
          </a:prstGeom>
          <a:noFill/>
        </p:spPr>
        <p:txBody>
          <a:bodyPr wrap="square" lIns="36576" rIns="36576" tIns="36576" bIns="36576" anchor="t">
            <a:spAutoFit/>
          </a:bodyPr>
          <a:lstStyle/>
          <a:p>
            <a:pPr algn="l">
              <a:spcAft>
                <a:spcPts val="400"/>
              </a:spcAft>
            </a:pPr>
            <a:r>
              <a:rPr sz="1300" b="0" i="0">
                <a:solidFill>
                  <a:srgbClr val="253041"/>
                </a:solidFill>
                <a:latin typeface="Aptos"/>
              </a:rPr>
              <a:t>Liệu biểu diễn động học bàn tay bằng mesh/đồ thị 3D theo không gian–thời gian có cải thiện độ chính xác ngón tay và tính nhất quán video không?</a:t>
            </a:r>
          </a:p>
        </p:txBody>
      </p:sp>
      <p:sp>
        <p:nvSpPr>
          <p:cNvPr id="10" name="Rounded Rectangle 9"/>
          <p:cNvSpPr/>
          <p:nvPr/>
        </p:nvSpPr>
        <p:spPr>
          <a:xfrm>
            <a:off x="6199632" y="1737360"/>
            <a:ext cx="5303520" cy="196596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9632" y="1737360"/>
            <a:ext cx="64008" cy="1965960"/>
          </a:xfrm>
          <a:prstGeom prst="roundRect">
            <a:avLst>
              <a:gd name="adj" fmla="val 12000"/>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1883664"/>
            <a:ext cx="4983480" cy="310896"/>
          </a:xfrm>
          <a:prstGeom prst="rect">
            <a:avLst/>
          </a:prstGeom>
          <a:noFill/>
        </p:spPr>
        <p:txBody>
          <a:bodyPr wrap="square" lIns="36576" rIns="36576" tIns="36576" bIns="36576" anchor="t">
            <a:spAutoFit/>
          </a:bodyPr>
          <a:lstStyle/>
          <a:p>
            <a:pPr algn="l">
              <a:spcAft>
                <a:spcPts val="400"/>
              </a:spcAft>
            </a:pPr>
            <a:r>
              <a:rPr sz="1600" b="1" i="0">
                <a:solidFill>
                  <a:srgbClr val="142037"/>
                </a:solidFill>
                <a:latin typeface="Aptos"/>
              </a:rPr>
              <a:t>RQ2  •  Chuyên gia vùng</a:t>
            </a:r>
          </a:p>
        </p:txBody>
      </p:sp>
      <p:sp>
        <p:nvSpPr>
          <p:cNvPr id="13" name="TextBox 12"/>
          <p:cNvSpPr txBox="1"/>
          <p:nvPr/>
        </p:nvSpPr>
        <p:spPr>
          <a:xfrm>
            <a:off x="6382512" y="2240280"/>
            <a:ext cx="4983480" cy="1362455"/>
          </a:xfrm>
          <a:prstGeom prst="rect">
            <a:avLst/>
          </a:prstGeom>
          <a:noFill/>
        </p:spPr>
        <p:txBody>
          <a:bodyPr wrap="square" lIns="36576" rIns="36576" tIns="36576" bIns="36576" anchor="t">
            <a:spAutoFit/>
          </a:bodyPr>
          <a:lstStyle/>
          <a:p>
            <a:pPr algn="l">
              <a:spcAft>
                <a:spcPts val="400"/>
              </a:spcAft>
            </a:pPr>
            <a:r>
              <a:rPr sz="1300" b="0" i="0">
                <a:solidFill>
                  <a:srgbClr val="253041"/>
                </a:solidFill>
                <a:latin typeface="Aptos"/>
              </a:rPr>
              <a:t>Liệu có thể thay U-Net trong các mô-đun chuyên gia vùng bằng một kiến trúc mới hơn mà vẫn cải thiện chi tiết bàn tay/mặt?</a:t>
            </a:r>
          </a:p>
        </p:txBody>
      </p:sp>
      <p:sp>
        <p:nvSpPr>
          <p:cNvPr id="14" name="Rounded Rectangle 13"/>
          <p:cNvSpPr/>
          <p:nvPr/>
        </p:nvSpPr>
        <p:spPr>
          <a:xfrm>
            <a:off x="1005840" y="4187952"/>
            <a:ext cx="2240280" cy="758952"/>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4361688"/>
            <a:ext cx="1920240" cy="320040"/>
          </a:xfrm>
          <a:prstGeom prst="rect">
            <a:avLst/>
          </a:prstGeom>
          <a:noFill/>
        </p:spPr>
        <p:txBody>
          <a:bodyPr wrap="square" lIns="36576" rIns="36576" tIns="36576" bIns="36576" anchor="t">
            <a:spAutoFit/>
          </a:bodyPr>
          <a:lstStyle/>
          <a:p>
            <a:pPr algn="ctr">
              <a:spcAft>
                <a:spcPts val="400"/>
              </a:spcAft>
            </a:pPr>
            <a:r>
              <a:rPr sz="1300" b="1" i="0">
                <a:solidFill>
                  <a:srgbClr val="142037"/>
                </a:solidFill>
                <a:latin typeface="Aptos"/>
              </a:rPr>
              <a:t>1. Reproduce GReg</a:t>
            </a:r>
          </a:p>
        </p:txBody>
      </p:sp>
      <p:cxnSp>
        <p:nvCxnSpPr>
          <p:cNvPr id="16" name="Connector 15"/>
          <p:cNvCxnSpPr/>
          <p:nvPr/>
        </p:nvCxnSpPr>
        <p:spPr>
          <a:xfrm>
            <a:off x="3383280" y="4553712"/>
            <a:ext cx="621792" cy="0"/>
          </a:xfrm>
          <a:prstGeom prst="line">
            <a:avLst/>
          </a:prstGeom>
          <a:ln w="22860">
            <a:solidFill>
              <a:srgbClr val="24AEA0"/>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3913632" y="4471416"/>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14800" y="4187952"/>
            <a:ext cx="2240280" cy="758952"/>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79392" y="4361688"/>
            <a:ext cx="1920240" cy="320040"/>
          </a:xfrm>
          <a:prstGeom prst="rect">
            <a:avLst/>
          </a:prstGeom>
          <a:noFill/>
        </p:spPr>
        <p:txBody>
          <a:bodyPr wrap="square" lIns="36576" rIns="36576" tIns="36576" bIns="36576" anchor="t">
            <a:spAutoFit/>
          </a:bodyPr>
          <a:lstStyle/>
          <a:p>
            <a:pPr algn="ctr">
              <a:spcAft>
                <a:spcPts val="400"/>
              </a:spcAft>
            </a:pPr>
            <a:r>
              <a:rPr sz="1300" b="1" i="0">
                <a:solidFill>
                  <a:srgbClr val="142037"/>
                </a:solidFill>
                <a:latin typeface="Aptos"/>
              </a:rPr>
              <a:t>2. Validate metrics</a:t>
            </a:r>
          </a:p>
        </p:txBody>
      </p:sp>
      <p:cxnSp>
        <p:nvCxnSpPr>
          <p:cNvPr id="20" name="Connector 19"/>
          <p:cNvCxnSpPr/>
          <p:nvPr/>
        </p:nvCxnSpPr>
        <p:spPr>
          <a:xfrm>
            <a:off x="6492240" y="4553712"/>
            <a:ext cx="621792" cy="0"/>
          </a:xfrm>
          <a:prstGeom prst="line">
            <a:avLst/>
          </a:prstGeom>
          <a:ln w="22860">
            <a:solidFill>
              <a:srgbClr val="24AEA0"/>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a:off x="7022592" y="4471416"/>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23760" y="4187952"/>
            <a:ext cx="2240280" cy="758952"/>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88352" y="4361688"/>
            <a:ext cx="1920240" cy="320040"/>
          </a:xfrm>
          <a:prstGeom prst="rect">
            <a:avLst/>
          </a:prstGeom>
          <a:noFill/>
        </p:spPr>
        <p:txBody>
          <a:bodyPr wrap="square" lIns="36576" rIns="36576" tIns="36576" bIns="36576" anchor="t">
            <a:spAutoFit/>
          </a:bodyPr>
          <a:lstStyle/>
          <a:p>
            <a:pPr algn="ctr">
              <a:spcAft>
                <a:spcPts val="400"/>
              </a:spcAft>
            </a:pPr>
            <a:r>
              <a:rPr sz="1200" b="1" i="0">
                <a:solidFill>
                  <a:srgbClr val="142037"/>
                </a:solidFill>
                <a:latin typeface="Aptos"/>
              </a:rPr>
              <a:t>3. Controlled ablations</a:t>
            </a:r>
          </a:p>
        </p:txBody>
      </p:sp>
      <p:sp>
        <p:nvSpPr>
          <p:cNvPr id="24" name="Rounded Rectangle 23"/>
          <p:cNvSpPr/>
          <p:nvPr/>
        </p:nvSpPr>
        <p:spPr>
          <a:xfrm>
            <a:off x="9674352" y="4187952"/>
            <a:ext cx="1645920" cy="758952"/>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02368" y="4352544"/>
            <a:ext cx="1389888" cy="329184"/>
          </a:xfrm>
          <a:prstGeom prst="rect">
            <a:avLst/>
          </a:prstGeom>
          <a:noFill/>
        </p:spPr>
        <p:txBody>
          <a:bodyPr wrap="square" lIns="36576" rIns="36576" tIns="36576" bIns="36576" anchor="t">
            <a:spAutoFit/>
          </a:bodyPr>
          <a:lstStyle/>
          <a:p>
            <a:pPr algn="ctr">
              <a:spcAft>
                <a:spcPts val="400"/>
              </a:spcAft>
            </a:pPr>
            <a:r>
              <a:rPr sz="1200" b="1" i="0">
                <a:solidFill>
                  <a:srgbClr val="FFFFFF"/>
                </a:solidFill>
                <a:latin typeface="Aptos"/>
              </a:rPr>
              <a:t>RQ1 / RQ2</a:t>
            </a:r>
          </a:p>
        </p:txBody>
      </p:sp>
      <p:sp>
        <p:nvSpPr>
          <p:cNvPr id="26" name="TextBox 25"/>
          <p:cNvSpPr txBox="1"/>
          <p:nvPr/>
        </p:nvSpPr>
        <p:spPr>
          <a:xfrm>
            <a:off x="804672" y="5330952"/>
            <a:ext cx="10515600" cy="493776"/>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Guardrail: trước khi tuyên bố cải thiện, cần tái lập baseline và đánh giá cùng dữ liệu, độ phân giải, seed và protocol.</a:t>
            </a:r>
          </a:p>
        </p:txBody>
      </p:sp>
      <p:cxnSp>
        <p:nvCxnSpPr>
          <p:cNvPr id="27" name="Connector 26"/>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03 • GREG METHOD</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Vì sao GReg dùng hình học 3D?</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Keypoints chỉ mô tả vị trí; normal map bổ sung thông tin hướng bề mặt.</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05 / 10</a:t>
            </a:r>
          </a:p>
        </p:txBody>
      </p:sp>
      <p:sp>
        <p:nvSpPr>
          <p:cNvPr id="6" name="Rounded Rectangle 5"/>
          <p:cNvSpPr/>
          <p:nvPr/>
        </p:nvSpPr>
        <p:spPr>
          <a:xfrm>
            <a:off x="658368" y="1737360"/>
            <a:ext cx="3200400" cy="361188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965960"/>
            <a:ext cx="2743200" cy="27432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2D keypoints / skeleton</a:t>
            </a:r>
          </a:p>
        </p:txBody>
      </p:sp>
      <p:cxnSp>
        <p:nvCxnSpPr>
          <p:cNvPr id="8" name="Connector 7"/>
          <p:cNvCxnSpPr/>
          <p:nvPr/>
        </p:nvCxnSpPr>
        <p:spPr>
          <a:xfrm flipH="1" flipV="1">
            <a:off x="1298448" y="3822191"/>
            <a:ext cx="210312" cy="493777"/>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1143000" y="3310128"/>
            <a:ext cx="155448" cy="512063"/>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1024128" y="2852928"/>
            <a:ext cx="118872" cy="457200"/>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508760" y="3767328"/>
            <a:ext cx="164592" cy="548640"/>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673352" y="3182112"/>
            <a:ext cx="27432" cy="58521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700784" y="2688336"/>
            <a:ext cx="18288" cy="49377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508760" y="3767328"/>
            <a:ext cx="429768" cy="548640"/>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38528" y="3090672"/>
            <a:ext cx="54864" cy="67665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993392" y="2578608"/>
            <a:ext cx="36576" cy="512064"/>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508760" y="3840480"/>
            <a:ext cx="685800" cy="475488"/>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194560" y="3310128"/>
            <a:ext cx="73152" cy="530352"/>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267712" y="2880360"/>
            <a:ext cx="73152" cy="429768"/>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508760" y="3986784"/>
            <a:ext cx="932688" cy="329184"/>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441448" y="3584448"/>
            <a:ext cx="100584" cy="40233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542032" y="3273552"/>
            <a:ext cx="64008" cy="31089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458468" y="426567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248156" y="3771900"/>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92708" y="32598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3836" y="28026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623060" y="37170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650492" y="3131820"/>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668780" y="2638044"/>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88236" y="37170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43100" y="3040379"/>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79676" y="2528315"/>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144268" y="3790188"/>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217420" y="32598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290572" y="2830068"/>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91156" y="3936492"/>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91739" y="353415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555748" y="3223260"/>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818888"/>
            <a:ext cx="2697480" cy="329184"/>
          </a:xfrm>
          <a:prstGeom prst="rect">
            <a:avLst/>
          </a:prstGeom>
          <a:noFill/>
        </p:spPr>
        <p:txBody>
          <a:bodyPr wrap="square" lIns="36576" rIns="36576" tIns="36576" bIns="36576" anchor="t">
            <a:spAutoFit/>
          </a:bodyPr>
          <a:lstStyle/>
          <a:p>
            <a:pPr algn="ctr">
              <a:spcAft>
                <a:spcPts val="400"/>
              </a:spcAft>
            </a:pPr>
            <a:r>
              <a:rPr sz="1000" b="1" i="0">
                <a:solidFill>
                  <a:srgbClr val="DB5F60"/>
                </a:solidFill>
                <a:latin typeface="Aptos"/>
              </a:rPr>
              <a:t>Vị trí khớp, thiếu bề mặt</a:t>
            </a:r>
          </a:p>
        </p:txBody>
      </p:sp>
      <p:cxnSp>
        <p:nvCxnSpPr>
          <p:cNvPr id="40" name="Connector 39"/>
          <p:cNvCxnSpPr/>
          <p:nvPr/>
        </p:nvCxnSpPr>
        <p:spPr>
          <a:xfrm>
            <a:off x="3977639" y="3429000"/>
            <a:ext cx="548641" cy="0"/>
          </a:xfrm>
          <a:prstGeom prst="line">
            <a:avLst/>
          </a:prstGeom>
          <a:ln w="25400">
            <a:solidFill>
              <a:srgbClr val="24AEA0"/>
            </a:solidFill>
          </a:ln>
        </p:spPr>
        <p:style>
          <a:lnRef idx="2">
            <a:schemeClr val="accent1"/>
          </a:lnRef>
          <a:fillRef idx="0">
            <a:schemeClr val="accent1"/>
          </a:fillRef>
          <a:effectRef idx="1">
            <a:schemeClr val="accent1"/>
          </a:effectRef>
          <a:fontRef idx="minor">
            <a:schemeClr val="tx1"/>
          </a:fontRef>
        </p:style>
      </p:cxnSp>
      <p:sp>
        <p:nvSpPr>
          <p:cNvPr id="41" name="Chevron 40"/>
          <p:cNvSpPr/>
          <p:nvPr/>
        </p:nvSpPr>
        <p:spPr>
          <a:xfrm>
            <a:off x="4434840" y="334670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45152" y="1737360"/>
            <a:ext cx="3182112" cy="361188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82896" y="1965960"/>
            <a:ext cx="2697480" cy="27432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SMPL-X → normal map</a:t>
            </a:r>
          </a:p>
        </p:txBody>
      </p:sp>
      <p:pic>
        <p:nvPicPr>
          <p:cNvPr id="97" name="Hand normal map" descr="Bàn tay được vẽ dưới dạng bản đồ hướng mặt (normal map): màu RGB mã hóa hướng bề mặt; quả cầu ở góc là bảng màu tham chiếu."/>
          <p:cNvPicPr>
            <a:picLocks noChangeAspect="1"/>
          </p:cNvPicPr>
          <p:nvPr/>
        </p:nvPicPr>
        <p:blipFill>
          <a:blip r:embed="rId2"/>
          <a:stretch>
            <a:fillRect/>
          </a:stretch>
        </p:blipFill>
        <p:spPr>
          <a:xfrm>
            <a:off x="4846320" y="2286000"/>
            <a:ext cx="2779776" cy="2423160"/>
          </a:xfrm>
          <a:prstGeom prst="rect">
            <a:avLst/>
          </a:prstGeom>
        </p:spPr>
      </p:pic>
      <p:sp>
        <p:nvSpPr>
          <p:cNvPr id="85" name="TextBox 84"/>
          <p:cNvSpPr txBox="1"/>
          <p:nvPr/>
        </p:nvSpPr>
        <p:spPr>
          <a:xfrm>
            <a:off x="4828032" y="4818888"/>
            <a:ext cx="2816352" cy="329184"/>
          </a:xfrm>
          <a:prstGeom prst="rect">
            <a:avLst/>
          </a:prstGeom>
          <a:noFill/>
        </p:spPr>
        <p:txBody>
          <a:bodyPr wrap="square" lIns="36576" rIns="36576" tIns="36576" bIns="36576" anchor="t">
            <a:spAutoFit/>
          </a:bodyPr>
          <a:lstStyle/>
          <a:p>
            <a:pPr algn="ctr">
              <a:spcAft>
                <a:spcPts val="400"/>
              </a:spcAft>
            </a:pPr>
            <a:r>
              <a:rPr sz="1000" b="1" i="0">
                <a:solidFill>
                  <a:srgbClr val="24AEA0"/>
                </a:solidFill>
                <a:latin typeface="Aptos"/>
              </a:rPr>
              <a:t>Normal map: màu = hướng bề mặt</a:t>
            </a:r>
          </a:p>
        </p:txBody>
      </p:sp>
      <p:sp>
        <p:nvSpPr>
          <p:cNvPr id="96" name="TextBox Legend"/>
          <p:cNvSpPr txBox="1"/>
          <p:nvPr/>
        </p:nvSpPr>
        <p:spPr>
          <a:xfrm>
            <a:off x="4700016" y="5029200"/>
            <a:ext cx="3072384" cy="237744"/>
          </a:xfrm>
          <a:prstGeom prst="rect">
            <a:avLst/>
          </a:prstGeom>
          <a:noFill/>
        </p:spPr>
        <p:txBody>
          <a:bodyPr wrap="square" lIns="36576" rIns="36576" tIns="36576" bIns="36576" anchor="t">
            <a:spAutoFit/>
          </a:bodyPr>
          <a:lstStyle/>
          <a:p>
            <a:pPr algn="ctr">
              <a:spcAft>
                <a:spcPts val="400"/>
              </a:spcAft>
            </a:pPr>
            <a:r>
              <a:rPr sz="900" b="0" i="0">
                <a:solidFill>
                  <a:srgbClr val="657386"/>
                </a:solidFill>
                <a:latin typeface="Aptos"/>
              </a:rPr>
              <a:t>Đỏ: phải · Xanh lá: lên · Xanh dương: về phía bạn</a:t>
            </a:r>
          </a:p>
        </p:txBody>
      </p:sp>
      <p:sp>
        <p:nvSpPr>
          <p:cNvPr id="86" name="Rounded Rectangle 85"/>
          <p:cNvSpPr/>
          <p:nvPr/>
        </p:nvSpPr>
        <p:spPr>
          <a:xfrm>
            <a:off x="8101583" y="1737360"/>
            <a:ext cx="3401568" cy="3611880"/>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339327" y="1993392"/>
            <a:ext cx="2880360" cy="310896"/>
          </a:xfrm>
          <a:prstGeom prst="rect">
            <a:avLst/>
          </a:prstGeom>
          <a:noFill/>
        </p:spPr>
        <p:txBody>
          <a:bodyPr wrap="square" lIns="36576" rIns="36576" tIns="36576" bIns="36576" anchor="t">
            <a:spAutoFit/>
          </a:bodyPr>
          <a:lstStyle/>
          <a:p>
            <a:pPr algn="l">
              <a:spcAft>
                <a:spcPts val="400"/>
              </a:spcAft>
            </a:pPr>
            <a:r>
              <a:rPr sz="1500" b="1" i="0">
                <a:solidFill>
                  <a:srgbClr val="FFFFFF"/>
                </a:solidFill>
                <a:latin typeface="Aptos"/>
              </a:rPr>
              <a:t>Hai biểu diễn 2D</a:t>
            </a:r>
          </a:p>
        </p:txBody>
      </p:sp>
      <p:sp>
        <p:nvSpPr>
          <p:cNvPr id="88" name="TextBox 87"/>
          <p:cNvSpPr txBox="1"/>
          <p:nvPr/>
        </p:nvSpPr>
        <p:spPr>
          <a:xfrm>
            <a:off x="8339327" y="2514600"/>
            <a:ext cx="2834640" cy="475488"/>
          </a:xfrm>
          <a:prstGeom prst="rect">
            <a:avLst/>
          </a:prstGeom>
          <a:noFill/>
        </p:spPr>
        <p:txBody>
          <a:bodyPr wrap="square" lIns="36576" rIns="36576" tIns="36576" bIns="36576" anchor="t">
            <a:spAutoFit/>
          </a:bodyPr>
          <a:lstStyle/>
          <a:p>
            <a:pPr algn="l">
              <a:spcAft>
                <a:spcPts val="400"/>
              </a:spcAft>
            </a:pPr>
            <a:r>
              <a:rPr sz="1000" b="1" i="0">
                <a:solidFill>
                  <a:srgbClr val="5BC4D2"/>
                </a:solidFill>
                <a:latin typeface="Aptos"/>
              </a:rPr>
              <a:t>NORMAL MAP</a:t>
            </a:r>
          </a:p>
        </p:txBody>
      </p:sp>
      <p:sp>
        <p:nvSpPr>
          <p:cNvPr id="89" name="TextBox 88"/>
          <p:cNvSpPr txBox="1"/>
          <p:nvPr/>
        </p:nvSpPr>
        <p:spPr>
          <a:xfrm>
            <a:off x="8339327" y="2761488"/>
            <a:ext cx="2816352" cy="603504"/>
          </a:xfrm>
          <a:prstGeom prst="rect">
            <a:avLst/>
          </a:prstGeom>
          <a:noFill/>
        </p:spPr>
        <p:txBody>
          <a:bodyPr wrap="square" lIns="36576" rIns="36576" tIns="36576" bIns="36576" anchor="t">
            <a:spAutoFit/>
          </a:bodyPr>
          <a:lstStyle/>
          <a:p>
            <a:pPr algn="l">
              <a:spcAft>
                <a:spcPts val="400"/>
              </a:spcAft>
            </a:pPr>
            <a:r>
              <a:rPr sz="1200" b="0" i="0">
                <a:solidFill>
                  <a:srgbClr val="FFFFFF"/>
                </a:solidFill>
                <a:latin typeface="Aptos"/>
              </a:rPr>
              <a:t>Mã hóa hướng bề mặt bằng màu.</a:t>
            </a:r>
          </a:p>
        </p:txBody>
      </p:sp>
      <p:cxnSp>
        <p:nvCxnSpPr>
          <p:cNvPr id="90" name="Connector 89"/>
          <p:cNvCxnSpPr/>
          <p:nvPr/>
        </p:nvCxnSpPr>
        <p:spPr>
          <a:xfrm>
            <a:off x="8339327" y="3502152"/>
            <a:ext cx="2852929" cy="0"/>
          </a:xfrm>
          <a:prstGeom prst="line">
            <a:avLst/>
          </a:prstGeom>
          <a:ln w="12700">
            <a:solidFill>
              <a:srgbClr val="43546E"/>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8339327" y="3703320"/>
            <a:ext cx="2834640" cy="475488"/>
          </a:xfrm>
          <a:prstGeom prst="rect">
            <a:avLst/>
          </a:prstGeom>
          <a:noFill/>
        </p:spPr>
        <p:txBody>
          <a:bodyPr wrap="square" lIns="36576" rIns="36576" tIns="36576" bIns="36576" anchor="t">
            <a:spAutoFit/>
          </a:bodyPr>
          <a:lstStyle/>
          <a:p>
            <a:pPr algn="l">
              <a:spcAft>
                <a:spcPts val="400"/>
              </a:spcAft>
            </a:pPr>
            <a:r>
              <a:rPr sz="1000" b="1" i="0">
                <a:solidFill>
                  <a:srgbClr val="F2B74A"/>
                </a:solidFill>
                <a:latin typeface="Aptos"/>
              </a:rPr>
              <a:t>GRADIENT / EDGE MAP</a:t>
            </a:r>
          </a:p>
        </p:txBody>
      </p:sp>
      <p:sp>
        <p:nvSpPr>
          <p:cNvPr id="92" name="TextBox 91"/>
          <p:cNvSpPr txBox="1"/>
          <p:nvPr/>
        </p:nvSpPr>
        <p:spPr>
          <a:xfrm>
            <a:off x="8339327" y="3959352"/>
            <a:ext cx="2816352" cy="758952"/>
          </a:xfrm>
          <a:prstGeom prst="rect">
            <a:avLst/>
          </a:prstGeom>
          <a:noFill/>
        </p:spPr>
        <p:txBody>
          <a:bodyPr wrap="square" lIns="36576" rIns="36576" tIns="36576" bIns="36576" anchor="t">
            <a:spAutoFit/>
          </a:bodyPr>
          <a:lstStyle/>
          <a:p>
            <a:pPr algn="l">
              <a:spcAft>
                <a:spcPts val="400"/>
              </a:spcAft>
            </a:pPr>
            <a:r>
              <a:rPr sz="1100" b="0" i="0">
                <a:solidFill>
                  <a:srgbClr val="FFFFFF"/>
                </a:solidFill>
                <a:latin typeface="Aptos"/>
              </a:rPr>
              <a:t>Độ lớn gradient của ảnh xám làm nổi biên: G = √(Iₓ² + Iᵧ² + ε).</a:t>
            </a:r>
          </a:p>
        </p:txBody>
      </p:sp>
      <p:sp>
        <p:nvSpPr>
          <p:cNvPr id="93" name="TextBox 92"/>
          <p:cNvSpPr txBox="1"/>
          <p:nvPr/>
        </p:nvSpPr>
        <p:spPr>
          <a:xfrm>
            <a:off x="768096" y="5623560"/>
            <a:ext cx="10607040" cy="420624"/>
          </a:xfrm>
          <a:prstGeom prst="rect">
            <a:avLst/>
          </a:prstGeom>
          <a:noFill/>
        </p:spPr>
        <p:txBody>
          <a:bodyPr wrap="square" lIns="36576" rIns="36576" tIns="36576" bIns="36576" anchor="t">
            <a:spAutoFit/>
          </a:bodyPr>
          <a:lstStyle/>
          <a:p>
            <a:pPr algn="l">
              <a:spcAft>
                <a:spcPts val="400"/>
              </a:spcAft>
            </a:pPr>
            <a:r>
              <a:rPr sz="1100" b="1" i="0">
                <a:solidFill>
                  <a:srgbClr val="142037"/>
                </a:solidFill>
                <a:latin typeface="Aptos"/>
              </a:rPr>
              <a:t>Thông điệp: 3D không đi thẳng vào generator — GReg chiếu thông tin hình học thành biểu diễn ảnh 2D.</a:t>
            </a:r>
          </a:p>
        </p:txBody>
      </p:sp>
      <p:cxnSp>
        <p:nvCxnSpPr>
          <p:cNvPr id="94" name="Connector 93"/>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03 • GREG METHOD</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Luồng chạy từ đầu đến cuối</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06 / 10</a:t>
            </a:r>
          </a:p>
        </p:txBody>
      </p:sp>
      <p:sp>
        <p:nvSpPr>
          <p:cNvPr id="51" name="TextBox 50"/>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
        <p:nvSpPr>
          <p:cNvPr id="1001" name="flow panel"/>
          <p:cNvSpPr/>
          <p:nvPr/>
        </p:nvSpPr>
        <p:spPr>
          <a:xfrm>
            <a:off x="402336" y="1133856"/>
            <a:ext cx="8924544" cy="4573239"/>
          </a:xfrm>
          <a:prstGeom prst="roundRect">
            <a:avLst>
              <a:gd name="adj" fmla="val 2500"/>
            </a:avLst>
          </a:prstGeom>
          <a:solidFill>
            <a:srgbClr val="FFFFFF"/>
          </a:solidFill>
          <a:ln w="9525">
            <a:solidFill>
              <a:srgbClr val="D7DAE4"/>
            </a:solidFill>
          </a:ln>
        </p:spPr>
        <p:txBody>
          <a:bodyPr/>
          <a:lstStyle/>
          <a:p>
            <a:endParaRPr lang="vi-VN"/>
          </a:p>
        </p:txBody>
      </p:sp>
      <p:sp>
        <p:nvSpPr>
          <p:cNvPr id="1002" name="wire Is_warp"/>
          <p:cNvSpPr/>
          <p:nvPr/>
        </p:nvSpPr>
        <p:spPr>
          <a:xfrm>
            <a:off x="1323555" y="1679706"/>
            <a:ext cx="3362512" cy="89270"/>
          </a:xfrm>
          <a:custGeom>
            <a:avLst/>
            <a:gdLst/>
            <a:ahLst/>
            <a:cxnLst/>
            <a:rect l="0" t="0" r="r" b="b"/>
            <a:pathLst>
              <a:path w="3362512" h="89270" fill="none">
                <a:moveTo>
                  <a:pt x="44635" y="44635"/>
                </a:moveTo>
                <a:lnTo>
                  <a:pt x="3317877" y="44635"/>
                </a:lnTo>
              </a:path>
            </a:pathLst>
          </a:custGeom>
          <a:noFill/>
          <a:ln w="19050" cap="rnd">
            <a:solidFill>
              <a:srgbClr val="BF6A12"/>
            </a:solidFill>
            <a:round/>
            <a:tailEnd type="triangle" w="med" len="med"/>
          </a:ln>
        </p:spPr>
        <p:txBody>
          <a:bodyPr/>
          <a:lstStyle/>
          <a:p>
            <a:endParaRPr lang="vi-VN"/>
          </a:p>
        </p:txBody>
      </p:sp>
      <p:sp>
        <p:nvSpPr>
          <p:cNvPr id="1003" name="wire Is_re"/>
          <p:cNvSpPr/>
          <p:nvPr/>
        </p:nvSpPr>
        <p:spPr>
          <a:xfrm>
            <a:off x="1323555" y="1977274"/>
            <a:ext cx="498425" cy="520743"/>
          </a:xfrm>
          <a:custGeom>
            <a:avLst/>
            <a:gdLst/>
            <a:ahLst/>
            <a:cxnLst/>
            <a:rect l="0" t="0" r="r" b="b"/>
            <a:pathLst>
              <a:path w="498425" h="520743" fill="none">
                <a:moveTo>
                  <a:pt x="44635" y="44635"/>
                </a:moveTo>
                <a:lnTo>
                  <a:pt x="163662" y="44635"/>
                </a:lnTo>
                <a:quadBezTo>
                  <a:pt x="230615" y="44635"/>
                  <a:pt x="230615" y="111588"/>
                </a:quadBezTo>
                <a:lnTo>
                  <a:pt x="230615" y="409155"/>
                </a:lnTo>
                <a:quadBezTo>
                  <a:pt x="230615" y="476108"/>
                  <a:pt x="297567" y="476108"/>
                </a:quadBezTo>
                <a:lnTo>
                  <a:pt x="453790" y="476108"/>
                </a:lnTo>
              </a:path>
            </a:pathLst>
          </a:custGeom>
          <a:noFill/>
          <a:ln w="19050" cap="rnd">
            <a:solidFill>
              <a:srgbClr val="BF6A12"/>
            </a:solidFill>
            <a:prstDash val="dash"/>
            <a:round/>
            <a:tailEnd type="triangle" w="med" len="med"/>
          </a:ln>
        </p:spPr>
        <p:txBody>
          <a:bodyPr/>
          <a:lstStyle/>
          <a:p>
            <a:endParaRPr lang="vi-VN"/>
          </a:p>
        </p:txBody>
      </p:sp>
      <p:sp>
        <p:nvSpPr>
          <p:cNvPr id="1004" name="wire Nt_re"/>
          <p:cNvSpPr/>
          <p:nvPr/>
        </p:nvSpPr>
        <p:spPr>
          <a:xfrm>
            <a:off x="1323555" y="2527774"/>
            <a:ext cx="498425" cy="654648"/>
          </a:xfrm>
          <a:custGeom>
            <a:avLst/>
            <a:gdLst/>
            <a:ahLst/>
            <a:cxnLst/>
            <a:rect l="0" t="0" r="r" b="b"/>
            <a:pathLst>
              <a:path w="498425" h="654648" fill="none">
                <a:moveTo>
                  <a:pt x="44635" y="610013"/>
                </a:moveTo>
                <a:lnTo>
                  <a:pt x="275250" y="610013"/>
                </a:lnTo>
                <a:quadBezTo>
                  <a:pt x="342203" y="610013"/>
                  <a:pt x="342203" y="543061"/>
                </a:quadBezTo>
                <a:lnTo>
                  <a:pt x="342203" y="100429"/>
                </a:lnTo>
                <a:quadBezTo>
                  <a:pt x="342203" y="44635"/>
                  <a:pt x="397996" y="44635"/>
                </a:quadBezTo>
                <a:lnTo>
                  <a:pt x="453790" y="44635"/>
                </a:lnTo>
              </a:path>
            </a:pathLst>
          </a:custGeom>
          <a:noFill/>
          <a:ln w="19050" cap="rnd">
            <a:solidFill>
              <a:srgbClr val="5658D2"/>
            </a:solidFill>
            <a:round/>
            <a:tailEnd type="triangle" w="med" len="med"/>
          </a:ln>
        </p:spPr>
        <p:txBody>
          <a:bodyPr/>
          <a:lstStyle/>
          <a:p>
            <a:endParaRPr lang="vi-VN"/>
          </a:p>
        </p:txBody>
      </p:sp>
      <p:sp>
        <p:nvSpPr>
          <p:cNvPr id="1005" name="wire Nt_grad"/>
          <p:cNvSpPr/>
          <p:nvPr/>
        </p:nvSpPr>
        <p:spPr>
          <a:xfrm>
            <a:off x="1323555" y="3301449"/>
            <a:ext cx="498425" cy="89270"/>
          </a:xfrm>
          <a:custGeom>
            <a:avLst/>
            <a:gdLst/>
            <a:ahLst/>
            <a:cxnLst/>
            <a:rect l="0" t="0" r="r" b="b"/>
            <a:pathLst>
              <a:path w="498425" h="89270" fill="none">
                <a:moveTo>
                  <a:pt x="44635" y="44635"/>
                </a:moveTo>
                <a:lnTo>
                  <a:pt x="453790" y="44635"/>
                </a:lnTo>
              </a:path>
            </a:pathLst>
          </a:custGeom>
          <a:noFill/>
          <a:ln w="19050" cap="rnd">
            <a:solidFill>
              <a:srgbClr val="5658D2"/>
            </a:solidFill>
            <a:round/>
            <a:tailEnd type="triangle" w="med" len="med"/>
          </a:ln>
        </p:spPr>
        <p:txBody>
          <a:bodyPr/>
          <a:lstStyle/>
          <a:p>
            <a:endParaRPr lang="vi-VN"/>
          </a:p>
        </p:txBody>
      </p:sp>
      <p:sp>
        <p:nvSpPr>
          <p:cNvPr id="1006" name="wire Nt_flow"/>
          <p:cNvSpPr/>
          <p:nvPr/>
        </p:nvSpPr>
        <p:spPr>
          <a:xfrm>
            <a:off x="1323555" y="3509746"/>
            <a:ext cx="498425" cy="996851"/>
          </a:xfrm>
          <a:custGeom>
            <a:avLst/>
            <a:gdLst/>
            <a:ahLst/>
            <a:cxnLst/>
            <a:rect l="0" t="0" r="r" b="b"/>
            <a:pathLst>
              <a:path w="498425" h="996851" fill="none">
                <a:moveTo>
                  <a:pt x="44635" y="44635"/>
                </a:moveTo>
                <a:lnTo>
                  <a:pt x="126466" y="44635"/>
                </a:lnTo>
                <a:quadBezTo>
                  <a:pt x="193419" y="44635"/>
                  <a:pt x="193419" y="111588"/>
                </a:quadBezTo>
                <a:lnTo>
                  <a:pt x="193419" y="885263"/>
                </a:lnTo>
                <a:quadBezTo>
                  <a:pt x="193419" y="952216"/>
                  <a:pt x="260372" y="952216"/>
                </a:quadBezTo>
                <a:lnTo>
                  <a:pt x="453790" y="952216"/>
                </a:lnTo>
              </a:path>
            </a:pathLst>
          </a:custGeom>
          <a:noFill/>
          <a:ln w="19050" cap="rnd">
            <a:solidFill>
              <a:srgbClr val="5658D2"/>
            </a:solidFill>
            <a:round/>
            <a:tailEnd type="triangle" w="med" len="med"/>
          </a:ln>
        </p:spPr>
        <p:txBody>
          <a:bodyPr/>
          <a:lstStyle/>
          <a:p>
            <a:endParaRPr lang="vi-VN"/>
          </a:p>
        </p:txBody>
      </p:sp>
      <p:sp>
        <p:nvSpPr>
          <p:cNvPr id="1007" name="wire Ns_flow"/>
          <p:cNvSpPr/>
          <p:nvPr/>
        </p:nvSpPr>
        <p:spPr>
          <a:xfrm>
            <a:off x="1323555" y="4536354"/>
            <a:ext cx="498425" cy="416594"/>
          </a:xfrm>
          <a:custGeom>
            <a:avLst/>
            <a:gdLst/>
            <a:ahLst/>
            <a:cxnLst/>
            <a:rect l="0" t="0" r="r" b="b"/>
            <a:pathLst>
              <a:path w="498425" h="416594" fill="none">
                <a:moveTo>
                  <a:pt x="44635" y="371959"/>
                </a:moveTo>
                <a:lnTo>
                  <a:pt x="200858" y="371959"/>
                </a:lnTo>
                <a:quadBezTo>
                  <a:pt x="267811" y="371959"/>
                  <a:pt x="267811" y="305007"/>
                </a:quadBezTo>
                <a:lnTo>
                  <a:pt x="267811" y="111588"/>
                </a:lnTo>
                <a:quadBezTo>
                  <a:pt x="267811" y="44635"/>
                  <a:pt x="334763" y="44635"/>
                </a:quadBezTo>
                <a:lnTo>
                  <a:pt x="453790" y="44635"/>
                </a:lnTo>
              </a:path>
            </a:pathLst>
          </a:custGeom>
          <a:noFill/>
          <a:ln w="19050" cap="rnd">
            <a:solidFill>
              <a:srgbClr val="5658D2"/>
            </a:solidFill>
            <a:round/>
            <a:tailEnd type="triangle" w="med" len="med"/>
          </a:ln>
        </p:spPr>
        <p:txBody>
          <a:bodyPr/>
          <a:lstStyle/>
          <a:p>
            <a:endParaRPr lang="vi-VN"/>
          </a:p>
        </p:txBody>
      </p:sp>
      <p:sp>
        <p:nvSpPr>
          <p:cNvPr id="1008" name="wire re_R"/>
          <p:cNvSpPr/>
          <p:nvPr/>
        </p:nvSpPr>
        <p:spPr>
          <a:xfrm>
            <a:off x="2848588" y="2468260"/>
            <a:ext cx="498425" cy="89270"/>
          </a:xfrm>
          <a:custGeom>
            <a:avLst/>
            <a:gdLst/>
            <a:ahLst/>
            <a:cxnLst/>
            <a:rect l="0" t="0" r="r" b="b"/>
            <a:pathLst>
              <a:path w="498425" h="89270" fill="none">
                <a:moveTo>
                  <a:pt x="44635" y="44635"/>
                </a:moveTo>
                <a:lnTo>
                  <a:pt x="453790" y="44635"/>
                </a:lnTo>
              </a:path>
            </a:pathLst>
          </a:custGeom>
          <a:noFill/>
          <a:ln w="19050" cap="rnd">
            <a:solidFill>
              <a:srgbClr val="0B8A82"/>
            </a:solidFill>
            <a:round/>
            <a:tailEnd type="triangle" w="med" len="med"/>
          </a:ln>
        </p:spPr>
        <p:txBody>
          <a:bodyPr/>
          <a:lstStyle/>
          <a:p>
            <a:endParaRPr lang="vi-VN"/>
          </a:p>
        </p:txBody>
      </p:sp>
      <p:sp>
        <p:nvSpPr>
          <p:cNvPr id="1009" name="wire grad_GR"/>
          <p:cNvSpPr/>
          <p:nvPr/>
        </p:nvSpPr>
        <p:spPr>
          <a:xfrm>
            <a:off x="2848588" y="3301449"/>
            <a:ext cx="498425" cy="89270"/>
          </a:xfrm>
          <a:custGeom>
            <a:avLst/>
            <a:gdLst/>
            <a:ahLst/>
            <a:cxnLst/>
            <a:rect l="0" t="0" r="r" b="b"/>
            <a:pathLst>
              <a:path w="498425" h="89270" fill="none">
                <a:moveTo>
                  <a:pt x="44635" y="44635"/>
                </a:moveTo>
                <a:lnTo>
                  <a:pt x="453790" y="44635"/>
                </a:lnTo>
              </a:path>
            </a:pathLst>
          </a:custGeom>
          <a:noFill/>
          <a:ln w="19050" cap="rnd">
            <a:solidFill>
              <a:srgbClr val="0B8A82"/>
            </a:solidFill>
            <a:round/>
            <a:tailEnd type="triangle" w="med" len="med"/>
          </a:ln>
        </p:spPr>
        <p:txBody>
          <a:bodyPr/>
          <a:lstStyle/>
          <a:p>
            <a:endParaRPr lang="vi-VN"/>
          </a:p>
        </p:txBody>
      </p:sp>
      <p:sp>
        <p:nvSpPr>
          <p:cNvPr id="1010" name="wire flow_F"/>
          <p:cNvSpPr/>
          <p:nvPr/>
        </p:nvSpPr>
        <p:spPr>
          <a:xfrm>
            <a:off x="2848588" y="4305739"/>
            <a:ext cx="498425" cy="200858"/>
          </a:xfrm>
          <a:custGeom>
            <a:avLst/>
            <a:gdLst/>
            <a:ahLst/>
            <a:cxnLst/>
            <a:rect l="0" t="0" r="r" b="b"/>
            <a:pathLst>
              <a:path w="498425" h="200858" fill="none">
                <a:moveTo>
                  <a:pt x="44635" y="156223"/>
                </a:moveTo>
                <a:lnTo>
                  <a:pt x="137625" y="156223"/>
                </a:lnTo>
                <a:quadBezTo>
                  <a:pt x="193419" y="156223"/>
                  <a:pt x="193419" y="100429"/>
                </a:quadBezTo>
                <a:lnTo>
                  <a:pt x="193419" y="100429"/>
                </a:lnTo>
                <a:quadBezTo>
                  <a:pt x="193419" y="44635"/>
                  <a:pt x="249213" y="44635"/>
                </a:quadBezTo>
                <a:lnTo>
                  <a:pt x="453790" y="44635"/>
                </a:lnTo>
              </a:path>
            </a:pathLst>
          </a:custGeom>
          <a:noFill/>
          <a:ln w="19050" cap="rnd">
            <a:solidFill>
              <a:srgbClr val="687086"/>
            </a:solidFill>
            <a:round/>
            <a:tailEnd type="triangle" w="med" len="med"/>
          </a:ln>
        </p:spPr>
        <p:txBody>
          <a:bodyPr/>
          <a:lstStyle/>
          <a:p>
            <a:endParaRPr lang="vi-VN"/>
          </a:p>
        </p:txBody>
      </p:sp>
      <p:sp>
        <p:nvSpPr>
          <p:cNvPr id="1011" name="wire flow_O"/>
          <p:cNvSpPr/>
          <p:nvPr/>
        </p:nvSpPr>
        <p:spPr>
          <a:xfrm>
            <a:off x="2848588" y="4536354"/>
            <a:ext cx="498425" cy="662088"/>
          </a:xfrm>
          <a:custGeom>
            <a:avLst/>
            <a:gdLst/>
            <a:ahLst/>
            <a:cxnLst/>
            <a:rect l="0" t="0" r="r" b="b"/>
            <a:pathLst>
              <a:path w="498425" h="662088" fill="none">
                <a:moveTo>
                  <a:pt x="44635" y="44635"/>
                </a:moveTo>
                <a:lnTo>
                  <a:pt x="238054" y="44635"/>
                </a:lnTo>
                <a:quadBezTo>
                  <a:pt x="305007" y="44635"/>
                  <a:pt x="305007" y="111588"/>
                </a:quadBezTo>
                <a:lnTo>
                  <a:pt x="305007" y="550500"/>
                </a:lnTo>
                <a:quadBezTo>
                  <a:pt x="305007" y="617452"/>
                  <a:pt x="371959" y="617452"/>
                </a:quadBezTo>
                <a:lnTo>
                  <a:pt x="453790" y="617452"/>
                </a:lnTo>
              </a:path>
            </a:pathLst>
          </a:custGeom>
          <a:noFill/>
          <a:ln w="19050" cap="rnd">
            <a:solidFill>
              <a:srgbClr val="687086"/>
            </a:solidFill>
            <a:round/>
            <a:tailEnd type="triangle" w="med" len="med"/>
          </a:ln>
        </p:spPr>
        <p:txBody>
          <a:bodyPr/>
          <a:lstStyle/>
          <a:p>
            <a:endParaRPr lang="vi-VN"/>
          </a:p>
        </p:txBody>
      </p:sp>
      <p:sp>
        <p:nvSpPr>
          <p:cNvPr id="1012" name="wire R_cat"/>
          <p:cNvSpPr/>
          <p:nvPr/>
        </p:nvSpPr>
        <p:spPr>
          <a:xfrm>
            <a:off x="3927271" y="2468260"/>
            <a:ext cx="1844918" cy="996851"/>
          </a:xfrm>
          <a:custGeom>
            <a:avLst/>
            <a:gdLst/>
            <a:ahLst/>
            <a:cxnLst/>
            <a:rect l="0" t="0" r="r" b="b"/>
            <a:pathLst>
              <a:path w="1844918" h="996851" fill="none">
                <a:moveTo>
                  <a:pt x="44635" y="44635"/>
                </a:moveTo>
                <a:lnTo>
                  <a:pt x="1614303" y="44635"/>
                </a:lnTo>
                <a:quadBezTo>
                  <a:pt x="1681256" y="44635"/>
                  <a:pt x="1681256" y="111588"/>
                </a:quadBezTo>
                <a:lnTo>
                  <a:pt x="1681256" y="892702"/>
                </a:lnTo>
                <a:quadBezTo>
                  <a:pt x="1681256" y="952216"/>
                  <a:pt x="1740770" y="952216"/>
                </a:quadBezTo>
                <a:lnTo>
                  <a:pt x="1800283" y="952216"/>
                </a:lnTo>
              </a:path>
            </a:pathLst>
          </a:custGeom>
          <a:noFill/>
          <a:ln w="19050" cap="rnd">
            <a:solidFill>
              <a:srgbClr val="0B8A82"/>
            </a:solidFill>
            <a:round/>
            <a:tailEnd type="triangle" w="med" len="med"/>
          </a:ln>
        </p:spPr>
        <p:txBody>
          <a:bodyPr/>
          <a:lstStyle/>
          <a:p>
            <a:endParaRPr lang="vi-VN"/>
          </a:p>
        </p:txBody>
      </p:sp>
      <p:sp>
        <p:nvSpPr>
          <p:cNvPr id="1013" name="wire GR_enc"/>
          <p:cNvSpPr/>
          <p:nvPr/>
        </p:nvSpPr>
        <p:spPr>
          <a:xfrm>
            <a:off x="3927271" y="3301449"/>
            <a:ext cx="758797" cy="89270"/>
          </a:xfrm>
          <a:custGeom>
            <a:avLst/>
            <a:gdLst/>
            <a:ahLst/>
            <a:cxnLst/>
            <a:rect l="0" t="0" r="r" b="b"/>
            <a:pathLst>
              <a:path w="758797" h="89270" fill="none">
                <a:moveTo>
                  <a:pt x="44635" y="44635"/>
                </a:moveTo>
                <a:lnTo>
                  <a:pt x="714162" y="44635"/>
                </a:lnTo>
              </a:path>
            </a:pathLst>
          </a:custGeom>
          <a:noFill/>
          <a:ln w="19050" cap="rnd">
            <a:solidFill>
              <a:srgbClr val="0B8A82"/>
            </a:solidFill>
            <a:round/>
            <a:tailEnd type="triangle" w="med" len="med"/>
          </a:ln>
        </p:spPr>
        <p:txBody>
          <a:bodyPr/>
          <a:lstStyle/>
          <a:p>
            <a:endParaRPr lang="vi-VN"/>
          </a:p>
        </p:txBody>
      </p:sp>
      <p:sp>
        <p:nvSpPr>
          <p:cNvPr id="1014" name="wire Nt_cat"/>
          <p:cNvSpPr/>
          <p:nvPr/>
        </p:nvSpPr>
        <p:spPr>
          <a:xfrm>
            <a:off x="1323555" y="3375841"/>
            <a:ext cx="4552782" cy="476108"/>
          </a:xfrm>
          <a:custGeom>
            <a:avLst/>
            <a:gdLst/>
            <a:ahLst/>
            <a:cxnLst/>
            <a:rect l="0" t="0" r="r" b="b"/>
            <a:pathLst>
              <a:path w="4552782" h="476108" fill="none">
                <a:moveTo>
                  <a:pt x="44635" y="44635"/>
                </a:moveTo>
                <a:lnTo>
                  <a:pt x="238054" y="44635"/>
                </a:lnTo>
                <a:quadBezTo>
                  <a:pt x="305007" y="44635"/>
                  <a:pt x="305007" y="111588"/>
                </a:quadBezTo>
                <a:lnTo>
                  <a:pt x="305007" y="364520"/>
                </a:lnTo>
                <a:quadBezTo>
                  <a:pt x="305007" y="431473"/>
                  <a:pt x="371959" y="431473"/>
                </a:quadBezTo>
                <a:lnTo>
                  <a:pt x="4441194" y="431473"/>
                </a:lnTo>
                <a:quadBezTo>
                  <a:pt x="4508147" y="431473"/>
                  <a:pt x="4508147" y="364520"/>
                </a:quadBezTo>
                <a:lnTo>
                  <a:pt x="4508147" y="148784"/>
                </a:lnTo>
              </a:path>
            </a:pathLst>
          </a:custGeom>
          <a:noFill/>
          <a:ln w="19050" cap="rnd">
            <a:solidFill>
              <a:srgbClr val="5658D2"/>
            </a:solidFill>
            <a:round/>
            <a:tailEnd type="triangle" w="med" len="med"/>
          </a:ln>
        </p:spPr>
        <p:txBody>
          <a:bodyPr/>
          <a:lstStyle/>
          <a:p>
            <a:endParaRPr lang="vi-VN"/>
          </a:p>
        </p:txBody>
      </p:sp>
      <p:sp>
        <p:nvSpPr>
          <p:cNvPr id="1015" name="wire enc_bus"/>
          <p:cNvSpPr/>
          <p:nvPr/>
        </p:nvSpPr>
        <p:spPr>
          <a:xfrm>
            <a:off x="5043148" y="3465111"/>
            <a:ext cx="2603715" cy="2068094"/>
          </a:xfrm>
          <a:custGeom>
            <a:avLst/>
            <a:gdLst/>
            <a:ahLst/>
            <a:cxnLst/>
            <a:rect l="0" t="0" r="r" b="b"/>
            <a:pathLst>
              <a:path w="2603715" h="2068094" fill="none">
                <a:moveTo>
                  <a:pt x="44635" y="44635"/>
                </a:moveTo>
                <a:lnTo>
                  <a:pt x="44635" y="1956506"/>
                </a:lnTo>
                <a:quadBezTo>
                  <a:pt x="44635" y="2023459"/>
                  <a:pt x="111588" y="2023459"/>
                </a:quadBezTo>
                <a:lnTo>
                  <a:pt x="2492127" y="2023459"/>
                </a:lnTo>
                <a:quadBezTo>
                  <a:pt x="2559080" y="2023459"/>
                  <a:pt x="2559080" y="1956506"/>
                </a:quadBezTo>
                <a:lnTo>
                  <a:pt x="2559080" y="1673817"/>
                </a:lnTo>
              </a:path>
            </a:pathLst>
          </a:custGeom>
          <a:noFill/>
          <a:ln w="19050" cap="rnd">
            <a:solidFill>
              <a:srgbClr val="0B8A82"/>
            </a:solidFill>
            <a:round/>
            <a:tailEnd type="triangle" w="med" len="med"/>
          </a:ln>
        </p:spPr>
        <p:txBody>
          <a:bodyPr/>
          <a:lstStyle/>
          <a:p>
            <a:endParaRPr lang="vi-VN"/>
          </a:p>
        </p:txBody>
      </p:sp>
      <p:sp>
        <p:nvSpPr>
          <p:cNvPr id="1016" name="wire bus_g1"/>
          <p:cNvSpPr/>
          <p:nvPr/>
        </p:nvSpPr>
        <p:spPr>
          <a:xfrm>
            <a:off x="7066607" y="4573550"/>
            <a:ext cx="89270" cy="959655"/>
          </a:xfrm>
          <a:custGeom>
            <a:avLst/>
            <a:gdLst/>
            <a:ahLst/>
            <a:cxnLst/>
            <a:rect l="0" t="0" r="r" b="b"/>
            <a:pathLst>
              <a:path w="89270" h="959655" fill="none">
                <a:moveTo>
                  <a:pt x="44635" y="915020"/>
                </a:moveTo>
                <a:lnTo>
                  <a:pt x="44635" y="44635"/>
                </a:lnTo>
              </a:path>
            </a:pathLst>
          </a:custGeom>
          <a:noFill/>
          <a:ln w="19050" cap="rnd">
            <a:solidFill>
              <a:srgbClr val="0B8A82"/>
            </a:solidFill>
            <a:round/>
            <a:tailEnd type="triangle" w="med" len="med"/>
          </a:ln>
        </p:spPr>
        <p:txBody>
          <a:bodyPr/>
          <a:lstStyle/>
          <a:p>
            <a:endParaRPr lang="vi-VN"/>
          </a:p>
        </p:txBody>
      </p:sp>
      <p:sp>
        <p:nvSpPr>
          <p:cNvPr id="1017" name="wire bus_g2"/>
          <p:cNvSpPr/>
          <p:nvPr/>
        </p:nvSpPr>
        <p:spPr>
          <a:xfrm>
            <a:off x="7312100" y="4833921"/>
            <a:ext cx="89270" cy="699284"/>
          </a:xfrm>
          <a:custGeom>
            <a:avLst/>
            <a:gdLst/>
            <a:ahLst/>
            <a:cxnLst/>
            <a:rect l="0" t="0" r="r" b="b"/>
            <a:pathLst>
              <a:path w="89270" h="699284" fill="none">
                <a:moveTo>
                  <a:pt x="44635" y="654648"/>
                </a:moveTo>
                <a:lnTo>
                  <a:pt x="44635" y="44635"/>
                </a:lnTo>
              </a:path>
            </a:pathLst>
          </a:custGeom>
          <a:noFill/>
          <a:ln w="19050" cap="rnd">
            <a:solidFill>
              <a:srgbClr val="0B8A82"/>
            </a:solidFill>
            <a:round/>
            <a:tailEnd type="triangle" w="med" len="med"/>
          </a:ln>
        </p:spPr>
        <p:txBody>
          <a:bodyPr/>
          <a:lstStyle/>
          <a:p>
            <a:endParaRPr lang="vi-VN"/>
          </a:p>
        </p:txBody>
      </p:sp>
      <p:sp>
        <p:nvSpPr>
          <p:cNvPr id="1018" name="wire F_warp"/>
          <p:cNvSpPr/>
          <p:nvPr/>
        </p:nvSpPr>
        <p:spPr>
          <a:xfrm>
            <a:off x="3927271" y="1858247"/>
            <a:ext cx="758797" cy="2536763"/>
          </a:xfrm>
          <a:custGeom>
            <a:avLst/>
            <a:gdLst/>
            <a:ahLst/>
            <a:cxnLst/>
            <a:rect l="0" t="0" r="r" b="b"/>
            <a:pathLst>
              <a:path w="758797" h="2536763" fill="none">
                <a:moveTo>
                  <a:pt x="44635" y="2492127"/>
                </a:moveTo>
                <a:lnTo>
                  <a:pt x="424034" y="2492127"/>
                </a:lnTo>
                <a:quadBezTo>
                  <a:pt x="490986" y="2492127"/>
                  <a:pt x="490986" y="2425175"/>
                </a:quadBezTo>
                <a:lnTo>
                  <a:pt x="490986" y="111588"/>
                </a:lnTo>
                <a:quadBezTo>
                  <a:pt x="490986" y="44635"/>
                  <a:pt x="557939" y="44635"/>
                </a:quadBezTo>
                <a:lnTo>
                  <a:pt x="714162" y="44635"/>
                </a:lnTo>
              </a:path>
            </a:pathLst>
          </a:custGeom>
          <a:noFill/>
          <a:ln w="19050" cap="rnd">
            <a:solidFill>
              <a:srgbClr val="687086"/>
            </a:solidFill>
            <a:round/>
            <a:tailEnd type="triangle" w="med" len="med"/>
          </a:ln>
        </p:spPr>
        <p:txBody>
          <a:bodyPr/>
          <a:lstStyle/>
          <a:p>
            <a:endParaRPr lang="vi-VN"/>
          </a:p>
        </p:txBody>
      </p:sp>
      <p:sp>
        <p:nvSpPr>
          <p:cNvPr id="1019" name="wire warp_Ist"/>
          <p:cNvSpPr/>
          <p:nvPr/>
        </p:nvSpPr>
        <p:spPr>
          <a:xfrm>
            <a:off x="5563892" y="1739220"/>
            <a:ext cx="386838" cy="89270"/>
          </a:xfrm>
          <a:custGeom>
            <a:avLst/>
            <a:gdLst/>
            <a:ahLst/>
            <a:cxnLst/>
            <a:rect l="0" t="0" r="r" b="b"/>
            <a:pathLst>
              <a:path w="386838" h="89270" fill="none">
                <a:moveTo>
                  <a:pt x="44635" y="44635"/>
                </a:moveTo>
                <a:lnTo>
                  <a:pt x="342203" y="44635"/>
                </a:lnTo>
              </a:path>
            </a:pathLst>
          </a:custGeom>
          <a:noFill/>
          <a:ln w="19050" cap="rnd">
            <a:solidFill>
              <a:srgbClr val="BF6A12"/>
            </a:solidFill>
            <a:round/>
            <a:tailEnd type="triangle" w="med" len="med"/>
          </a:ln>
        </p:spPr>
        <p:txBody>
          <a:bodyPr/>
          <a:lstStyle/>
          <a:p>
            <a:endParaRPr lang="vi-VN"/>
          </a:p>
        </p:txBody>
      </p:sp>
      <p:sp>
        <p:nvSpPr>
          <p:cNvPr id="1020" name="wire Ist_cat"/>
          <p:cNvSpPr/>
          <p:nvPr/>
        </p:nvSpPr>
        <p:spPr>
          <a:xfrm>
            <a:off x="5787067" y="2111179"/>
            <a:ext cx="535621" cy="1249783"/>
          </a:xfrm>
          <a:custGeom>
            <a:avLst/>
            <a:gdLst/>
            <a:ahLst/>
            <a:cxnLst/>
            <a:rect l="0" t="0" r="r" b="b"/>
            <a:pathLst>
              <a:path w="535621" h="1249783" fill="none">
                <a:moveTo>
                  <a:pt x="490986" y="44635"/>
                </a:moveTo>
                <a:lnTo>
                  <a:pt x="490986" y="200858"/>
                </a:lnTo>
                <a:quadBezTo>
                  <a:pt x="490986" y="267811"/>
                  <a:pt x="424034" y="267811"/>
                </a:quadBezTo>
                <a:lnTo>
                  <a:pt x="111588" y="267811"/>
                </a:lnTo>
                <a:quadBezTo>
                  <a:pt x="44635" y="267811"/>
                  <a:pt x="44635" y="334763"/>
                </a:quadBezTo>
                <a:lnTo>
                  <a:pt x="44635" y="1205148"/>
                </a:lnTo>
              </a:path>
            </a:pathLst>
          </a:custGeom>
          <a:noFill/>
          <a:ln w="19050" cap="rnd">
            <a:solidFill>
              <a:srgbClr val="BF6A12"/>
            </a:solidFill>
            <a:round/>
            <a:tailEnd type="triangle" w="med" len="med"/>
          </a:ln>
        </p:spPr>
        <p:txBody>
          <a:bodyPr/>
          <a:lstStyle/>
          <a:p>
            <a:endParaRPr lang="vi-VN"/>
          </a:p>
        </p:txBody>
      </p:sp>
      <p:sp>
        <p:nvSpPr>
          <p:cNvPr id="1021" name="wire cat_gen"/>
          <p:cNvSpPr/>
          <p:nvPr/>
        </p:nvSpPr>
        <p:spPr>
          <a:xfrm>
            <a:off x="5891216" y="3375841"/>
            <a:ext cx="282689" cy="89270"/>
          </a:xfrm>
          <a:custGeom>
            <a:avLst/>
            <a:gdLst/>
            <a:ahLst/>
            <a:cxnLst/>
            <a:rect l="0" t="0" r="r" b="b"/>
            <a:pathLst>
              <a:path w="282689" h="89270" fill="none">
                <a:moveTo>
                  <a:pt x="44635" y="44635"/>
                </a:moveTo>
                <a:lnTo>
                  <a:pt x="238054" y="44635"/>
                </a:lnTo>
              </a:path>
            </a:pathLst>
          </a:custGeom>
          <a:noFill/>
          <a:ln w="19050" cap="rnd">
            <a:solidFill>
              <a:srgbClr val="4A5166"/>
            </a:solidFill>
            <a:round/>
            <a:tailEnd type="triangle" w="med" len="med"/>
          </a:ln>
        </p:spPr>
        <p:txBody>
          <a:bodyPr/>
          <a:lstStyle/>
          <a:p>
            <a:endParaRPr lang="vi-VN"/>
          </a:p>
        </p:txBody>
      </p:sp>
      <p:sp>
        <p:nvSpPr>
          <p:cNvPr id="1022" name="wire gen_Igen"/>
          <p:cNvSpPr/>
          <p:nvPr/>
        </p:nvSpPr>
        <p:spPr>
          <a:xfrm>
            <a:off x="7870039" y="3710604"/>
            <a:ext cx="312446" cy="89270"/>
          </a:xfrm>
          <a:custGeom>
            <a:avLst/>
            <a:gdLst/>
            <a:ahLst/>
            <a:cxnLst/>
            <a:rect l="0" t="0" r="r" b="b"/>
            <a:pathLst>
              <a:path w="312446" h="89270" fill="none">
                <a:moveTo>
                  <a:pt x="44635" y="44635"/>
                </a:moveTo>
                <a:lnTo>
                  <a:pt x="267811" y="44635"/>
                </a:lnTo>
              </a:path>
            </a:pathLst>
          </a:custGeom>
          <a:noFill/>
          <a:ln w="19050" cap="rnd">
            <a:solidFill>
              <a:srgbClr val="BF6A12"/>
            </a:solidFill>
            <a:round/>
            <a:tailEnd type="triangle" w="med" len="med"/>
          </a:ln>
        </p:spPr>
        <p:txBody>
          <a:bodyPr/>
          <a:lstStyle/>
          <a:p>
            <a:endParaRPr lang="vi-VN"/>
          </a:p>
        </p:txBody>
      </p:sp>
      <p:sp>
        <p:nvSpPr>
          <p:cNvPr id="1023" name="wire Ist_mix"/>
          <p:cNvSpPr/>
          <p:nvPr/>
        </p:nvSpPr>
        <p:spPr>
          <a:xfrm>
            <a:off x="6605378" y="1888004"/>
            <a:ext cx="1502716" cy="654648"/>
          </a:xfrm>
          <a:custGeom>
            <a:avLst/>
            <a:gdLst/>
            <a:ahLst/>
            <a:cxnLst/>
            <a:rect l="0" t="0" r="r" b="b"/>
            <a:pathLst>
              <a:path w="1502716" h="654648" fill="none">
                <a:moveTo>
                  <a:pt x="44635" y="44635"/>
                </a:moveTo>
                <a:lnTo>
                  <a:pt x="1242344" y="44635"/>
                </a:lnTo>
                <a:quadBezTo>
                  <a:pt x="1309297" y="44635"/>
                  <a:pt x="1309297" y="111588"/>
                </a:quadBezTo>
                <a:lnTo>
                  <a:pt x="1309297" y="543061"/>
                </a:lnTo>
                <a:quadBezTo>
                  <a:pt x="1309297" y="610013"/>
                  <a:pt x="1376249" y="610013"/>
                </a:quadBezTo>
                <a:lnTo>
                  <a:pt x="1458081" y="610013"/>
                </a:lnTo>
              </a:path>
            </a:pathLst>
          </a:custGeom>
          <a:noFill/>
          <a:ln w="19050" cap="rnd">
            <a:solidFill>
              <a:srgbClr val="BF6A12"/>
            </a:solidFill>
            <a:round/>
            <a:tailEnd type="triangle" w="med" len="med"/>
          </a:ln>
        </p:spPr>
        <p:txBody>
          <a:bodyPr/>
          <a:lstStyle/>
          <a:p>
            <a:endParaRPr lang="vi-VN"/>
          </a:p>
        </p:txBody>
      </p:sp>
      <p:sp>
        <p:nvSpPr>
          <p:cNvPr id="1024" name="wire Igen_mix"/>
          <p:cNvSpPr/>
          <p:nvPr/>
        </p:nvSpPr>
        <p:spPr>
          <a:xfrm>
            <a:off x="8427978" y="2721192"/>
            <a:ext cx="89270" cy="743919"/>
          </a:xfrm>
          <a:custGeom>
            <a:avLst/>
            <a:gdLst/>
            <a:ahLst/>
            <a:cxnLst/>
            <a:rect l="0" t="0" r="r" b="b"/>
            <a:pathLst>
              <a:path w="89270" h="743919" fill="none">
                <a:moveTo>
                  <a:pt x="44635" y="699284"/>
                </a:moveTo>
                <a:lnTo>
                  <a:pt x="44635" y="44635"/>
                </a:lnTo>
              </a:path>
            </a:pathLst>
          </a:custGeom>
          <a:noFill/>
          <a:ln w="19050" cap="rnd">
            <a:solidFill>
              <a:srgbClr val="BF6A12"/>
            </a:solidFill>
            <a:round/>
            <a:tailEnd type="triangle" w="med" len="med"/>
          </a:ln>
        </p:spPr>
        <p:txBody>
          <a:bodyPr/>
          <a:lstStyle/>
          <a:p>
            <a:endParaRPr lang="vi-VN"/>
          </a:p>
        </p:txBody>
      </p:sp>
      <p:sp>
        <p:nvSpPr>
          <p:cNvPr id="1025" name="wire O_mix"/>
          <p:cNvSpPr/>
          <p:nvPr/>
        </p:nvSpPr>
        <p:spPr>
          <a:xfrm>
            <a:off x="3592507" y="2721192"/>
            <a:ext cx="5519876" cy="2916161"/>
          </a:xfrm>
          <a:custGeom>
            <a:avLst/>
            <a:gdLst/>
            <a:ahLst/>
            <a:cxnLst/>
            <a:rect l="0" t="0" r="r" b="b"/>
            <a:pathLst>
              <a:path w="5519876" h="2916161" fill="none">
                <a:moveTo>
                  <a:pt x="44635" y="2767377"/>
                </a:moveTo>
                <a:lnTo>
                  <a:pt x="44635" y="2819452"/>
                </a:lnTo>
                <a:quadBezTo>
                  <a:pt x="44635" y="2871526"/>
                  <a:pt x="96709" y="2871526"/>
                </a:quadBezTo>
                <a:lnTo>
                  <a:pt x="5408289" y="2871526"/>
                </a:lnTo>
                <a:quadBezTo>
                  <a:pt x="5475241" y="2871526"/>
                  <a:pt x="5475241" y="2804573"/>
                </a:quadBezTo>
                <a:lnTo>
                  <a:pt x="5475241" y="44635"/>
                </a:lnTo>
              </a:path>
            </a:pathLst>
          </a:custGeom>
          <a:noFill/>
          <a:ln w="19050" cap="rnd">
            <a:solidFill>
              <a:srgbClr val="687086"/>
            </a:solidFill>
            <a:round/>
            <a:tailEnd type="triangle" w="med" len="med"/>
          </a:ln>
        </p:spPr>
        <p:txBody>
          <a:bodyPr/>
          <a:lstStyle/>
          <a:p>
            <a:endParaRPr lang="vi-VN"/>
          </a:p>
        </p:txBody>
      </p:sp>
      <p:sp>
        <p:nvSpPr>
          <p:cNvPr id="1026" name="wire mix_out"/>
          <p:cNvSpPr/>
          <p:nvPr/>
        </p:nvSpPr>
        <p:spPr>
          <a:xfrm>
            <a:off x="8576762" y="2036787"/>
            <a:ext cx="89270" cy="386838"/>
          </a:xfrm>
          <a:custGeom>
            <a:avLst/>
            <a:gdLst/>
            <a:ahLst/>
            <a:cxnLst/>
            <a:rect l="0" t="0" r="r" b="b"/>
            <a:pathLst>
              <a:path w="89270" h="386838" fill="none">
                <a:moveTo>
                  <a:pt x="44635" y="342203"/>
                </a:moveTo>
                <a:lnTo>
                  <a:pt x="44635" y="44635"/>
                </a:lnTo>
              </a:path>
            </a:pathLst>
          </a:custGeom>
          <a:noFill/>
          <a:ln w="19050" cap="rnd">
            <a:solidFill>
              <a:srgbClr val="BF6A12"/>
            </a:solidFill>
            <a:round/>
            <a:tailEnd type="triangle" w="med" len="med"/>
          </a:ln>
        </p:spPr>
        <p:txBody>
          <a:bodyPr/>
          <a:lstStyle/>
          <a:p>
            <a:endParaRPr lang="vi-VN"/>
          </a:p>
        </p:txBody>
      </p:sp>
      <p:pic>
        <p:nvPicPr>
          <p:cNvPr id="1027" name="thumb Is" descr="Ảnh nguồn I_{s}"/>
          <p:cNvPicPr>
            <a:picLocks noChangeAspect="1"/>
          </p:cNvPicPr>
          <p:nvPr/>
        </p:nvPicPr>
        <p:blipFill>
          <a:blip r:embed="rId2"/>
          <a:stretch>
            <a:fillRect/>
          </a:stretch>
        </p:blipFill>
        <p:spPr>
          <a:xfrm>
            <a:off x="624272" y="1411896"/>
            <a:ext cx="743919" cy="743919"/>
          </a:xfrm>
          <a:prstGeom prst="rect">
            <a:avLst/>
          </a:prstGeom>
        </p:spPr>
      </p:pic>
      <p:sp>
        <p:nvSpPr>
          <p:cNvPr id="1028" name="frame Is"/>
          <p:cNvSpPr/>
          <p:nvPr/>
        </p:nvSpPr>
        <p:spPr>
          <a:xfrm>
            <a:off x="624272" y="1411896"/>
            <a:ext cx="743919" cy="743919"/>
          </a:xfrm>
          <a:prstGeom prst="rect">
            <a:avLst/>
          </a:prstGeom>
          <a:noFill/>
          <a:ln w="9525">
            <a:solidFill>
              <a:srgbClr val="D7DAE4"/>
            </a:solidFill>
          </a:ln>
        </p:spPr>
        <p:txBody>
          <a:bodyPr/>
          <a:lstStyle/>
          <a:p>
            <a:endParaRPr lang="vi-VN"/>
          </a:p>
        </p:txBody>
      </p:sp>
      <p:sp>
        <p:nvSpPr>
          <p:cNvPr id="1029" name="label"/>
          <p:cNvSpPr txBox="1"/>
          <p:nvPr/>
        </p:nvSpPr>
        <p:spPr>
          <a:xfrm>
            <a:off x="363900" y="2133109"/>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nguồn</a:t>
            </a:r>
          </a:p>
        </p:txBody>
      </p:sp>
      <p:sp>
        <p:nvSpPr>
          <p:cNvPr id="1030" name="label"/>
          <p:cNvSpPr txBox="1"/>
          <p:nvPr/>
        </p:nvSpPr>
        <p:spPr>
          <a:xfrm>
            <a:off x="363900" y="2237257"/>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I</a:t>
            </a:r>
            <a:r>
              <a:rPr lang="vi-VN" sz="640" b="0" i="0" baseline="-25000" dirty="0">
                <a:solidFill>
                  <a:srgbClr val="767D93"/>
                </a:solidFill>
                <a:latin typeface="Aptos"/>
              </a:rPr>
              <a:t>s</a:t>
            </a:r>
          </a:p>
        </p:txBody>
      </p:sp>
      <p:pic>
        <p:nvPicPr>
          <p:cNvPr id="1031" name="thumb Nt" descr="Hướng mặt mới N_{t}"/>
          <p:cNvPicPr>
            <a:picLocks noChangeAspect="1"/>
          </p:cNvPicPr>
          <p:nvPr/>
        </p:nvPicPr>
        <p:blipFill>
          <a:blip r:embed="rId3"/>
          <a:stretch>
            <a:fillRect/>
          </a:stretch>
        </p:blipFill>
        <p:spPr>
          <a:xfrm>
            <a:off x="624272" y="2974125"/>
            <a:ext cx="743919" cy="743919"/>
          </a:xfrm>
          <a:prstGeom prst="rect">
            <a:avLst/>
          </a:prstGeom>
        </p:spPr>
      </p:pic>
      <p:sp>
        <p:nvSpPr>
          <p:cNvPr id="1032" name="frame Nt"/>
          <p:cNvSpPr/>
          <p:nvPr/>
        </p:nvSpPr>
        <p:spPr>
          <a:xfrm>
            <a:off x="624272" y="2974125"/>
            <a:ext cx="743919" cy="743919"/>
          </a:xfrm>
          <a:prstGeom prst="rect">
            <a:avLst/>
          </a:prstGeom>
          <a:noFill/>
          <a:ln w="9525">
            <a:solidFill>
              <a:srgbClr val="D7DAE4"/>
            </a:solidFill>
          </a:ln>
        </p:spPr>
        <p:txBody>
          <a:bodyPr/>
          <a:lstStyle/>
          <a:p>
            <a:endParaRPr lang="vi-VN"/>
          </a:p>
        </p:txBody>
      </p:sp>
      <p:sp>
        <p:nvSpPr>
          <p:cNvPr id="1033" name="label"/>
          <p:cNvSpPr txBox="1"/>
          <p:nvPr/>
        </p:nvSpPr>
        <p:spPr>
          <a:xfrm>
            <a:off x="363900" y="3695338"/>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mới</a:t>
            </a:r>
          </a:p>
        </p:txBody>
      </p:sp>
      <p:sp>
        <p:nvSpPr>
          <p:cNvPr id="1034" name="label"/>
          <p:cNvSpPr txBox="1"/>
          <p:nvPr/>
        </p:nvSpPr>
        <p:spPr>
          <a:xfrm>
            <a:off x="363900" y="379948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t</a:t>
            </a:r>
          </a:p>
        </p:txBody>
      </p:sp>
      <p:pic>
        <p:nvPicPr>
          <p:cNvPr id="1035" name="thumb Ns" descr="Hướng mặt cũ N_{s}"/>
          <p:cNvPicPr>
            <a:picLocks noChangeAspect="1"/>
          </p:cNvPicPr>
          <p:nvPr/>
        </p:nvPicPr>
        <p:blipFill>
          <a:blip r:embed="rId4"/>
          <a:stretch>
            <a:fillRect/>
          </a:stretch>
        </p:blipFill>
        <p:spPr>
          <a:xfrm>
            <a:off x="624272" y="4536354"/>
            <a:ext cx="743919" cy="743919"/>
          </a:xfrm>
          <a:prstGeom prst="rect">
            <a:avLst/>
          </a:prstGeom>
        </p:spPr>
      </p:pic>
      <p:sp>
        <p:nvSpPr>
          <p:cNvPr id="1036" name="frame Ns"/>
          <p:cNvSpPr/>
          <p:nvPr/>
        </p:nvSpPr>
        <p:spPr>
          <a:xfrm>
            <a:off x="624272" y="4536354"/>
            <a:ext cx="743919" cy="743919"/>
          </a:xfrm>
          <a:prstGeom prst="rect">
            <a:avLst/>
          </a:prstGeom>
          <a:noFill/>
          <a:ln w="9525">
            <a:solidFill>
              <a:srgbClr val="D7DAE4"/>
            </a:solidFill>
          </a:ln>
        </p:spPr>
        <p:txBody>
          <a:bodyPr/>
          <a:lstStyle/>
          <a:p>
            <a:endParaRPr lang="vi-VN"/>
          </a:p>
        </p:txBody>
      </p:sp>
      <p:sp>
        <p:nvSpPr>
          <p:cNvPr id="1037" name="label"/>
          <p:cNvSpPr txBox="1"/>
          <p:nvPr/>
        </p:nvSpPr>
        <p:spPr>
          <a:xfrm>
            <a:off x="363900" y="525756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cũ</a:t>
            </a:r>
          </a:p>
        </p:txBody>
      </p:sp>
      <p:sp>
        <p:nvSpPr>
          <p:cNvPr id="1038" name="label"/>
          <p:cNvSpPr txBox="1"/>
          <p:nvPr/>
        </p:nvSpPr>
        <p:spPr>
          <a:xfrm>
            <a:off x="363900" y="536171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s</a:t>
            </a:r>
          </a:p>
        </p:txBody>
      </p:sp>
      <p:sp>
        <p:nvSpPr>
          <p:cNvPr id="1039" name="box re"/>
          <p:cNvSpPr/>
          <p:nvPr/>
        </p:nvSpPr>
        <p:spPr>
          <a:xfrm>
            <a:off x="1777346" y="2304598"/>
            <a:ext cx="1115878" cy="416594"/>
          </a:xfrm>
          <a:prstGeom prst="roundRect">
            <a:avLst>
              <a:gd name="adj" fmla="val 14000"/>
            </a:avLst>
          </a:prstGeom>
          <a:solidFill>
            <a:srgbClr val="FFFFFF"/>
          </a:solidFill>
          <a:ln w="11430">
            <a:solidFill>
              <a:srgbClr val="D7DAE4"/>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Chuyên gia vùng</a:t>
            </a:r>
          </a:p>
          <a:p>
            <a:pPr algn="ctr">
              <a:spcBef>
                <a:spcPts val="0"/>
              </a:spcBef>
              <a:spcAft>
                <a:spcPts val="0"/>
              </a:spcAft>
            </a:pPr>
            <a:r>
              <a:rPr lang="vi-VN" sz="800" b="0" i="0" dirty="0">
                <a:solidFill>
                  <a:srgbClr val="767D93"/>
                </a:solidFill>
                <a:latin typeface="Aptos"/>
              </a:rPr>
              <a:t>RPG · ×3</a:t>
            </a:r>
          </a:p>
        </p:txBody>
      </p:sp>
      <p:sp>
        <p:nvSpPr>
          <p:cNvPr id="1040" name="box grad"/>
          <p:cNvSpPr/>
          <p:nvPr/>
        </p:nvSpPr>
        <p:spPr>
          <a:xfrm>
            <a:off x="1777346" y="3137787"/>
            <a:ext cx="1115878" cy="416594"/>
          </a:xfrm>
          <a:prstGeom prst="roundRect">
            <a:avLst>
              <a:gd name="adj" fmla="val 14000"/>
            </a:avLst>
          </a:prstGeom>
          <a:solidFill>
            <a:srgbClr val="FFFFFF"/>
          </a:solidFill>
          <a:ln w="11430">
            <a:solidFill>
              <a:srgbClr val="D7DAE4"/>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Lấy đường viền</a:t>
            </a:r>
          </a:p>
          <a:p>
            <a:pPr algn="ctr">
              <a:spcBef>
                <a:spcPts val="0"/>
              </a:spcBef>
              <a:spcAft>
                <a:spcPts val="0"/>
              </a:spcAft>
            </a:pPr>
            <a:r>
              <a:rPr lang="vi-VN" sz="800" b="0" i="0" dirty="0">
                <a:solidFill>
                  <a:srgbClr val="767D93"/>
                </a:solidFill>
                <a:latin typeface="Aptos"/>
              </a:rPr>
              <a:t>công thức 1–3</a:t>
            </a:r>
          </a:p>
        </p:txBody>
      </p:sp>
      <p:sp>
        <p:nvSpPr>
          <p:cNvPr id="1041" name="box flow"/>
          <p:cNvSpPr/>
          <p:nvPr/>
        </p:nvSpPr>
        <p:spPr>
          <a:xfrm>
            <a:off x="1777346" y="4313178"/>
            <a:ext cx="1115878" cy="416594"/>
          </a:xfrm>
          <a:prstGeom prst="roundRect">
            <a:avLst>
              <a:gd name="adj" fmla="val 14000"/>
            </a:avLst>
          </a:prstGeom>
          <a:solidFill>
            <a:srgbClr val="FFFFFF"/>
          </a:solidFill>
          <a:ln w="11430">
            <a:solidFill>
              <a:srgbClr val="D7DAE4"/>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Đoán chuyển động</a:t>
            </a:r>
          </a:p>
          <a:p>
            <a:pPr algn="ctr">
              <a:spcBef>
                <a:spcPts val="0"/>
              </a:spcBef>
              <a:spcAft>
                <a:spcPts val="0"/>
              </a:spcAft>
            </a:pPr>
            <a:r>
              <a:rPr lang="vi-VN" sz="800" b="0" i="0" dirty="0">
                <a:solidFill>
                  <a:srgbClr val="767D93"/>
                </a:solidFill>
                <a:latin typeface="Aptos"/>
              </a:rPr>
              <a:t>TPSMM</a:t>
            </a:r>
          </a:p>
        </p:txBody>
      </p:sp>
      <p:pic>
        <p:nvPicPr>
          <p:cNvPr id="1042" name="thumb R" descr="Khung gợi ý R"/>
          <p:cNvPicPr>
            <a:picLocks noChangeAspect="1"/>
          </p:cNvPicPr>
          <p:nvPr/>
        </p:nvPicPr>
        <p:blipFill>
          <a:blip r:embed="rId5"/>
          <a:stretch>
            <a:fillRect/>
          </a:stretch>
        </p:blipFill>
        <p:spPr>
          <a:xfrm>
            <a:off x="3302379" y="2178132"/>
            <a:ext cx="669527" cy="669527"/>
          </a:xfrm>
          <a:prstGeom prst="rect">
            <a:avLst/>
          </a:prstGeom>
        </p:spPr>
      </p:pic>
      <p:sp>
        <p:nvSpPr>
          <p:cNvPr id="1043" name="frame R"/>
          <p:cNvSpPr/>
          <p:nvPr/>
        </p:nvSpPr>
        <p:spPr>
          <a:xfrm>
            <a:off x="3302379" y="2178132"/>
            <a:ext cx="669527" cy="669527"/>
          </a:xfrm>
          <a:prstGeom prst="rect">
            <a:avLst/>
          </a:prstGeom>
          <a:noFill/>
          <a:ln w="9525">
            <a:solidFill>
              <a:srgbClr val="D7DAE4"/>
            </a:solidFill>
          </a:ln>
        </p:spPr>
        <p:txBody>
          <a:bodyPr/>
          <a:lstStyle/>
          <a:p>
            <a:endParaRPr lang="vi-VN"/>
          </a:p>
        </p:txBody>
      </p:sp>
      <p:sp>
        <p:nvSpPr>
          <p:cNvPr id="1044" name="label"/>
          <p:cNvSpPr txBox="1"/>
          <p:nvPr/>
        </p:nvSpPr>
        <p:spPr>
          <a:xfrm>
            <a:off x="3004811" y="1976886"/>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Khung gợi ý  R</a:t>
            </a:r>
          </a:p>
        </p:txBody>
      </p:sp>
      <p:pic>
        <p:nvPicPr>
          <p:cNvPr id="1045" name="thumb GR" descr="Viền theo vùng G_{R}"/>
          <p:cNvPicPr>
            <a:picLocks noChangeAspect="1"/>
          </p:cNvPicPr>
          <p:nvPr/>
        </p:nvPicPr>
        <p:blipFill>
          <a:blip r:embed="rId6"/>
          <a:stretch>
            <a:fillRect/>
          </a:stretch>
        </p:blipFill>
        <p:spPr>
          <a:xfrm>
            <a:off x="3302379" y="3011321"/>
            <a:ext cx="669527" cy="669527"/>
          </a:xfrm>
          <a:prstGeom prst="rect">
            <a:avLst/>
          </a:prstGeom>
        </p:spPr>
      </p:pic>
      <p:sp>
        <p:nvSpPr>
          <p:cNvPr id="1046" name="frame GR"/>
          <p:cNvSpPr/>
          <p:nvPr/>
        </p:nvSpPr>
        <p:spPr>
          <a:xfrm>
            <a:off x="3302379" y="3011321"/>
            <a:ext cx="669527" cy="669527"/>
          </a:xfrm>
          <a:prstGeom prst="rect">
            <a:avLst/>
          </a:prstGeom>
          <a:noFill/>
          <a:ln w="9525">
            <a:solidFill>
              <a:srgbClr val="D7DAE4"/>
            </a:solidFill>
          </a:ln>
        </p:spPr>
        <p:txBody>
          <a:bodyPr/>
          <a:lstStyle/>
          <a:p>
            <a:endParaRPr lang="vi-VN"/>
          </a:p>
        </p:txBody>
      </p:sp>
      <p:sp>
        <p:nvSpPr>
          <p:cNvPr id="1047" name="label"/>
          <p:cNvSpPr txBox="1"/>
          <p:nvPr/>
        </p:nvSpPr>
        <p:spPr>
          <a:xfrm>
            <a:off x="3004811" y="2810075"/>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Viền theo vùng  G</a:t>
            </a:r>
            <a:r>
              <a:rPr lang="vi-VN" sz="680" b="1" i="0" baseline="-25000" dirty="0">
                <a:solidFill>
                  <a:srgbClr val="141824"/>
                </a:solidFill>
                <a:latin typeface="Aptos"/>
              </a:rPr>
              <a:t>R</a:t>
            </a:r>
          </a:p>
        </p:txBody>
      </p:sp>
      <p:pic>
        <p:nvPicPr>
          <p:cNvPr id="1048" name="thumb F" descr="Luồng F"/>
          <p:cNvPicPr>
            <a:picLocks noChangeAspect="1"/>
          </p:cNvPicPr>
          <p:nvPr/>
        </p:nvPicPr>
        <p:blipFill>
          <a:blip r:embed="rId7"/>
          <a:stretch>
            <a:fillRect/>
          </a:stretch>
        </p:blipFill>
        <p:spPr>
          <a:xfrm>
            <a:off x="3302379" y="4015611"/>
            <a:ext cx="669527" cy="669527"/>
          </a:xfrm>
          <a:prstGeom prst="rect">
            <a:avLst/>
          </a:prstGeom>
        </p:spPr>
      </p:pic>
      <p:sp>
        <p:nvSpPr>
          <p:cNvPr id="1049" name="frame F"/>
          <p:cNvSpPr/>
          <p:nvPr/>
        </p:nvSpPr>
        <p:spPr>
          <a:xfrm>
            <a:off x="3302379" y="4015611"/>
            <a:ext cx="669527" cy="669527"/>
          </a:xfrm>
          <a:prstGeom prst="rect">
            <a:avLst/>
          </a:prstGeom>
          <a:noFill/>
          <a:ln w="9525">
            <a:solidFill>
              <a:srgbClr val="D7DAE4"/>
            </a:solidFill>
          </a:ln>
        </p:spPr>
        <p:txBody>
          <a:bodyPr/>
          <a:lstStyle/>
          <a:p>
            <a:endParaRPr lang="vi-VN"/>
          </a:p>
        </p:txBody>
      </p:sp>
      <p:sp>
        <p:nvSpPr>
          <p:cNvPr id="1050" name="label"/>
          <p:cNvSpPr txBox="1"/>
          <p:nvPr/>
        </p:nvSpPr>
        <p:spPr>
          <a:xfrm>
            <a:off x="3004811" y="3814365"/>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Luồng  F</a:t>
            </a:r>
          </a:p>
        </p:txBody>
      </p:sp>
      <p:pic>
        <p:nvPicPr>
          <p:cNvPr id="1051" name="thumb O" descr="Mặt nạ O"/>
          <p:cNvPicPr>
            <a:picLocks noChangeAspect="1"/>
          </p:cNvPicPr>
          <p:nvPr/>
        </p:nvPicPr>
        <p:blipFill>
          <a:blip r:embed="rId8"/>
          <a:stretch>
            <a:fillRect/>
          </a:stretch>
        </p:blipFill>
        <p:spPr>
          <a:xfrm>
            <a:off x="3302379" y="4819043"/>
            <a:ext cx="669527" cy="669527"/>
          </a:xfrm>
          <a:prstGeom prst="rect">
            <a:avLst/>
          </a:prstGeom>
        </p:spPr>
      </p:pic>
      <p:sp>
        <p:nvSpPr>
          <p:cNvPr id="1052" name="frame O"/>
          <p:cNvSpPr/>
          <p:nvPr/>
        </p:nvSpPr>
        <p:spPr>
          <a:xfrm>
            <a:off x="3302379" y="4819043"/>
            <a:ext cx="669527" cy="669527"/>
          </a:xfrm>
          <a:prstGeom prst="rect">
            <a:avLst/>
          </a:prstGeom>
          <a:noFill/>
          <a:ln w="9525">
            <a:solidFill>
              <a:srgbClr val="D7DAE4"/>
            </a:solidFill>
          </a:ln>
        </p:spPr>
        <p:txBody>
          <a:bodyPr/>
          <a:lstStyle/>
          <a:p>
            <a:endParaRPr lang="vi-VN"/>
          </a:p>
        </p:txBody>
      </p:sp>
      <p:sp>
        <p:nvSpPr>
          <p:cNvPr id="1053" name="label"/>
          <p:cNvSpPr txBox="1"/>
          <p:nvPr/>
        </p:nvSpPr>
        <p:spPr>
          <a:xfrm>
            <a:off x="3004811" y="461779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Mặt nạ  O</a:t>
            </a:r>
          </a:p>
        </p:txBody>
      </p:sp>
      <p:sp>
        <p:nvSpPr>
          <p:cNvPr id="1054" name="box enc"/>
          <p:cNvSpPr/>
          <p:nvPr/>
        </p:nvSpPr>
        <p:spPr>
          <a:xfrm>
            <a:off x="4641432" y="3182422"/>
            <a:ext cx="892702" cy="327324"/>
          </a:xfrm>
          <a:prstGeom prst="roundRect">
            <a:avLst>
              <a:gd name="adj" fmla="val 14000"/>
            </a:avLst>
          </a:prstGeom>
          <a:solidFill>
            <a:srgbClr val="FFFFFF"/>
          </a:solidFill>
          <a:ln w="11430">
            <a:solidFill>
              <a:srgbClr val="D7DAE4"/>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Mã hoá viền</a:t>
            </a:r>
          </a:p>
          <a:p>
            <a:pPr algn="ctr">
              <a:spcBef>
                <a:spcPts val="0"/>
              </a:spcBef>
              <a:spcAft>
                <a:spcPts val="0"/>
              </a:spcAft>
            </a:pPr>
            <a:r>
              <a:rPr lang="vi-VN" sz="800" b="0" i="0" dirty="0">
                <a:solidFill>
                  <a:srgbClr val="767D93"/>
                </a:solidFill>
                <a:latin typeface="Aptos"/>
              </a:rPr>
              <a:t>→ X</a:t>
            </a:r>
            <a:r>
              <a:rPr lang="vi-VN" sz="640" b="0" i="0" baseline="-25000" dirty="0">
                <a:solidFill>
                  <a:srgbClr val="767D93"/>
                </a:solidFill>
                <a:latin typeface="Aptos"/>
              </a:rPr>
              <a:t>g</a:t>
            </a:r>
          </a:p>
        </p:txBody>
      </p:sp>
      <p:sp>
        <p:nvSpPr>
          <p:cNvPr id="1055" name="box warp"/>
          <p:cNvSpPr/>
          <p:nvPr/>
        </p:nvSpPr>
        <p:spPr>
          <a:xfrm>
            <a:off x="4641432" y="1575558"/>
            <a:ext cx="967094" cy="416594"/>
          </a:xfrm>
          <a:prstGeom prst="roundRect">
            <a:avLst>
              <a:gd name="adj" fmla="val 14000"/>
            </a:avLst>
          </a:prstGeom>
          <a:solidFill>
            <a:srgbClr val="FFFFFF"/>
          </a:solidFill>
          <a:ln w="11430">
            <a:solidFill>
              <a:srgbClr val="D7DAE4"/>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Kéo ảnh</a:t>
            </a:r>
          </a:p>
          <a:p>
            <a:pPr algn="ctr">
              <a:spcBef>
                <a:spcPts val="0"/>
              </a:spcBef>
              <a:spcAft>
                <a:spcPts val="0"/>
              </a:spcAft>
            </a:pPr>
            <a:r>
              <a:rPr lang="vi-VN" sz="800" b="0" i="0" dirty="0">
                <a:solidFill>
                  <a:srgbClr val="767D93"/>
                </a:solidFill>
                <a:latin typeface="Aptos"/>
              </a:rPr>
              <a:t>theo luồng F</a:t>
            </a:r>
          </a:p>
        </p:txBody>
      </p:sp>
      <p:pic>
        <p:nvPicPr>
          <p:cNvPr id="1056" name="thumb Ist" descr="Ảnh đã kéo I_{s→t}"/>
          <p:cNvPicPr>
            <a:picLocks noChangeAspect="1"/>
          </p:cNvPicPr>
          <p:nvPr/>
        </p:nvPicPr>
        <p:blipFill>
          <a:blip r:embed="rId9"/>
          <a:stretch>
            <a:fillRect/>
          </a:stretch>
        </p:blipFill>
        <p:spPr>
          <a:xfrm>
            <a:off x="5906094" y="1411896"/>
            <a:ext cx="743919" cy="743919"/>
          </a:xfrm>
          <a:prstGeom prst="rect">
            <a:avLst/>
          </a:prstGeom>
        </p:spPr>
      </p:pic>
      <p:sp>
        <p:nvSpPr>
          <p:cNvPr id="1057" name="frame Ist"/>
          <p:cNvSpPr/>
          <p:nvPr/>
        </p:nvSpPr>
        <p:spPr>
          <a:xfrm>
            <a:off x="5906094" y="1411896"/>
            <a:ext cx="743919" cy="743919"/>
          </a:xfrm>
          <a:prstGeom prst="rect">
            <a:avLst/>
          </a:prstGeom>
          <a:noFill/>
          <a:ln w="9525">
            <a:solidFill>
              <a:srgbClr val="D7DAE4"/>
            </a:solidFill>
          </a:ln>
        </p:spPr>
        <p:txBody>
          <a:bodyPr/>
          <a:lstStyle/>
          <a:p>
            <a:endParaRPr lang="vi-VN"/>
          </a:p>
        </p:txBody>
      </p:sp>
      <p:sp>
        <p:nvSpPr>
          <p:cNvPr id="1058" name="label"/>
          <p:cNvSpPr txBox="1"/>
          <p:nvPr/>
        </p:nvSpPr>
        <p:spPr>
          <a:xfrm>
            <a:off x="5645723" y="1210650"/>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đã kéo  I</a:t>
            </a:r>
            <a:r>
              <a:rPr lang="vi-VN" sz="680" b="1" i="0" baseline="-25000" dirty="0">
                <a:solidFill>
                  <a:srgbClr val="141824"/>
                </a:solidFill>
                <a:latin typeface="Aptos"/>
              </a:rPr>
              <a:t>s→t</a:t>
            </a:r>
          </a:p>
        </p:txBody>
      </p:sp>
      <p:sp>
        <p:nvSpPr>
          <p:cNvPr id="1059" name="cat"/>
          <p:cNvSpPr/>
          <p:nvPr/>
        </p:nvSpPr>
        <p:spPr>
          <a:xfrm>
            <a:off x="5734993" y="3323767"/>
            <a:ext cx="193419" cy="193419"/>
          </a:xfrm>
          <a:prstGeom prst="ellipse">
            <a:avLst/>
          </a:prstGeom>
          <a:solidFill>
            <a:srgbClr val="FFFFFF"/>
          </a:solidFill>
          <a:ln w="11430">
            <a:solidFill>
              <a:srgbClr val="D7DAE4"/>
            </a:solidFill>
          </a:ln>
        </p:spPr>
        <p:txBody>
          <a:bodyPr/>
          <a:lstStyle/>
          <a:p>
            <a:endParaRPr lang="vi-VN"/>
          </a:p>
        </p:txBody>
      </p:sp>
      <p:sp>
        <p:nvSpPr>
          <p:cNvPr id="1060" name="cat line"/>
          <p:cNvSpPr/>
          <p:nvPr/>
        </p:nvSpPr>
        <p:spPr>
          <a:xfrm>
            <a:off x="5787067" y="3376930"/>
            <a:ext cx="89270" cy="12700"/>
          </a:xfrm>
          <a:prstGeom prst="rect">
            <a:avLst/>
          </a:prstGeom>
          <a:solidFill>
            <a:srgbClr val="767D93"/>
          </a:solidFill>
          <a:ln>
            <a:noFill/>
          </a:ln>
        </p:spPr>
        <p:txBody>
          <a:bodyPr/>
          <a:lstStyle/>
          <a:p>
            <a:endParaRPr lang="vi-VN"/>
          </a:p>
        </p:txBody>
      </p:sp>
      <p:sp>
        <p:nvSpPr>
          <p:cNvPr id="1061" name="cat line"/>
          <p:cNvSpPr/>
          <p:nvPr/>
        </p:nvSpPr>
        <p:spPr>
          <a:xfrm>
            <a:off x="5787067" y="3414126"/>
            <a:ext cx="89270" cy="12700"/>
          </a:xfrm>
          <a:prstGeom prst="rect">
            <a:avLst/>
          </a:prstGeom>
          <a:solidFill>
            <a:srgbClr val="767D93"/>
          </a:solidFill>
          <a:ln>
            <a:noFill/>
          </a:ln>
        </p:spPr>
        <p:txBody>
          <a:bodyPr/>
          <a:lstStyle/>
          <a:p>
            <a:endParaRPr lang="vi-VN"/>
          </a:p>
        </p:txBody>
      </p:sp>
      <p:sp>
        <p:nvSpPr>
          <p:cNvPr id="1062" name="cat line"/>
          <p:cNvSpPr/>
          <p:nvPr/>
        </p:nvSpPr>
        <p:spPr>
          <a:xfrm>
            <a:off x="5787067" y="3451322"/>
            <a:ext cx="89270" cy="12700"/>
          </a:xfrm>
          <a:prstGeom prst="rect">
            <a:avLst/>
          </a:prstGeom>
          <a:solidFill>
            <a:srgbClr val="767D93"/>
          </a:solidFill>
          <a:ln>
            <a:noFill/>
          </a:ln>
        </p:spPr>
        <p:txBody>
          <a:bodyPr/>
          <a:lstStyle/>
          <a:p>
            <a:endParaRPr lang="vi-VN"/>
          </a:p>
        </p:txBody>
      </p:sp>
      <p:sp>
        <p:nvSpPr>
          <p:cNvPr id="1063" name="label"/>
          <p:cNvSpPr txBox="1"/>
          <p:nvPr/>
        </p:nvSpPr>
        <p:spPr>
          <a:xfrm>
            <a:off x="5883777" y="3516797"/>
            <a:ext cx="238054" cy="182880"/>
          </a:xfrm>
          <a:prstGeom prst="rect">
            <a:avLst/>
          </a:prstGeom>
          <a:noFill/>
        </p:spPr>
        <p:txBody>
          <a:bodyPr wrap="none" lIns="0" tIns="0" rIns="0" bIns="0" anchor="b">
            <a:noAutofit/>
          </a:bodyPr>
          <a:lstStyle/>
          <a:p>
            <a:pPr algn="l">
              <a:spcBef>
                <a:spcPts val="0"/>
              </a:spcBef>
              <a:spcAft>
                <a:spcPts val="0"/>
              </a:spcAft>
            </a:pPr>
            <a:r>
              <a:rPr lang="vi-VN" sz="800" b="0" i="0" dirty="0">
                <a:solidFill>
                  <a:srgbClr val="767D93"/>
                </a:solidFill>
                <a:latin typeface="Aptos"/>
              </a:rPr>
              <a:t>ghép</a:t>
            </a:r>
          </a:p>
        </p:txBody>
      </p:sp>
      <p:sp>
        <p:nvSpPr>
          <p:cNvPr id="1064" name="gen box"/>
          <p:cNvSpPr/>
          <p:nvPr/>
        </p:nvSpPr>
        <p:spPr>
          <a:xfrm>
            <a:off x="6129270" y="2602165"/>
            <a:ext cx="1785405" cy="2752499"/>
          </a:xfrm>
          <a:prstGeom prst="roundRect">
            <a:avLst>
              <a:gd name="adj" fmla="val 3500"/>
            </a:avLst>
          </a:prstGeom>
          <a:solidFill>
            <a:srgbClr val="F2F3F7"/>
          </a:solidFill>
          <a:ln w="11430">
            <a:solidFill>
              <a:srgbClr val="D7DAE4"/>
            </a:solidFill>
          </a:ln>
        </p:spPr>
        <p:txBody>
          <a:bodyPr/>
          <a:lstStyle/>
          <a:p>
            <a:endParaRPr lang="vi-VN"/>
          </a:p>
        </p:txBody>
      </p:sp>
      <p:sp>
        <p:nvSpPr>
          <p:cNvPr id="1065" name="label"/>
          <p:cNvSpPr txBox="1"/>
          <p:nvPr/>
        </p:nvSpPr>
        <p:spPr>
          <a:xfrm>
            <a:off x="6389641" y="2624095"/>
            <a:ext cx="1264662" cy="182880"/>
          </a:xfrm>
          <a:prstGeom prst="rect">
            <a:avLst/>
          </a:prstGeom>
          <a:noFill/>
        </p:spPr>
        <p:txBody>
          <a:bodyPr wrap="none" lIns="0" tIns="0" rIns="0" bIns="0" anchor="b">
            <a:noAutofit/>
          </a:bodyPr>
          <a:lstStyle/>
          <a:p>
            <a:pPr algn="ctr">
              <a:spcBef>
                <a:spcPts val="0"/>
              </a:spcBef>
              <a:spcAft>
                <a:spcPts val="0"/>
              </a:spcAft>
            </a:pPr>
            <a:r>
              <a:rPr lang="vi-VN" sz="900" b="1" i="0" dirty="0">
                <a:solidFill>
                  <a:srgbClr val="141824"/>
                </a:solidFill>
                <a:latin typeface="Aptos"/>
              </a:rPr>
              <a:t>Bộ vẽ ảnh</a:t>
            </a:r>
          </a:p>
        </p:txBody>
      </p:sp>
      <p:sp>
        <p:nvSpPr>
          <p:cNvPr id="1066" name="label"/>
          <p:cNvSpPr txBox="1"/>
          <p:nvPr/>
        </p:nvSpPr>
        <p:spPr>
          <a:xfrm>
            <a:off x="6389641" y="2743122"/>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U-Net · 3 khối GRM</a:t>
            </a:r>
          </a:p>
        </p:txBody>
      </p:sp>
      <p:sp>
        <p:nvSpPr>
          <p:cNvPr id="1067" name="bar"/>
          <p:cNvSpPr/>
          <p:nvPr/>
        </p:nvSpPr>
        <p:spPr>
          <a:xfrm>
            <a:off x="6233418" y="2974125"/>
            <a:ext cx="104149" cy="2157364"/>
          </a:xfrm>
          <a:prstGeom prst="roundRect">
            <a:avLst>
              <a:gd name="adj" fmla="val 20000"/>
            </a:avLst>
          </a:prstGeom>
          <a:solidFill>
            <a:srgbClr val="BABECA"/>
          </a:solidFill>
          <a:ln>
            <a:noFill/>
          </a:ln>
        </p:spPr>
        <p:txBody>
          <a:bodyPr/>
          <a:lstStyle/>
          <a:p>
            <a:endParaRPr lang="vi-VN"/>
          </a:p>
        </p:txBody>
      </p:sp>
      <p:sp>
        <p:nvSpPr>
          <p:cNvPr id="1068" name="bar"/>
          <p:cNvSpPr/>
          <p:nvPr/>
        </p:nvSpPr>
        <p:spPr>
          <a:xfrm>
            <a:off x="6411959" y="3234496"/>
            <a:ext cx="104149" cy="1636621"/>
          </a:xfrm>
          <a:prstGeom prst="roundRect">
            <a:avLst>
              <a:gd name="adj" fmla="val 20000"/>
            </a:avLst>
          </a:prstGeom>
          <a:solidFill>
            <a:srgbClr val="BABECA"/>
          </a:solidFill>
          <a:ln>
            <a:noFill/>
          </a:ln>
        </p:spPr>
        <p:txBody>
          <a:bodyPr/>
          <a:lstStyle/>
          <a:p>
            <a:endParaRPr lang="vi-VN"/>
          </a:p>
        </p:txBody>
      </p:sp>
      <p:sp>
        <p:nvSpPr>
          <p:cNvPr id="1069" name="bar"/>
          <p:cNvSpPr/>
          <p:nvPr/>
        </p:nvSpPr>
        <p:spPr>
          <a:xfrm>
            <a:off x="6590499" y="3494868"/>
            <a:ext cx="104149" cy="1115878"/>
          </a:xfrm>
          <a:prstGeom prst="roundRect">
            <a:avLst>
              <a:gd name="adj" fmla="val 20000"/>
            </a:avLst>
          </a:prstGeom>
          <a:solidFill>
            <a:srgbClr val="BABECA"/>
          </a:solidFill>
          <a:ln>
            <a:noFill/>
          </a:ln>
        </p:spPr>
        <p:txBody>
          <a:bodyPr/>
          <a:lstStyle/>
          <a:p>
            <a:endParaRPr lang="vi-VN"/>
          </a:p>
        </p:txBody>
      </p:sp>
      <p:sp>
        <p:nvSpPr>
          <p:cNvPr id="1070" name="bar"/>
          <p:cNvSpPr/>
          <p:nvPr/>
        </p:nvSpPr>
        <p:spPr>
          <a:xfrm>
            <a:off x="6769040" y="3680847"/>
            <a:ext cx="104149" cy="743919"/>
          </a:xfrm>
          <a:prstGeom prst="roundRect">
            <a:avLst>
              <a:gd name="adj" fmla="val 20000"/>
            </a:avLst>
          </a:prstGeom>
          <a:solidFill>
            <a:srgbClr val="BABECA"/>
          </a:solidFill>
          <a:ln>
            <a:noFill/>
          </a:ln>
        </p:spPr>
        <p:txBody>
          <a:bodyPr/>
          <a:lstStyle/>
          <a:p>
            <a:endParaRPr lang="vi-VN"/>
          </a:p>
        </p:txBody>
      </p:sp>
      <p:sp>
        <p:nvSpPr>
          <p:cNvPr id="1071" name="bar"/>
          <p:cNvSpPr/>
          <p:nvPr/>
        </p:nvSpPr>
        <p:spPr>
          <a:xfrm>
            <a:off x="6947580" y="3494868"/>
            <a:ext cx="104149" cy="1115878"/>
          </a:xfrm>
          <a:prstGeom prst="roundRect">
            <a:avLst>
              <a:gd name="adj" fmla="val 20000"/>
            </a:avLst>
          </a:prstGeom>
          <a:solidFill>
            <a:srgbClr val="BABECA"/>
          </a:solidFill>
          <a:ln>
            <a:noFill/>
          </a:ln>
        </p:spPr>
        <p:txBody>
          <a:bodyPr/>
          <a:lstStyle/>
          <a:p>
            <a:endParaRPr lang="vi-VN"/>
          </a:p>
        </p:txBody>
      </p:sp>
      <p:sp>
        <p:nvSpPr>
          <p:cNvPr id="1072" name="bar"/>
          <p:cNvSpPr/>
          <p:nvPr/>
        </p:nvSpPr>
        <p:spPr>
          <a:xfrm>
            <a:off x="7074046" y="3494868"/>
            <a:ext cx="74392" cy="1115878"/>
          </a:xfrm>
          <a:prstGeom prst="roundRect">
            <a:avLst>
              <a:gd name="adj" fmla="val 20000"/>
            </a:avLst>
          </a:prstGeom>
          <a:solidFill>
            <a:srgbClr val="0B8A82"/>
          </a:solidFill>
          <a:ln>
            <a:noFill/>
          </a:ln>
        </p:spPr>
        <p:txBody>
          <a:bodyPr/>
          <a:lstStyle/>
          <a:p>
            <a:endParaRPr lang="vi-VN"/>
          </a:p>
        </p:txBody>
      </p:sp>
      <p:sp>
        <p:nvSpPr>
          <p:cNvPr id="1073" name="bar"/>
          <p:cNvSpPr/>
          <p:nvPr/>
        </p:nvSpPr>
        <p:spPr>
          <a:xfrm>
            <a:off x="7193073" y="3234496"/>
            <a:ext cx="104149" cy="1636621"/>
          </a:xfrm>
          <a:prstGeom prst="roundRect">
            <a:avLst>
              <a:gd name="adj" fmla="val 20000"/>
            </a:avLst>
          </a:prstGeom>
          <a:solidFill>
            <a:srgbClr val="BABECA"/>
          </a:solidFill>
          <a:ln>
            <a:noFill/>
          </a:ln>
        </p:spPr>
        <p:txBody>
          <a:bodyPr/>
          <a:lstStyle/>
          <a:p>
            <a:endParaRPr lang="vi-VN"/>
          </a:p>
        </p:txBody>
      </p:sp>
      <p:sp>
        <p:nvSpPr>
          <p:cNvPr id="1074" name="bar"/>
          <p:cNvSpPr/>
          <p:nvPr/>
        </p:nvSpPr>
        <p:spPr>
          <a:xfrm>
            <a:off x="7319540" y="3234496"/>
            <a:ext cx="74392" cy="1636621"/>
          </a:xfrm>
          <a:prstGeom prst="roundRect">
            <a:avLst>
              <a:gd name="adj" fmla="val 20000"/>
            </a:avLst>
          </a:prstGeom>
          <a:solidFill>
            <a:srgbClr val="0B8A82"/>
          </a:solidFill>
          <a:ln>
            <a:noFill/>
          </a:ln>
        </p:spPr>
        <p:txBody>
          <a:bodyPr/>
          <a:lstStyle/>
          <a:p>
            <a:endParaRPr lang="vi-VN"/>
          </a:p>
        </p:txBody>
      </p:sp>
      <p:sp>
        <p:nvSpPr>
          <p:cNvPr id="1075" name="bar"/>
          <p:cNvSpPr/>
          <p:nvPr/>
        </p:nvSpPr>
        <p:spPr>
          <a:xfrm>
            <a:off x="7438567" y="2974125"/>
            <a:ext cx="104149" cy="2157364"/>
          </a:xfrm>
          <a:prstGeom prst="roundRect">
            <a:avLst>
              <a:gd name="adj" fmla="val 20000"/>
            </a:avLst>
          </a:prstGeom>
          <a:solidFill>
            <a:srgbClr val="BABECA"/>
          </a:solidFill>
          <a:ln>
            <a:noFill/>
          </a:ln>
        </p:spPr>
        <p:txBody>
          <a:bodyPr/>
          <a:lstStyle/>
          <a:p>
            <a:endParaRPr lang="vi-VN"/>
          </a:p>
        </p:txBody>
      </p:sp>
      <p:sp>
        <p:nvSpPr>
          <p:cNvPr id="1076" name="bar"/>
          <p:cNvSpPr/>
          <p:nvPr/>
        </p:nvSpPr>
        <p:spPr>
          <a:xfrm>
            <a:off x="7565033" y="2974125"/>
            <a:ext cx="74392" cy="2157364"/>
          </a:xfrm>
          <a:prstGeom prst="roundRect">
            <a:avLst>
              <a:gd name="adj" fmla="val 20000"/>
            </a:avLst>
          </a:prstGeom>
          <a:solidFill>
            <a:srgbClr val="0B8A82"/>
          </a:solidFill>
          <a:ln>
            <a:noFill/>
          </a:ln>
        </p:spPr>
        <p:txBody>
          <a:bodyPr/>
          <a:lstStyle/>
          <a:p>
            <a:endParaRPr lang="vi-VN"/>
          </a:p>
        </p:txBody>
      </p:sp>
      <p:sp>
        <p:nvSpPr>
          <p:cNvPr id="1077" name="label"/>
          <p:cNvSpPr txBox="1"/>
          <p:nvPr/>
        </p:nvSpPr>
        <p:spPr>
          <a:xfrm>
            <a:off x="5854020" y="5145979"/>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nén</a:t>
            </a:r>
          </a:p>
        </p:txBody>
      </p:sp>
      <p:sp>
        <p:nvSpPr>
          <p:cNvPr id="1078" name="label"/>
          <p:cNvSpPr txBox="1"/>
          <p:nvPr/>
        </p:nvSpPr>
        <p:spPr>
          <a:xfrm>
            <a:off x="6724405" y="5145979"/>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mở rộng</a:t>
            </a:r>
          </a:p>
        </p:txBody>
      </p:sp>
      <p:pic>
        <p:nvPicPr>
          <p:cNvPr id="1079" name="thumb Igen" descr="Ảnh vẽ ra I_{gen}"/>
          <p:cNvPicPr>
            <a:picLocks noChangeAspect="1"/>
          </p:cNvPicPr>
          <p:nvPr/>
        </p:nvPicPr>
        <p:blipFill>
          <a:blip r:embed="rId10"/>
          <a:stretch>
            <a:fillRect/>
          </a:stretch>
        </p:blipFill>
        <p:spPr>
          <a:xfrm>
            <a:off x="8137850" y="3420476"/>
            <a:ext cx="669527" cy="669527"/>
          </a:xfrm>
          <a:prstGeom prst="rect">
            <a:avLst/>
          </a:prstGeom>
        </p:spPr>
      </p:pic>
      <p:sp>
        <p:nvSpPr>
          <p:cNvPr id="1080" name="frame Igen"/>
          <p:cNvSpPr/>
          <p:nvPr/>
        </p:nvSpPr>
        <p:spPr>
          <a:xfrm>
            <a:off x="8137850" y="3420476"/>
            <a:ext cx="669527" cy="669527"/>
          </a:xfrm>
          <a:prstGeom prst="rect">
            <a:avLst/>
          </a:prstGeom>
          <a:noFill/>
          <a:ln w="9525">
            <a:solidFill>
              <a:srgbClr val="D7DAE4"/>
            </a:solidFill>
          </a:ln>
        </p:spPr>
        <p:txBody>
          <a:bodyPr/>
          <a:lstStyle/>
          <a:p>
            <a:endParaRPr lang="vi-VN"/>
          </a:p>
        </p:txBody>
      </p:sp>
      <p:sp>
        <p:nvSpPr>
          <p:cNvPr id="1081" name="label"/>
          <p:cNvSpPr txBox="1"/>
          <p:nvPr/>
        </p:nvSpPr>
        <p:spPr>
          <a:xfrm>
            <a:off x="7840283" y="406729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vẽ ra</a:t>
            </a:r>
          </a:p>
        </p:txBody>
      </p:sp>
      <p:sp>
        <p:nvSpPr>
          <p:cNvPr id="1082" name="label"/>
          <p:cNvSpPr txBox="1"/>
          <p:nvPr/>
        </p:nvSpPr>
        <p:spPr>
          <a:xfrm>
            <a:off x="7840283" y="417144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I</a:t>
            </a:r>
            <a:r>
              <a:rPr lang="vi-VN" sz="640" b="0" i="0" baseline="-25000" dirty="0">
                <a:solidFill>
                  <a:srgbClr val="767D93"/>
                </a:solidFill>
                <a:latin typeface="Aptos"/>
              </a:rPr>
              <a:t>gen</a:t>
            </a:r>
          </a:p>
        </p:txBody>
      </p:sp>
      <p:sp>
        <p:nvSpPr>
          <p:cNvPr id="1083" name="box mix"/>
          <p:cNvSpPr/>
          <p:nvPr/>
        </p:nvSpPr>
        <p:spPr>
          <a:xfrm>
            <a:off x="8063458" y="2378990"/>
            <a:ext cx="1115878" cy="386838"/>
          </a:xfrm>
          <a:prstGeom prst="roundRect">
            <a:avLst>
              <a:gd name="adj" fmla="val 14000"/>
            </a:avLst>
          </a:prstGeom>
          <a:solidFill>
            <a:srgbClr val="FFFFFF"/>
          </a:solidFill>
          <a:ln w="11430">
            <a:solidFill>
              <a:srgbClr val="D7DAE4"/>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Trộn theo O</a:t>
            </a:r>
          </a:p>
          <a:p>
            <a:pPr algn="ctr">
              <a:spcBef>
                <a:spcPts val="0"/>
              </a:spcBef>
              <a:spcAft>
                <a:spcPts val="0"/>
              </a:spcAft>
            </a:pPr>
            <a:r>
              <a:rPr lang="vi-VN" sz="750" b="0" i="0" dirty="0">
                <a:solidFill>
                  <a:srgbClr val="767D93"/>
                </a:solidFill>
                <a:latin typeface="Aptos"/>
              </a:rPr>
              <a:t>O·I</a:t>
            </a:r>
            <a:r>
              <a:rPr lang="vi-VN" sz="600" b="0" i="0" baseline="-25000" dirty="0">
                <a:solidFill>
                  <a:srgbClr val="767D93"/>
                </a:solidFill>
                <a:latin typeface="Aptos"/>
              </a:rPr>
              <a:t>s→t</a:t>
            </a:r>
            <a:r>
              <a:rPr lang="vi-VN" sz="750" b="0" i="0" dirty="0">
                <a:solidFill>
                  <a:srgbClr val="767D93"/>
                </a:solidFill>
                <a:latin typeface="Aptos"/>
              </a:rPr>
              <a:t> + (1−O)·I</a:t>
            </a:r>
            <a:r>
              <a:rPr lang="vi-VN" sz="600" b="0" i="0" baseline="-25000" dirty="0">
                <a:solidFill>
                  <a:srgbClr val="767D93"/>
                </a:solidFill>
                <a:latin typeface="Aptos"/>
              </a:rPr>
              <a:t>gen</a:t>
            </a:r>
          </a:p>
        </p:txBody>
      </p:sp>
      <p:pic>
        <p:nvPicPr>
          <p:cNvPr id="1084" name="thumb out" descr="Kết quả Î_{t}"/>
          <p:cNvPicPr>
            <a:picLocks noChangeAspect="1"/>
          </p:cNvPicPr>
          <p:nvPr/>
        </p:nvPicPr>
        <p:blipFill>
          <a:blip r:embed="rId11"/>
          <a:stretch>
            <a:fillRect/>
          </a:stretch>
        </p:blipFill>
        <p:spPr>
          <a:xfrm>
            <a:off x="8249438" y="1337504"/>
            <a:ext cx="743919" cy="743919"/>
          </a:xfrm>
          <a:prstGeom prst="rect">
            <a:avLst/>
          </a:prstGeom>
        </p:spPr>
      </p:pic>
      <p:sp>
        <p:nvSpPr>
          <p:cNvPr id="1085" name="frame out"/>
          <p:cNvSpPr/>
          <p:nvPr/>
        </p:nvSpPr>
        <p:spPr>
          <a:xfrm>
            <a:off x="8249438" y="1337504"/>
            <a:ext cx="743919" cy="743919"/>
          </a:xfrm>
          <a:prstGeom prst="rect">
            <a:avLst/>
          </a:prstGeom>
          <a:noFill/>
          <a:ln w="9525">
            <a:solidFill>
              <a:srgbClr val="D7DAE4"/>
            </a:solidFill>
          </a:ln>
        </p:spPr>
        <p:txBody>
          <a:bodyPr/>
          <a:lstStyle/>
          <a:p>
            <a:endParaRPr lang="vi-VN"/>
          </a:p>
        </p:txBody>
      </p:sp>
      <p:sp>
        <p:nvSpPr>
          <p:cNvPr id="1086" name="label"/>
          <p:cNvSpPr txBox="1"/>
          <p:nvPr/>
        </p:nvSpPr>
        <p:spPr>
          <a:xfrm>
            <a:off x="7989066" y="1136258"/>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Kết quả  Î</a:t>
            </a:r>
            <a:r>
              <a:rPr lang="vi-VN" sz="680" b="1" i="0" baseline="-25000" dirty="0">
                <a:solidFill>
                  <a:srgbClr val="141824"/>
                </a:solidFill>
                <a:latin typeface="Aptos"/>
              </a:rPr>
              <a:t>t</a:t>
            </a:r>
          </a:p>
        </p:txBody>
      </p:sp>
      <p:sp>
        <p:nvSpPr>
          <p:cNvPr id="1087" name="overview card"/>
          <p:cNvSpPr/>
          <p:nvPr/>
        </p:nvSpPr>
        <p:spPr>
          <a:xfrm>
            <a:off x="9418320" y="1188720"/>
            <a:ext cx="2331720" cy="3611880"/>
          </a:xfrm>
          <a:prstGeom prst="roundRect">
            <a:avLst>
              <a:gd name="adj" fmla="val 4000"/>
            </a:avLst>
          </a:prstGeom>
          <a:solidFill>
            <a:srgbClr val="FFFFFF"/>
          </a:solidFill>
          <a:ln w="9525">
            <a:solidFill>
              <a:srgbClr val="D7DAE4"/>
            </a:solidFill>
          </a:ln>
        </p:spPr>
        <p:txBody>
          <a:bodyPr/>
          <a:lstStyle/>
          <a:p>
            <a:endParaRPr lang="vi-VN"/>
          </a:p>
        </p:txBody>
      </p:sp>
      <p:sp>
        <p:nvSpPr>
          <p:cNvPr id="1088" name="overview text"/>
          <p:cNvSpPr txBox="1"/>
          <p:nvPr/>
        </p:nvSpPr>
        <p:spPr>
          <a:xfrm>
            <a:off x="9564624" y="1335024"/>
            <a:ext cx="2039112" cy="3337560"/>
          </a:xfrm>
          <a:prstGeom prst="rect">
            <a:avLst/>
          </a:prstGeom>
          <a:noFill/>
        </p:spPr>
        <p:txBody>
          <a:bodyPr wrap="square" lIns="0" tIns="0" rIns="0" bIns="0" anchor="t">
            <a:noAutofit/>
          </a:bodyPr>
          <a:lstStyle/>
          <a:p>
            <a:pPr algn="l">
              <a:spcBef>
                <a:spcPts val="0"/>
              </a:spcBef>
              <a:spcAft>
                <a:spcPts val="300"/>
              </a:spcAft>
            </a:pPr>
            <a:r>
              <a:rPr lang="vi-VN" sz="900" b="1" i="0" dirty="0">
                <a:solidFill>
                  <a:srgbClr val="5658D2"/>
                </a:solidFill>
                <a:latin typeface="Aptos"/>
              </a:rPr>
              <a:t>TOÀN CẢNH</a:t>
            </a:r>
          </a:p>
          <a:p>
            <a:pPr algn="l">
              <a:spcBef>
                <a:spcPts val="0"/>
              </a:spcBef>
              <a:spcAft>
                <a:spcPts val="600"/>
              </a:spcAft>
            </a:pPr>
            <a:r>
              <a:rPr lang="vi-VN" sz="1400" b="1" i="0" dirty="0">
                <a:solidFill>
                  <a:srgbClr val="141824"/>
                </a:solidFill>
                <a:latin typeface="Aptos"/>
              </a:rPr>
              <a:t>Dữ liệu đi từ trái sang phải</a:t>
            </a:r>
          </a:p>
          <a:p>
            <a:pPr algn="l">
              <a:lnSpc>
                <a:spcPct val="105000"/>
              </a:lnSpc>
              <a:spcBef>
                <a:spcPts val="0"/>
              </a:spcBef>
              <a:spcAft>
                <a:spcPts val="0"/>
              </a:spcAft>
            </a:pPr>
            <a:r>
              <a:rPr lang="vi-VN" sz="1100" b="0" i="0" dirty="0">
                <a:solidFill>
                  <a:srgbClr val="4A5166"/>
                </a:solidFill>
                <a:latin typeface="Aptos"/>
              </a:rPr>
              <a:t>Ảnh nguồn và hai bản đồ hướng mặt đi vào từ bên trái, qua 7 bước, để ra một khung hình ở góc trên bên phải. Mỗi chấm sáng là một gói dữ liệu; màu của chấm cho biết loại dữ liệu. Sơ đồ tự chạy lần lượt từng bước.</a:t>
            </a:r>
          </a:p>
        </p:txBody>
      </p:sp>
      <p:sp>
        <p:nvSpPr>
          <p:cNvPr id="1089" name="legend"/>
          <p:cNvSpPr/>
          <p:nvPr/>
        </p:nvSpPr>
        <p:spPr>
          <a:xfrm>
            <a:off x="9418320" y="5006340"/>
            <a:ext cx="201168" cy="36576"/>
          </a:xfrm>
          <a:prstGeom prst="roundRect">
            <a:avLst>
              <a:gd name="adj" fmla="val 50000"/>
            </a:avLst>
          </a:prstGeom>
          <a:solidFill>
            <a:srgbClr val="BF6A12"/>
          </a:solidFill>
          <a:ln>
            <a:noFill/>
          </a:ln>
        </p:spPr>
        <p:txBody>
          <a:bodyPr/>
          <a:lstStyle/>
          <a:p>
            <a:endParaRPr lang="vi-VN"/>
          </a:p>
        </p:txBody>
      </p:sp>
      <p:sp>
        <p:nvSpPr>
          <p:cNvPr id="1090" name="legend text"/>
          <p:cNvSpPr txBox="1"/>
          <p:nvPr/>
        </p:nvSpPr>
        <p:spPr>
          <a:xfrm>
            <a:off x="9710928" y="4956048"/>
            <a:ext cx="2039112" cy="155448"/>
          </a:xfrm>
          <a:prstGeom prst="rect">
            <a:avLst/>
          </a:prstGeom>
          <a:noFill/>
        </p:spPr>
        <p:txBody>
          <a:bodyPr wrap="none" lIns="0" tIns="0" rIns="0" bIns="0" anchor="ctr">
            <a:noAutofit/>
          </a:bodyPr>
          <a:lstStyle/>
          <a:p>
            <a:pPr algn="l">
              <a:spcBef>
                <a:spcPts val="0"/>
              </a:spcBef>
              <a:spcAft>
                <a:spcPts val="0"/>
              </a:spcAft>
            </a:pPr>
            <a:r>
              <a:rPr lang="vi-VN" sz="900" b="0" i="0" dirty="0">
                <a:solidFill>
                  <a:srgbClr val="4A5166"/>
                </a:solidFill>
                <a:latin typeface="Aptos"/>
              </a:rPr>
              <a:t>Ảnh màu</a:t>
            </a:r>
          </a:p>
        </p:txBody>
      </p:sp>
      <p:sp>
        <p:nvSpPr>
          <p:cNvPr id="1091" name="legend"/>
          <p:cNvSpPr/>
          <p:nvPr/>
        </p:nvSpPr>
        <p:spPr>
          <a:xfrm>
            <a:off x="9418320" y="5193792"/>
            <a:ext cx="201168" cy="36576"/>
          </a:xfrm>
          <a:prstGeom prst="roundRect">
            <a:avLst>
              <a:gd name="adj" fmla="val 50000"/>
            </a:avLst>
          </a:prstGeom>
          <a:solidFill>
            <a:srgbClr val="5658D2"/>
          </a:solidFill>
          <a:ln>
            <a:noFill/>
          </a:ln>
        </p:spPr>
        <p:txBody>
          <a:bodyPr/>
          <a:lstStyle/>
          <a:p>
            <a:endParaRPr lang="vi-VN"/>
          </a:p>
        </p:txBody>
      </p:sp>
      <p:sp>
        <p:nvSpPr>
          <p:cNvPr id="1092" name="legend text"/>
          <p:cNvSpPr txBox="1"/>
          <p:nvPr/>
        </p:nvSpPr>
        <p:spPr>
          <a:xfrm>
            <a:off x="9710928" y="5143500"/>
            <a:ext cx="2039112" cy="155448"/>
          </a:xfrm>
          <a:prstGeom prst="rect">
            <a:avLst/>
          </a:prstGeom>
          <a:noFill/>
        </p:spPr>
        <p:txBody>
          <a:bodyPr wrap="none" lIns="0" tIns="0" rIns="0" bIns="0" anchor="ctr">
            <a:noAutofit/>
          </a:bodyPr>
          <a:lstStyle/>
          <a:p>
            <a:pPr algn="l">
              <a:spcBef>
                <a:spcPts val="0"/>
              </a:spcBef>
              <a:spcAft>
                <a:spcPts val="0"/>
              </a:spcAft>
            </a:pPr>
            <a:r>
              <a:rPr lang="vi-VN" sz="900" b="0" i="0" dirty="0">
                <a:solidFill>
                  <a:srgbClr val="4A5166"/>
                </a:solidFill>
                <a:latin typeface="Aptos"/>
              </a:rPr>
              <a:t>Bản đồ hướng mặt</a:t>
            </a:r>
          </a:p>
        </p:txBody>
      </p:sp>
      <p:sp>
        <p:nvSpPr>
          <p:cNvPr id="1093" name="legend"/>
          <p:cNvSpPr/>
          <p:nvPr/>
        </p:nvSpPr>
        <p:spPr>
          <a:xfrm>
            <a:off x="9418320" y="5381244"/>
            <a:ext cx="201168" cy="36576"/>
          </a:xfrm>
          <a:prstGeom prst="roundRect">
            <a:avLst>
              <a:gd name="adj" fmla="val 50000"/>
            </a:avLst>
          </a:prstGeom>
          <a:solidFill>
            <a:srgbClr val="0B8A82"/>
          </a:solidFill>
          <a:ln>
            <a:noFill/>
          </a:ln>
        </p:spPr>
        <p:txBody>
          <a:bodyPr/>
          <a:lstStyle/>
          <a:p>
            <a:endParaRPr lang="vi-VN"/>
          </a:p>
        </p:txBody>
      </p:sp>
      <p:sp>
        <p:nvSpPr>
          <p:cNvPr id="1094" name="legend text"/>
          <p:cNvSpPr txBox="1"/>
          <p:nvPr/>
        </p:nvSpPr>
        <p:spPr>
          <a:xfrm>
            <a:off x="9710928" y="5330952"/>
            <a:ext cx="2039112" cy="155448"/>
          </a:xfrm>
          <a:prstGeom prst="rect">
            <a:avLst/>
          </a:prstGeom>
          <a:noFill/>
        </p:spPr>
        <p:txBody>
          <a:bodyPr wrap="none" lIns="0" tIns="0" rIns="0" bIns="0" anchor="ctr">
            <a:noAutofit/>
          </a:bodyPr>
          <a:lstStyle/>
          <a:p>
            <a:pPr algn="l">
              <a:spcBef>
                <a:spcPts val="0"/>
              </a:spcBef>
              <a:spcAft>
                <a:spcPts val="0"/>
              </a:spcAft>
            </a:pPr>
            <a:r>
              <a:rPr lang="vi-VN" sz="900" b="0" i="0" dirty="0">
                <a:solidFill>
                  <a:srgbClr val="4A5166"/>
                </a:solidFill>
                <a:latin typeface="Aptos"/>
              </a:rPr>
              <a:t>Đường viền và khung gợi ý</a:t>
            </a:r>
          </a:p>
        </p:txBody>
      </p:sp>
      <p:sp>
        <p:nvSpPr>
          <p:cNvPr id="1095" name="legend"/>
          <p:cNvSpPr/>
          <p:nvPr/>
        </p:nvSpPr>
        <p:spPr>
          <a:xfrm>
            <a:off x="9418320" y="5568696"/>
            <a:ext cx="201168" cy="36576"/>
          </a:xfrm>
          <a:prstGeom prst="roundRect">
            <a:avLst>
              <a:gd name="adj" fmla="val 50000"/>
            </a:avLst>
          </a:prstGeom>
          <a:solidFill>
            <a:srgbClr val="687086"/>
          </a:solidFill>
          <a:ln>
            <a:noFill/>
          </a:ln>
        </p:spPr>
        <p:txBody>
          <a:bodyPr/>
          <a:lstStyle/>
          <a:p>
            <a:endParaRPr lang="vi-VN"/>
          </a:p>
        </p:txBody>
      </p:sp>
      <p:sp>
        <p:nvSpPr>
          <p:cNvPr id="1096" name="legend text"/>
          <p:cNvSpPr txBox="1"/>
          <p:nvPr/>
        </p:nvSpPr>
        <p:spPr>
          <a:xfrm>
            <a:off x="9710928" y="5518404"/>
            <a:ext cx="2039112" cy="155448"/>
          </a:xfrm>
          <a:prstGeom prst="rect">
            <a:avLst/>
          </a:prstGeom>
          <a:noFill/>
        </p:spPr>
        <p:txBody>
          <a:bodyPr wrap="none" lIns="0" tIns="0" rIns="0" bIns="0" anchor="ctr">
            <a:noAutofit/>
          </a:bodyPr>
          <a:lstStyle/>
          <a:p>
            <a:pPr algn="l">
              <a:spcBef>
                <a:spcPts val="0"/>
              </a:spcBef>
              <a:spcAft>
                <a:spcPts val="0"/>
              </a:spcAft>
            </a:pPr>
            <a:r>
              <a:rPr lang="vi-VN" sz="900" b="0" i="0" dirty="0">
                <a:solidFill>
                  <a:srgbClr val="4A5166"/>
                </a:solidFill>
                <a:latin typeface="Aptos"/>
              </a:rPr>
              <a:t>Chuyển động và mặt nạ</a:t>
            </a:r>
          </a:p>
        </p:txBody>
      </p:sp>
      <p:sp>
        <p:nvSpPr>
          <p:cNvPr id="1097" name="legend"/>
          <p:cNvSpPr/>
          <p:nvPr/>
        </p:nvSpPr>
        <p:spPr>
          <a:xfrm>
            <a:off x="9418320" y="5724144"/>
            <a:ext cx="73152" cy="109728"/>
          </a:xfrm>
          <a:prstGeom prst="roundRect">
            <a:avLst>
              <a:gd name="adj" fmla="val 20000"/>
            </a:avLst>
          </a:prstGeom>
          <a:solidFill>
            <a:srgbClr val="0B8A82"/>
          </a:solidFill>
          <a:ln>
            <a:noFill/>
          </a:ln>
        </p:spPr>
        <p:txBody>
          <a:bodyPr/>
          <a:lstStyle/>
          <a:p>
            <a:endParaRPr lang="vi-VN"/>
          </a:p>
        </p:txBody>
      </p:sp>
      <p:sp>
        <p:nvSpPr>
          <p:cNvPr id="1098" name="legend text"/>
          <p:cNvSpPr txBox="1"/>
          <p:nvPr/>
        </p:nvSpPr>
        <p:spPr>
          <a:xfrm>
            <a:off x="9710928" y="5705856"/>
            <a:ext cx="2039112" cy="155448"/>
          </a:xfrm>
          <a:prstGeom prst="rect">
            <a:avLst/>
          </a:prstGeom>
          <a:noFill/>
        </p:spPr>
        <p:txBody>
          <a:bodyPr wrap="none" lIns="0" tIns="0" rIns="0" bIns="0" anchor="ctr">
            <a:noAutofit/>
          </a:bodyPr>
          <a:lstStyle/>
          <a:p>
            <a:pPr algn="l">
              <a:spcBef>
                <a:spcPts val="0"/>
              </a:spcBef>
              <a:spcAft>
                <a:spcPts val="0"/>
              </a:spcAft>
            </a:pPr>
            <a:r>
              <a:rPr lang="vi-VN" sz="900" b="0" i="0" dirty="0">
                <a:solidFill>
                  <a:srgbClr val="4A5166"/>
                </a:solidFill>
                <a:latin typeface="Aptos"/>
              </a:rPr>
              <a:t>Khối GRM trong bộ vẽ ảnh</a:t>
            </a:r>
          </a:p>
        </p:txBody>
      </p:sp>
      <p:sp>
        <p:nvSpPr>
          <p:cNvPr id="1099" name="note"/>
          <p:cNvSpPr txBox="1"/>
          <p:nvPr/>
        </p:nvSpPr>
        <p:spPr>
          <a:xfrm>
            <a:off x="475488" y="5961888"/>
            <a:ext cx="11247120" cy="237744"/>
          </a:xfrm>
          <a:prstGeom prst="rect">
            <a:avLst/>
          </a:prstGeom>
          <a:noFill/>
        </p:spPr>
        <p:txBody>
          <a:bodyPr wrap="square" lIns="0" tIns="0" rIns="0" bIns="0" anchor="t">
            <a:noAutofit/>
          </a:bodyPr>
          <a:lstStyle/>
          <a:p>
            <a:pPr algn="l">
              <a:spcBef>
                <a:spcPts val="0"/>
              </a:spcBef>
              <a:spcAft>
                <a:spcPts val="0"/>
              </a:spcAft>
            </a:pPr>
            <a:r>
              <a:rPr lang="vi-VN" sz="1000" b="0" i="0" dirty="0">
                <a:solidFill>
                  <a:srgbClr val="4A5166"/>
                </a:solidFill>
                <a:latin typeface="Aptos"/>
              </a:rPr>
              <a:t>Bước 2, 4 và 5 không cần chờ nhau. Bước 3 cần kết quả của bước 2. Bước 6 cần kết quả của bước 3, 4 và 5.</a:t>
            </a:r>
          </a:p>
        </p:txBody>
      </p:sp>
      <p:grpSp>
        <p:nvGrpSpPr>
          <p:cNvPr id="1100" name="Bước 1: Đầu vào"/>
          <p:cNvGrpSpPr/>
          <p:nvPr/>
        </p:nvGrpSpPr>
        <p:grpSpPr>
          <a:xfrm>
            <a:off x="0" y="0"/>
            <a:ext cx="12191695" cy="6858000"/>
            <a:chOff x="0" y="0"/>
            <a:chExt cx="12191695" cy="6858000"/>
          </a:xfrm>
        </p:grpSpPr>
        <p:sp>
          <p:nvSpPr>
            <p:cNvPr id="1101" name="dim"/>
            <p:cNvSpPr/>
            <p:nvPr/>
          </p:nvSpPr>
          <p:spPr>
            <a:xfrm>
              <a:off x="402336" y="1133856"/>
              <a:ext cx="8924544" cy="4573239"/>
            </a:xfrm>
            <a:prstGeom prst="roundRect">
              <a:avLst>
                <a:gd name="adj" fmla="val 2500"/>
              </a:avLst>
            </a:prstGeom>
            <a:solidFill>
              <a:srgbClr val="FFFFFF">
                <a:alpha val="70000"/>
              </a:srgbClr>
            </a:solidFill>
            <a:ln>
              <a:noFill/>
            </a:ln>
          </p:spPr>
          <p:txBody>
            <a:bodyPr/>
            <a:lstStyle/>
            <a:p>
              <a:endParaRPr lang="vi-VN"/>
            </a:p>
          </p:txBody>
        </p:sp>
        <p:pic>
          <p:nvPicPr>
            <p:cNvPr id="1102" name="thumb Is" descr="Ảnh nguồn I_{s}"/>
            <p:cNvPicPr>
              <a:picLocks noChangeAspect="1"/>
            </p:cNvPicPr>
            <p:nvPr/>
          </p:nvPicPr>
          <p:blipFill>
            <a:blip r:embed="rId2"/>
            <a:stretch>
              <a:fillRect/>
            </a:stretch>
          </p:blipFill>
          <p:spPr>
            <a:xfrm>
              <a:off x="624272" y="1411896"/>
              <a:ext cx="743919" cy="743919"/>
            </a:xfrm>
            <a:prstGeom prst="rect">
              <a:avLst/>
            </a:prstGeom>
          </p:spPr>
        </p:pic>
        <p:sp>
          <p:nvSpPr>
            <p:cNvPr id="1103" name="frame Is"/>
            <p:cNvSpPr/>
            <p:nvPr/>
          </p:nvSpPr>
          <p:spPr>
            <a:xfrm>
              <a:off x="624272" y="1411896"/>
              <a:ext cx="743919" cy="743919"/>
            </a:xfrm>
            <a:prstGeom prst="rect">
              <a:avLst/>
            </a:prstGeom>
            <a:noFill/>
            <a:ln w="20320">
              <a:solidFill>
                <a:srgbClr val="5658D2"/>
              </a:solidFill>
            </a:ln>
          </p:spPr>
          <p:txBody>
            <a:bodyPr/>
            <a:lstStyle/>
            <a:p>
              <a:endParaRPr lang="vi-VN"/>
            </a:p>
          </p:txBody>
        </p:sp>
        <p:sp>
          <p:nvSpPr>
            <p:cNvPr id="1104" name="label"/>
            <p:cNvSpPr txBox="1"/>
            <p:nvPr/>
          </p:nvSpPr>
          <p:spPr>
            <a:xfrm>
              <a:off x="363900" y="2133109"/>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nguồn</a:t>
              </a:r>
            </a:p>
          </p:txBody>
        </p:sp>
        <p:sp>
          <p:nvSpPr>
            <p:cNvPr id="1105" name="label"/>
            <p:cNvSpPr txBox="1"/>
            <p:nvPr/>
          </p:nvSpPr>
          <p:spPr>
            <a:xfrm>
              <a:off x="363900" y="2237257"/>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I</a:t>
              </a:r>
              <a:r>
                <a:rPr lang="vi-VN" sz="640" b="0" i="0" baseline="-25000" dirty="0">
                  <a:solidFill>
                    <a:srgbClr val="767D93"/>
                  </a:solidFill>
                  <a:latin typeface="Aptos"/>
                </a:rPr>
                <a:t>s</a:t>
              </a:r>
            </a:p>
          </p:txBody>
        </p:sp>
        <p:pic>
          <p:nvPicPr>
            <p:cNvPr id="1106" name="thumb Ns" descr="Hướng mặt cũ N_{s}"/>
            <p:cNvPicPr>
              <a:picLocks noChangeAspect="1"/>
            </p:cNvPicPr>
            <p:nvPr/>
          </p:nvPicPr>
          <p:blipFill>
            <a:blip r:embed="rId4"/>
            <a:stretch>
              <a:fillRect/>
            </a:stretch>
          </p:blipFill>
          <p:spPr>
            <a:xfrm>
              <a:off x="624272" y="4536354"/>
              <a:ext cx="743919" cy="743919"/>
            </a:xfrm>
            <a:prstGeom prst="rect">
              <a:avLst/>
            </a:prstGeom>
          </p:spPr>
        </p:pic>
        <p:sp>
          <p:nvSpPr>
            <p:cNvPr id="1107" name="frame Ns"/>
            <p:cNvSpPr/>
            <p:nvPr/>
          </p:nvSpPr>
          <p:spPr>
            <a:xfrm>
              <a:off x="624272" y="4536354"/>
              <a:ext cx="743919" cy="743919"/>
            </a:xfrm>
            <a:prstGeom prst="rect">
              <a:avLst/>
            </a:prstGeom>
            <a:noFill/>
            <a:ln w="20320">
              <a:solidFill>
                <a:srgbClr val="5658D2"/>
              </a:solidFill>
            </a:ln>
          </p:spPr>
          <p:txBody>
            <a:bodyPr/>
            <a:lstStyle/>
            <a:p>
              <a:endParaRPr lang="vi-VN"/>
            </a:p>
          </p:txBody>
        </p:sp>
        <p:sp>
          <p:nvSpPr>
            <p:cNvPr id="1108" name="label"/>
            <p:cNvSpPr txBox="1"/>
            <p:nvPr/>
          </p:nvSpPr>
          <p:spPr>
            <a:xfrm>
              <a:off x="363900" y="525756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cũ</a:t>
              </a:r>
            </a:p>
          </p:txBody>
        </p:sp>
        <p:sp>
          <p:nvSpPr>
            <p:cNvPr id="1109" name="label"/>
            <p:cNvSpPr txBox="1"/>
            <p:nvPr/>
          </p:nvSpPr>
          <p:spPr>
            <a:xfrm>
              <a:off x="363900" y="536171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s</a:t>
              </a:r>
            </a:p>
          </p:txBody>
        </p:sp>
        <p:pic>
          <p:nvPicPr>
            <p:cNvPr id="1110" name="thumb Nt" descr="Hướng mặt mới N_{t}"/>
            <p:cNvPicPr>
              <a:picLocks noChangeAspect="1"/>
            </p:cNvPicPr>
            <p:nvPr/>
          </p:nvPicPr>
          <p:blipFill>
            <a:blip r:embed="rId3"/>
            <a:stretch>
              <a:fillRect/>
            </a:stretch>
          </p:blipFill>
          <p:spPr>
            <a:xfrm>
              <a:off x="624272" y="2974125"/>
              <a:ext cx="743919" cy="743919"/>
            </a:xfrm>
            <a:prstGeom prst="rect">
              <a:avLst/>
            </a:prstGeom>
          </p:spPr>
        </p:pic>
        <p:sp>
          <p:nvSpPr>
            <p:cNvPr id="1111" name="frame Nt"/>
            <p:cNvSpPr/>
            <p:nvPr/>
          </p:nvSpPr>
          <p:spPr>
            <a:xfrm>
              <a:off x="624272" y="2974125"/>
              <a:ext cx="743919" cy="743919"/>
            </a:xfrm>
            <a:prstGeom prst="rect">
              <a:avLst/>
            </a:prstGeom>
            <a:noFill/>
            <a:ln w="20320">
              <a:solidFill>
                <a:srgbClr val="5658D2"/>
              </a:solidFill>
            </a:ln>
          </p:spPr>
          <p:txBody>
            <a:bodyPr/>
            <a:lstStyle/>
            <a:p>
              <a:endParaRPr lang="vi-VN"/>
            </a:p>
          </p:txBody>
        </p:sp>
        <p:sp>
          <p:nvSpPr>
            <p:cNvPr id="1112" name="label"/>
            <p:cNvSpPr txBox="1"/>
            <p:nvPr/>
          </p:nvSpPr>
          <p:spPr>
            <a:xfrm>
              <a:off x="363900" y="3695338"/>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mới</a:t>
              </a:r>
            </a:p>
          </p:txBody>
        </p:sp>
        <p:sp>
          <p:nvSpPr>
            <p:cNvPr id="1113" name="label"/>
            <p:cNvSpPr txBox="1"/>
            <p:nvPr/>
          </p:nvSpPr>
          <p:spPr>
            <a:xfrm>
              <a:off x="363900" y="379948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t</a:t>
              </a:r>
            </a:p>
          </p:txBody>
        </p:sp>
        <p:sp>
          <p:nvSpPr>
            <p:cNvPr id="1114" name="step1 card"/>
            <p:cNvSpPr/>
            <p:nvPr/>
          </p:nvSpPr>
          <p:spPr>
            <a:xfrm>
              <a:off x="9418320" y="1188720"/>
              <a:ext cx="2331720" cy="3611880"/>
            </a:xfrm>
            <a:prstGeom prst="roundRect">
              <a:avLst>
                <a:gd name="adj" fmla="val 4000"/>
              </a:avLst>
            </a:prstGeom>
            <a:solidFill>
              <a:srgbClr val="FFFFFF"/>
            </a:solidFill>
            <a:ln w="9525">
              <a:solidFill>
                <a:srgbClr val="D7DAE4"/>
              </a:solidFill>
            </a:ln>
          </p:spPr>
          <p:txBody>
            <a:bodyPr/>
            <a:lstStyle/>
            <a:p>
              <a:endParaRPr lang="vi-VN"/>
            </a:p>
          </p:txBody>
        </p:sp>
        <p:sp>
          <p:nvSpPr>
            <p:cNvPr id="1115" name="step1 text"/>
            <p:cNvSpPr txBox="1"/>
            <p:nvPr/>
          </p:nvSpPr>
          <p:spPr>
            <a:xfrm>
              <a:off x="9564624" y="1335024"/>
              <a:ext cx="2039112" cy="3337560"/>
            </a:xfrm>
            <a:prstGeom prst="rect">
              <a:avLst/>
            </a:prstGeom>
            <a:noFill/>
          </p:spPr>
          <p:txBody>
            <a:bodyPr wrap="square" lIns="0" tIns="0" rIns="0" bIns="0" anchor="t">
              <a:noAutofit/>
            </a:bodyPr>
            <a:lstStyle/>
            <a:p>
              <a:pPr algn="l">
                <a:spcBef>
                  <a:spcPts val="0"/>
                </a:spcBef>
                <a:spcAft>
                  <a:spcPts val="300"/>
                </a:spcAft>
              </a:pPr>
              <a:r>
                <a:rPr lang="vi-VN" sz="900" b="1" i="0" dirty="0">
                  <a:solidFill>
                    <a:srgbClr val="5658D2"/>
                  </a:solidFill>
                  <a:latin typeface="Aptos"/>
                </a:rPr>
                <a:t>BƯỚC 1 / 7</a:t>
              </a:r>
            </a:p>
            <a:p>
              <a:pPr algn="l">
                <a:spcBef>
                  <a:spcPts val="0"/>
                </a:spcBef>
                <a:spcAft>
                  <a:spcPts val="600"/>
                </a:spcAft>
              </a:pPr>
              <a:r>
                <a:rPr lang="vi-VN" sz="1400" b="1" i="0" dirty="0">
                  <a:solidFill>
                    <a:srgbClr val="141824"/>
                  </a:solidFill>
                  <a:latin typeface="Aptos"/>
                </a:rPr>
                <a:t>Đầu vào</a:t>
              </a:r>
            </a:p>
            <a:p>
              <a:pPr algn="l">
                <a:lnSpc>
                  <a:spcPct val="105000"/>
                </a:lnSpc>
                <a:spcBef>
                  <a:spcPts val="0"/>
                </a:spcBef>
                <a:spcAft>
                  <a:spcPts val="0"/>
                </a:spcAft>
              </a:pPr>
              <a:r>
                <a:rPr lang="vi-VN" sz="1100" b="0" i="0" dirty="0">
                  <a:solidFill>
                    <a:srgbClr val="4A5166"/>
                  </a:solidFill>
                  <a:latin typeface="Aptos"/>
                </a:rPr>
                <a:t>Có ba thứ đi vào. Ảnh nguồn là ảnh thật của người cần vẽ, ở một tư thế bất kỳ. Hai bản đồ hướng mặt là tư thế trong ảnh nguồn và tư thế mới cần vẽ.</a:t>
              </a:r>
            </a:p>
          </p:txBody>
        </p:sp>
      </p:grpSp>
      <p:grpSp>
        <p:nvGrpSpPr>
          <p:cNvPr id="1116" name="Bước 2: Đoán chuyển động"/>
          <p:cNvGrpSpPr/>
          <p:nvPr/>
        </p:nvGrpSpPr>
        <p:grpSpPr>
          <a:xfrm>
            <a:off x="0" y="0"/>
            <a:ext cx="12191695" cy="6858000"/>
            <a:chOff x="0" y="0"/>
            <a:chExt cx="12191695" cy="6858000"/>
          </a:xfrm>
        </p:grpSpPr>
        <p:sp>
          <p:nvSpPr>
            <p:cNvPr id="1117" name="dim"/>
            <p:cNvSpPr/>
            <p:nvPr/>
          </p:nvSpPr>
          <p:spPr>
            <a:xfrm>
              <a:off x="402336" y="1133856"/>
              <a:ext cx="8924544" cy="4573239"/>
            </a:xfrm>
            <a:prstGeom prst="roundRect">
              <a:avLst>
                <a:gd name="adj" fmla="val 2500"/>
              </a:avLst>
            </a:prstGeom>
            <a:solidFill>
              <a:srgbClr val="FFFFFF">
                <a:alpha val="70000"/>
              </a:srgbClr>
            </a:solidFill>
            <a:ln>
              <a:noFill/>
            </a:ln>
          </p:spPr>
          <p:txBody>
            <a:bodyPr/>
            <a:lstStyle/>
            <a:p>
              <a:endParaRPr lang="vi-VN"/>
            </a:p>
          </p:txBody>
        </p:sp>
        <p:sp>
          <p:nvSpPr>
            <p:cNvPr id="1118" name="wire Nt_flow"/>
            <p:cNvSpPr/>
            <p:nvPr/>
          </p:nvSpPr>
          <p:spPr>
            <a:xfrm>
              <a:off x="1323555" y="3509746"/>
              <a:ext cx="498425" cy="996851"/>
            </a:xfrm>
            <a:custGeom>
              <a:avLst/>
              <a:gdLst/>
              <a:ahLst/>
              <a:cxnLst/>
              <a:rect l="0" t="0" r="r" b="b"/>
              <a:pathLst>
                <a:path w="498425" h="996851" fill="none">
                  <a:moveTo>
                    <a:pt x="44635" y="44635"/>
                  </a:moveTo>
                  <a:lnTo>
                    <a:pt x="126466" y="44635"/>
                  </a:lnTo>
                  <a:quadBezTo>
                    <a:pt x="193419" y="44635"/>
                    <a:pt x="193419" y="111588"/>
                  </a:quadBezTo>
                  <a:lnTo>
                    <a:pt x="193419" y="885263"/>
                  </a:lnTo>
                  <a:quadBezTo>
                    <a:pt x="193419" y="952216"/>
                    <a:pt x="260372" y="952216"/>
                  </a:quadBezTo>
                  <a:lnTo>
                    <a:pt x="453790" y="952216"/>
                  </a:lnTo>
                </a:path>
              </a:pathLst>
            </a:custGeom>
            <a:noFill/>
            <a:ln w="25400" cap="rnd">
              <a:solidFill>
                <a:srgbClr val="5658D2"/>
              </a:solidFill>
              <a:round/>
              <a:tailEnd type="triangle" w="med" len="med"/>
            </a:ln>
          </p:spPr>
          <p:txBody>
            <a:bodyPr/>
            <a:lstStyle/>
            <a:p>
              <a:endParaRPr lang="vi-VN"/>
            </a:p>
          </p:txBody>
        </p:sp>
        <p:sp>
          <p:nvSpPr>
            <p:cNvPr id="1119" name="wire Ns_flow"/>
            <p:cNvSpPr/>
            <p:nvPr/>
          </p:nvSpPr>
          <p:spPr>
            <a:xfrm>
              <a:off x="1323555" y="4536354"/>
              <a:ext cx="498425" cy="416594"/>
            </a:xfrm>
            <a:custGeom>
              <a:avLst/>
              <a:gdLst/>
              <a:ahLst/>
              <a:cxnLst/>
              <a:rect l="0" t="0" r="r" b="b"/>
              <a:pathLst>
                <a:path w="498425" h="416594" fill="none">
                  <a:moveTo>
                    <a:pt x="44635" y="371959"/>
                  </a:moveTo>
                  <a:lnTo>
                    <a:pt x="200858" y="371959"/>
                  </a:lnTo>
                  <a:quadBezTo>
                    <a:pt x="267811" y="371959"/>
                    <a:pt x="267811" y="305007"/>
                  </a:quadBezTo>
                  <a:lnTo>
                    <a:pt x="267811" y="111588"/>
                  </a:lnTo>
                  <a:quadBezTo>
                    <a:pt x="267811" y="44635"/>
                    <a:pt x="334763" y="44635"/>
                  </a:quadBezTo>
                  <a:lnTo>
                    <a:pt x="453790" y="44635"/>
                  </a:lnTo>
                </a:path>
              </a:pathLst>
            </a:custGeom>
            <a:noFill/>
            <a:ln w="25400" cap="rnd">
              <a:solidFill>
                <a:srgbClr val="5658D2"/>
              </a:solidFill>
              <a:round/>
              <a:tailEnd type="triangle" w="med" len="med"/>
            </a:ln>
          </p:spPr>
          <p:txBody>
            <a:bodyPr/>
            <a:lstStyle/>
            <a:p>
              <a:endParaRPr lang="vi-VN"/>
            </a:p>
          </p:txBody>
        </p:sp>
        <p:sp>
          <p:nvSpPr>
            <p:cNvPr id="1120" name="wire flow_F"/>
            <p:cNvSpPr/>
            <p:nvPr/>
          </p:nvSpPr>
          <p:spPr>
            <a:xfrm>
              <a:off x="2848588" y="4305739"/>
              <a:ext cx="498425" cy="200858"/>
            </a:xfrm>
            <a:custGeom>
              <a:avLst/>
              <a:gdLst/>
              <a:ahLst/>
              <a:cxnLst/>
              <a:rect l="0" t="0" r="r" b="b"/>
              <a:pathLst>
                <a:path w="498425" h="200858" fill="none">
                  <a:moveTo>
                    <a:pt x="44635" y="156223"/>
                  </a:moveTo>
                  <a:lnTo>
                    <a:pt x="137625" y="156223"/>
                  </a:lnTo>
                  <a:quadBezTo>
                    <a:pt x="193419" y="156223"/>
                    <a:pt x="193419" y="100429"/>
                  </a:quadBezTo>
                  <a:lnTo>
                    <a:pt x="193419" y="100429"/>
                  </a:lnTo>
                  <a:quadBezTo>
                    <a:pt x="193419" y="44635"/>
                    <a:pt x="249213" y="44635"/>
                  </a:quadBezTo>
                  <a:lnTo>
                    <a:pt x="453790" y="44635"/>
                  </a:lnTo>
                </a:path>
              </a:pathLst>
            </a:custGeom>
            <a:noFill/>
            <a:ln w="25400" cap="rnd">
              <a:solidFill>
                <a:srgbClr val="687086"/>
              </a:solidFill>
              <a:round/>
              <a:tailEnd type="triangle" w="med" len="med"/>
            </a:ln>
          </p:spPr>
          <p:txBody>
            <a:bodyPr/>
            <a:lstStyle/>
            <a:p>
              <a:endParaRPr lang="vi-VN"/>
            </a:p>
          </p:txBody>
        </p:sp>
        <p:sp>
          <p:nvSpPr>
            <p:cNvPr id="1121" name="wire flow_O"/>
            <p:cNvSpPr/>
            <p:nvPr/>
          </p:nvSpPr>
          <p:spPr>
            <a:xfrm>
              <a:off x="2848588" y="4536354"/>
              <a:ext cx="498425" cy="662088"/>
            </a:xfrm>
            <a:custGeom>
              <a:avLst/>
              <a:gdLst/>
              <a:ahLst/>
              <a:cxnLst/>
              <a:rect l="0" t="0" r="r" b="b"/>
              <a:pathLst>
                <a:path w="498425" h="662088" fill="none">
                  <a:moveTo>
                    <a:pt x="44635" y="44635"/>
                  </a:moveTo>
                  <a:lnTo>
                    <a:pt x="238054" y="44635"/>
                  </a:lnTo>
                  <a:quadBezTo>
                    <a:pt x="305007" y="44635"/>
                    <a:pt x="305007" y="111588"/>
                  </a:quadBezTo>
                  <a:lnTo>
                    <a:pt x="305007" y="550500"/>
                  </a:lnTo>
                  <a:quadBezTo>
                    <a:pt x="305007" y="617452"/>
                    <a:pt x="371959" y="617452"/>
                  </a:quadBezTo>
                  <a:lnTo>
                    <a:pt x="453790" y="617452"/>
                  </a:lnTo>
                </a:path>
              </a:pathLst>
            </a:custGeom>
            <a:noFill/>
            <a:ln w="25400" cap="rnd">
              <a:solidFill>
                <a:srgbClr val="687086"/>
              </a:solidFill>
              <a:round/>
              <a:tailEnd type="triangle" w="med" len="med"/>
            </a:ln>
          </p:spPr>
          <p:txBody>
            <a:bodyPr/>
            <a:lstStyle/>
            <a:p>
              <a:endParaRPr lang="vi-VN"/>
            </a:p>
          </p:txBody>
        </p:sp>
        <p:pic>
          <p:nvPicPr>
            <p:cNvPr id="1122" name="thumb Ns" descr="Hướng mặt cũ N_{s}"/>
            <p:cNvPicPr>
              <a:picLocks noChangeAspect="1"/>
            </p:cNvPicPr>
            <p:nvPr/>
          </p:nvPicPr>
          <p:blipFill>
            <a:blip r:embed="rId4"/>
            <a:stretch>
              <a:fillRect/>
            </a:stretch>
          </p:blipFill>
          <p:spPr>
            <a:xfrm>
              <a:off x="624272" y="4536354"/>
              <a:ext cx="743919" cy="743919"/>
            </a:xfrm>
            <a:prstGeom prst="rect">
              <a:avLst/>
            </a:prstGeom>
          </p:spPr>
        </p:pic>
        <p:sp>
          <p:nvSpPr>
            <p:cNvPr id="1123" name="frame Ns"/>
            <p:cNvSpPr/>
            <p:nvPr/>
          </p:nvSpPr>
          <p:spPr>
            <a:xfrm>
              <a:off x="624272" y="4536354"/>
              <a:ext cx="743919" cy="743919"/>
            </a:xfrm>
            <a:prstGeom prst="rect">
              <a:avLst/>
            </a:prstGeom>
            <a:noFill/>
            <a:ln w="20320">
              <a:solidFill>
                <a:srgbClr val="5658D2"/>
              </a:solidFill>
            </a:ln>
          </p:spPr>
          <p:txBody>
            <a:bodyPr/>
            <a:lstStyle/>
            <a:p>
              <a:endParaRPr lang="vi-VN"/>
            </a:p>
          </p:txBody>
        </p:sp>
        <p:sp>
          <p:nvSpPr>
            <p:cNvPr id="1124" name="label"/>
            <p:cNvSpPr txBox="1"/>
            <p:nvPr/>
          </p:nvSpPr>
          <p:spPr>
            <a:xfrm>
              <a:off x="363900" y="525756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cũ</a:t>
              </a:r>
            </a:p>
          </p:txBody>
        </p:sp>
        <p:sp>
          <p:nvSpPr>
            <p:cNvPr id="1125" name="label"/>
            <p:cNvSpPr txBox="1"/>
            <p:nvPr/>
          </p:nvSpPr>
          <p:spPr>
            <a:xfrm>
              <a:off x="363900" y="536171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s</a:t>
              </a:r>
            </a:p>
          </p:txBody>
        </p:sp>
        <p:pic>
          <p:nvPicPr>
            <p:cNvPr id="1126" name="thumb Nt" descr="Hướng mặt mới N_{t}"/>
            <p:cNvPicPr>
              <a:picLocks noChangeAspect="1"/>
            </p:cNvPicPr>
            <p:nvPr/>
          </p:nvPicPr>
          <p:blipFill>
            <a:blip r:embed="rId3"/>
            <a:stretch>
              <a:fillRect/>
            </a:stretch>
          </p:blipFill>
          <p:spPr>
            <a:xfrm>
              <a:off x="624272" y="2974125"/>
              <a:ext cx="743919" cy="743919"/>
            </a:xfrm>
            <a:prstGeom prst="rect">
              <a:avLst/>
            </a:prstGeom>
          </p:spPr>
        </p:pic>
        <p:sp>
          <p:nvSpPr>
            <p:cNvPr id="1127" name="frame Nt"/>
            <p:cNvSpPr/>
            <p:nvPr/>
          </p:nvSpPr>
          <p:spPr>
            <a:xfrm>
              <a:off x="624272" y="2974125"/>
              <a:ext cx="743919" cy="743919"/>
            </a:xfrm>
            <a:prstGeom prst="rect">
              <a:avLst/>
            </a:prstGeom>
            <a:noFill/>
            <a:ln w="20320">
              <a:solidFill>
                <a:srgbClr val="5658D2"/>
              </a:solidFill>
            </a:ln>
          </p:spPr>
          <p:txBody>
            <a:bodyPr/>
            <a:lstStyle/>
            <a:p>
              <a:endParaRPr lang="vi-VN"/>
            </a:p>
          </p:txBody>
        </p:sp>
        <p:sp>
          <p:nvSpPr>
            <p:cNvPr id="1128" name="label"/>
            <p:cNvSpPr txBox="1"/>
            <p:nvPr/>
          </p:nvSpPr>
          <p:spPr>
            <a:xfrm>
              <a:off x="363900" y="3695338"/>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mới</a:t>
              </a:r>
            </a:p>
          </p:txBody>
        </p:sp>
        <p:sp>
          <p:nvSpPr>
            <p:cNvPr id="1129" name="label"/>
            <p:cNvSpPr txBox="1"/>
            <p:nvPr/>
          </p:nvSpPr>
          <p:spPr>
            <a:xfrm>
              <a:off x="363900" y="379948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t</a:t>
              </a:r>
            </a:p>
          </p:txBody>
        </p:sp>
        <p:sp>
          <p:nvSpPr>
            <p:cNvPr id="1130" name="box flow"/>
            <p:cNvSpPr/>
            <p:nvPr/>
          </p:nvSpPr>
          <p:spPr>
            <a:xfrm>
              <a:off x="1777346" y="4313178"/>
              <a:ext cx="1115878" cy="416594"/>
            </a:xfrm>
            <a:prstGeom prst="roundRect">
              <a:avLst>
                <a:gd name="adj" fmla="val 14000"/>
              </a:avLst>
            </a:prstGeom>
            <a:solidFill>
              <a:srgbClr val="FFFFFF"/>
            </a:solidFill>
            <a:ln w="20320">
              <a:solidFill>
                <a:srgbClr val="5658D2"/>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Đoán chuyển động</a:t>
              </a:r>
            </a:p>
            <a:p>
              <a:pPr algn="ctr">
                <a:spcBef>
                  <a:spcPts val="0"/>
                </a:spcBef>
                <a:spcAft>
                  <a:spcPts val="0"/>
                </a:spcAft>
              </a:pPr>
              <a:r>
                <a:rPr lang="vi-VN" sz="800" b="0" i="0" dirty="0">
                  <a:solidFill>
                    <a:srgbClr val="767D93"/>
                  </a:solidFill>
                  <a:latin typeface="Aptos"/>
                </a:rPr>
                <a:t>TPSMM</a:t>
              </a:r>
            </a:p>
          </p:txBody>
        </p:sp>
        <p:pic>
          <p:nvPicPr>
            <p:cNvPr id="1131" name="thumb F" descr="Luồng F"/>
            <p:cNvPicPr>
              <a:picLocks noChangeAspect="1"/>
            </p:cNvPicPr>
            <p:nvPr/>
          </p:nvPicPr>
          <p:blipFill>
            <a:blip r:embed="rId7"/>
            <a:stretch>
              <a:fillRect/>
            </a:stretch>
          </p:blipFill>
          <p:spPr>
            <a:xfrm>
              <a:off x="3302379" y="4015611"/>
              <a:ext cx="669527" cy="669527"/>
            </a:xfrm>
            <a:prstGeom prst="rect">
              <a:avLst/>
            </a:prstGeom>
          </p:spPr>
        </p:pic>
        <p:sp>
          <p:nvSpPr>
            <p:cNvPr id="1132" name="frame F"/>
            <p:cNvSpPr/>
            <p:nvPr/>
          </p:nvSpPr>
          <p:spPr>
            <a:xfrm>
              <a:off x="3302379" y="4015611"/>
              <a:ext cx="669527" cy="669527"/>
            </a:xfrm>
            <a:prstGeom prst="rect">
              <a:avLst/>
            </a:prstGeom>
            <a:noFill/>
            <a:ln w="20320">
              <a:solidFill>
                <a:srgbClr val="5658D2"/>
              </a:solidFill>
            </a:ln>
          </p:spPr>
          <p:txBody>
            <a:bodyPr/>
            <a:lstStyle/>
            <a:p>
              <a:endParaRPr lang="vi-VN"/>
            </a:p>
          </p:txBody>
        </p:sp>
        <p:sp>
          <p:nvSpPr>
            <p:cNvPr id="1133" name="label"/>
            <p:cNvSpPr txBox="1"/>
            <p:nvPr/>
          </p:nvSpPr>
          <p:spPr>
            <a:xfrm>
              <a:off x="3004811" y="3814365"/>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Luồng  F</a:t>
              </a:r>
            </a:p>
          </p:txBody>
        </p:sp>
        <p:pic>
          <p:nvPicPr>
            <p:cNvPr id="1134" name="thumb O" descr="Mặt nạ O"/>
            <p:cNvPicPr>
              <a:picLocks noChangeAspect="1"/>
            </p:cNvPicPr>
            <p:nvPr/>
          </p:nvPicPr>
          <p:blipFill>
            <a:blip r:embed="rId8"/>
            <a:stretch>
              <a:fillRect/>
            </a:stretch>
          </p:blipFill>
          <p:spPr>
            <a:xfrm>
              <a:off x="3302379" y="4819043"/>
              <a:ext cx="669527" cy="669527"/>
            </a:xfrm>
            <a:prstGeom prst="rect">
              <a:avLst/>
            </a:prstGeom>
          </p:spPr>
        </p:pic>
        <p:sp>
          <p:nvSpPr>
            <p:cNvPr id="1135" name="frame O"/>
            <p:cNvSpPr/>
            <p:nvPr/>
          </p:nvSpPr>
          <p:spPr>
            <a:xfrm>
              <a:off x="3302379" y="4819043"/>
              <a:ext cx="669527" cy="669527"/>
            </a:xfrm>
            <a:prstGeom prst="rect">
              <a:avLst/>
            </a:prstGeom>
            <a:noFill/>
            <a:ln w="20320">
              <a:solidFill>
                <a:srgbClr val="5658D2"/>
              </a:solidFill>
            </a:ln>
          </p:spPr>
          <p:txBody>
            <a:bodyPr/>
            <a:lstStyle/>
            <a:p>
              <a:endParaRPr lang="vi-VN"/>
            </a:p>
          </p:txBody>
        </p:sp>
        <p:sp>
          <p:nvSpPr>
            <p:cNvPr id="1136" name="label"/>
            <p:cNvSpPr txBox="1"/>
            <p:nvPr/>
          </p:nvSpPr>
          <p:spPr>
            <a:xfrm>
              <a:off x="3004811" y="461779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Mặt nạ  O</a:t>
              </a:r>
            </a:p>
          </p:txBody>
        </p:sp>
        <p:sp>
          <p:nvSpPr>
            <p:cNvPr id="1137" name="step2 card"/>
            <p:cNvSpPr/>
            <p:nvPr/>
          </p:nvSpPr>
          <p:spPr>
            <a:xfrm>
              <a:off x="9418320" y="1188720"/>
              <a:ext cx="2331720" cy="3611880"/>
            </a:xfrm>
            <a:prstGeom prst="roundRect">
              <a:avLst>
                <a:gd name="adj" fmla="val 4000"/>
              </a:avLst>
            </a:prstGeom>
            <a:solidFill>
              <a:srgbClr val="FFFFFF"/>
            </a:solidFill>
            <a:ln w="9525">
              <a:solidFill>
                <a:srgbClr val="D7DAE4"/>
              </a:solidFill>
            </a:ln>
          </p:spPr>
          <p:txBody>
            <a:bodyPr/>
            <a:lstStyle/>
            <a:p>
              <a:endParaRPr lang="vi-VN"/>
            </a:p>
          </p:txBody>
        </p:sp>
        <p:sp>
          <p:nvSpPr>
            <p:cNvPr id="1138" name="step2 text"/>
            <p:cNvSpPr txBox="1"/>
            <p:nvPr/>
          </p:nvSpPr>
          <p:spPr>
            <a:xfrm>
              <a:off x="9564624" y="1335024"/>
              <a:ext cx="2039112" cy="3337560"/>
            </a:xfrm>
            <a:prstGeom prst="rect">
              <a:avLst/>
            </a:prstGeom>
            <a:noFill/>
          </p:spPr>
          <p:txBody>
            <a:bodyPr wrap="square" lIns="0" tIns="0" rIns="0" bIns="0" anchor="t">
              <a:noAutofit/>
            </a:bodyPr>
            <a:lstStyle/>
            <a:p>
              <a:pPr algn="l">
                <a:spcBef>
                  <a:spcPts val="0"/>
                </a:spcBef>
                <a:spcAft>
                  <a:spcPts val="300"/>
                </a:spcAft>
              </a:pPr>
              <a:r>
                <a:rPr lang="vi-VN" sz="900" b="1" i="0" dirty="0">
                  <a:solidFill>
                    <a:srgbClr val="5658D2"/>
                  </a:solidFill>
                  <a:latin typeface="Aptos"/>
                </a:rPr>
                <a:t>BƯỚC 2 / 7</a:t>
              </a:r>
            </a:p>
            <a:p>
              <a:pPr algn="l">
                <a:spcBef>
                  <a:spcPts val="0"/>
                </a:spcBef>
                <a:spcAft>
                  <a:spcPts val="600"/>
                </a:spcAft>
              </a:pPr>
              <a:r>
                <a:rPr lang="vi-VN" sz="1400" b="1" i="0" dirty="0">
                  <a:solidFill>
                    <a:srgbClr val="141824"/>
                  </a:solidFill>
                  <a:latin typeface="Aptos"/>
                </a:rPr>
                <a:t>Đoán chuyển động</a:t>
              </a:r>
            </a:p>
            <a:p>
              <a:pPr algn="l">
                <a:lnSpc>
                  <a:spcPct val="105000"/>
                </a:lnSpc>
                <a:spcBef>
                  <a:spcPts val="0"/>
                </a:spcBef>
                <a:spcAft>
                  <a:spcPts val="0"/>
                </a:spcAft>
              </a:pPr>
              <a:r>
                <a:rPr lang="vi-VN" sz="1100" b="0" i="0" dirty="0">
                  <a:solidFill>
                    <a:srgbClr val="4A5166"/>
                  </a:solidFill>
                  <a:latin typeface="Aptos"/>
                </a:rPr>
                <a:t>So hai bản đồ hướng mặt, GReg đoán mỗi điểm trên người đã đi từ đâu tới đâu. Kết quả là bản đồ luồng F. Nó cũng đoán mặt nạ O, cho biết chỗ nào của ảnh cũ còn dùng được, chỗ nào bị che và phải vẽ mới.</a:t>
              </a:r>
            </a:p>
          </p:txBody>
        </p:sp>
      </p:grpSp>
      <p:sp>
        <p:nvSpPr>
          <p:cNvPr id="1139" name="packet Nt_flow 0"/>
          <p:cNvSpPr/>
          <p:nvPr/>
        </p:nvSpPr>
        <p:spPr>
          <a:xfrm>
            <a:off x="1333970" y="3520161"/>
            <a:ext cx="68441" cy="68441"/>
          </a:xfrm>
          <a:prstGeom prst="ellipse">
            <a:avLst/>
          </a:prstGeom>
          <a:solidFill>
            <a:srgbClr val="5658D2"/>
          </a:solidFill>
          <a:ln w="12700">
            <a:solidFill>
              <a:srgbClr val="FFFFFF"/>
            </a:solidFill>
          </a:ln>
        </p:spPr>
        <p:txBody>
          <a:bodyPr/>
          <a:lstStyle/>
          <a:p>
            <a:endParaRPr lang="vi-VN"/>
          </a:p>
        </p:txBody>
      </p:sp>
      <p:sp>
        <p:nvSpPr>
          <p:cNvPr id="1140" name="packet Ns_flow 0"/>
          <p:cNvSpPr/>
          <p:nvPr/>
        </p:nvSpPr>
        <p:spPr>
          <a:xfrm>
            <a:off x="1333970" y="4874093"/>
            <a:ext cx="68441" cy="68441"/>
          </a:xfrm>
          <a:prstGeom prst="ellipse">
            <a:avLst/>
          </a:prstGeom>
          <a:solidFill>
            <a:srgbClr val="5658D2"/>
          </a:solidFill>
          <a:ln w="12700">
            <a:solidFill>
              <a:srgbClr val="FFFFFF"/>
            </a:solidFill>
          </a:ln>
        </p:spPr>
        <p:txBody>
          <a:bodyPr/>
          <a:lstStyle/>
          <a:p>
            <a:endParaRPr lang="vi-VN"/>
          </a:p>
        </p:txBody>
      </p:sp>
      <p:sp>
        <p:nvSpPr>
          <p:cNvPr id="1141" name="packet flow_F 0"/>
          <p:cNvSpPr/>
          <p:nvPr/>
        </p:nvSpPr>
        <p:spPr>
          <a:xfrm>
            <a:off x="2859003" y="4427742"/>
            <a:ext cx="68441" cy="68441"/>
          </a:xfrm>
          <a:prstGeom prst="ellipse">
            <a:avLst/>
          </a:prstGeom>
          <a:solidFill>
            <a:srgbClr val="687086"/>
          </a:solidFill>
          <a:ln w="12700">
            <a:solidFill>
              <a:srgbClr val="FFFFFF"/>
            </a:solidFill>
          </a:ln>
        </p:spPr>
        <p:txBody>
          <a:bodyPr/>
          <a:lstStyle/>
          <a:p>
            <a:endParaRPr lang="vi-VN"/>
          </a:p>
        </p:txBody>
      </p:sp>
      <p:sp>
        <p:nvSpPr>
          <p:cNvPr id="1142" name="packet flow_O 0"/>
          <p:cNvSpPr/>
          <p:nvPr/>
        </p:nvSpPr>
        <p:spPr>
          <a:xfrm>
            <a:off x="2859003" y="4546769"/>
            <a:ext cx="68441" cy="68441"/>
          </a:xfrm>
          <a:prstGeom prst="ellipse">
            <a:avLst/>
          </a:prstGeom>
          <a:solidFill>
            <a:srgbClr val="687086"/>
          </a:solidFill>
          <a:ln w="12700">
            <a:solidFill>
              <a:srgbClr val="FFFFFF"/>
            </a:solidFill>
          </a:ln>
        </p:spPr>
        <p:txBody>
          <a:bodyPr/>
          <a:lstStyle/>
          <a:p>
            <a:endParaRPr lang="vi-VN"/>
          </a:p>
        </p:txBody>
      </p:sp>
      <p:grpSp>
        <p:nvGrpSpPr>
          <p:cNvPr id="1143" name="Bước 3: Kéo ảnh nguồn"/>
          <p:cNvGrpSpPr/>
          <p:nvPr/>
        </p:nvGrpSpPr>
        <p:grpSpPr>
          <a:xfrm>
            <a:off x="0" y="0"/>
            <a:ext cx="12191695" cy="6858000"/>
            <a:chOff x="0" y="0"/>
            <a:chExt cx="12191695" cy="6858000"/>
          </a:xfrm>
        </p:grpSpPr>
        <p:sp>
          <p:nvSpPr>
            <p:cNvPr id="1144" name="dim"/>
            <p:cNvSpPr/>
            <p:nvPr/>
          </p:nvSpPr>
          <p:spPr>
            <a:xfrm>
              <a:off x="402336" y="1133856"/>
              <a:ext cx="8924544" cy="4573239"/>
            </a:xfrm>
            <a:prstGeom prst="roundRect">
              <a:avLst>
                <a:gd name="adj" fmla="val 2500"/>
              </a:avLst>
            </a:prstGeom>
            <a:solidFill>
              <a:srgbClr val="FFFFFF">
                <a:alpha val="70000"/>
              </a:srgbClr>
            </a:solidFill>
            <a:ln>
              <a:noFill/>
            </a:ln>
          </p:spPr>
          <p:txBody>
            <a:bodyPr/>
            <a:lstStyle/>
            <a:p>
              <a:endParaRPr lang="vi-VN"/>
            </a:p>
          </p:txBody>
        </p:sp>
        <p:sp>
          <p:nvSpPr>
            <p:cNvPr id="1145" name="wire Is_warp"/>
            <p:cNvSpPr/>
            <p:nvPr/>
          </p:nvSpPr>
          <p:spPr>
            <a:xfrm>
              <a:off x="1323555" y="1679706"/>
              <a:ext cx="3362512" cy="89270"/>
            </a:xfrm>
            <a:custGeom>
              <a:avLst/>
              <a:gdLst/>
              <a:ahLst/>
              <a:cxnLst/>
              <a:rect l="0" t="0" r="r" b="b"/>
              <a:pathLst>
                <a:path w="3362512" h="89270" fill="none">
                  <a:moveTo>
                    <a:pt x="44635" y="44635"/>
                  </a:moveTo>
                  <a:lnTo>
                    <a:pt x="3317877" y="44635"/>
                  </a:lnTo>
                </a:path>
              </a:pathLst>
            </a:custGeom>
            <a:noFill/>
            <a:ln w="25400" cap="rnd">
              <a:solidFill>
                <a:srgbClr val="BF6A12"/>
              </a:solidFill>
              <a:round/>
              <a:tailEnd type="triangle" w="med" len="med"/>
            </a:ln>
          </p:spPr>
          <p:txBody>
            <a:bodyPr/>
            <a:lstStyle/>
            <a:p>
              <a:endParaRPr lang="vi-VN"/>
            </a:p>
          </p:txBody>
        </p:sp>
        <p:sp>
          <p:nvSpPr>
            <p:cNvPr id="1146" name="wire F_warp"/>
            <p:cNvSpPr/>
            <p:nvPr/>
          </p:nvSpPr>
          <p:spPr>
            <a:xfrm>
              <a:off x="3927271" y="1858247"/>
              <a:ext cx="758797" cy="2536763"/>
            </a:xfrm>
            <a:custGeom>
              <a:avLst/>
              <a:gdLst/>
              <a:ahLst/>
              <a:cxnLst/>
              <a:rect l="0" t="0" r="r" b="b"/>
              <a:pathLst>
                <a:path w="758797" h="2536763" fill="none">
                  <a:moveTo>
                    <a:pt x="44635" y="2492127"/>
                  </a:moveTo>
                  <a:lnTo>
                    <a:pt x="424034" y="2492127"/>
                  </a:lnTo>
                  <a:quadBezTo>
                    <a:pt x="490986" y="2492127"/>
                    <a:pt x="490986" y="2425175"/>
                  </a:quadBezTo>
                  <a:lnTo>
                    <a:pt x="490986" y="111588"/>
                  </a:lnTo>
                  <a:quadBezTo>
                    <a:pt x="490986" y="44635"/>
                    <a:pt x="557939" y="44635"/>
                  </a:quadBezTo>
                  <a:lnTo>
                    <a:pt x="714162" y="44635"/>
                  </a:lnTo>
                </a:path>
              </a:pathLst>
            </a:custGeom>
            <a:noFill/>
            <a:ln w="25400" cap="rnd">
              <a:solidFill>
                <a:srgbClr val="687086"/>
              </a:solidFill>
              <a:round/>
              <a:tailEnd type="triangle" w="med" len="med"/>
            </a:ln>
          </p:spPr>
          <p:txBody>
            <a:bodyPr/>
            <a:lstStyle/>
            <a:p>
              <a:endParaRPr lang="vi-VN"/>
            </a:p>
          </p:txBody>
        </p:sp>
        <p:sp>
          <p:nvSpPr>
            <p:cNvPr id="1147" name="wire warp_Ist"/>
            <p:cNvSpPr/>
            <p:nvPr/>
          </p:nvSpPr>
          <p:spPr>
            <a:xfrm>
              <a:off x="5563892" y="1739220"/>
              <a:ext cx="386838" cy="89270"/>
            </a:xfrm>
            <a:custGeom>
              <a:avLst/>
              <a:gdLst/>
              <a:ahLst/>
              <a:cxnLst/>
              <a:rect l="0" t="0" r="r" b="b"/>
              <a:pathLst>
                <a:path w="386838" h="89270" fill="none">
                  <a:moveTo>
                    <a:pt x="44635" y="44635"/>
                  </a:moveTo>
                  <a:lnTo>
                    <a:pt x="342203" y="44635"/>
                  </a:lnTo>
                </a:path>
              </a:pathLst>
            </a:custGeom>
            <a:noFill/>
            <a:ln w="25400" cap="rnd">
              <a:solidFill>
                <a:srgbClr val="BF6A12"/>
              </a:solidFill>
              <a:round/>
              <a:tailEnd type="triangle" w="med" len="med"/>
            </a:ln>
          </p:spPr>
          <p:txBody>
            <a:bodyPr/>
            <a:lstStyle/>
            <a:p>
              <a:endParaRPr lang="vi-VN"/>
            </a:p>
          </p:txBody>
        </p:sp>
        <p:pic>
          <p:nvPicPr>
            <p:cNvPr id="1148" name="thumb Is" descr="Ảnh nguồn I_{s}"/>
            <p:cNvPicPr>
              <a:picLocks noChangeAspect="1"/>
            </p:cNvPicPr>
            <p:nvPr/>
          </p:nvPicPr>
          <p:blipFill>
            <a:blip r:embed="rId2"/>
            <a:stretch>
              <a:fillRect/>
            </a:stretch>
          </p:blipFill>
          <p:spPr>
            <a:xfrm>
              <a:off x="624272" y="1411896"/>
              <a:ext cx="743919" cy="743919"/>
            </a:xfrm>
            <a:prstGeom prst="rect">
              <a:avLst/>
            </a:prstGeom>
          </p:spPr>
        </p:pic>
        <p:sp>
          <p:nvSpPr>
            <p:cNvPr id="1149" name="frame Is"/>
            <p:cNvSpPr/>
            <p:nvPr/>
          </p:nvSpPr>
          <p:spPr>
            <a:xfrm>
              <a:off x="624272" y="1411896"/>
              <a:ext cx="743919" cy="743919"/>
            </a:xfrm>
            <a:prstGeom prst="rect">
              <a:avLst/>
            </a:prstGeom>
            <a:noFill/>
            <a:ln w="20320">
              <a:solidFill>
                <a:srgbClr val="5658D2"/>
              </a:solidFill>
            </a:ln>
          </p:spPr>
          <p:txBody>
            <a:bodyPr/>
            <a:lstStyle/>
            <a:p>
              <a:endParaRPr lang="vi-VN"/>
            </a:p>
          </p:txBody>
        </p:sp>
        <p:sp>
          <p:nvSpPr>
            <p:cNvPr id="1150" name="label"/>
            <p:cNvSpPr txBox="1"/>
            <p:nvPr/>
          </p:nvSpPr>
          <p:spPr>
            <a:xfrm>
              <a:off x="363900" y="2133109"/>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nguồn</a:t>
              </a:r>
            </a:p>
          </p:txBody>
        </p:sp>
        <p:sp>
          <p:nvSpPr>
            <p:cNvPr id="1151" name="label"/>
            <p:cNvSpPr txBox="1"/>
            <p:nvPr/>
          </p:nvSpPr>
          <p:spPr>
            <a:xfrm>
              <a:off x="363900" y="2237257"/>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I</a:t>
              </a:r>
              <a:r>
                <a:rPr lang="vi-VN" sz="640" b="0" i="0" baseline="-25000" dirty="0">
                  <a:solidFill>
                    <a:srgbClr val="767D93"/>
                  </a:solidFill>
                  <a:latin typeface="Aptos"/>
                </a:rPr>
                <a:t>s</a:t>
              </a:r>
            </a:p>
          </p:txBody>
        </p:sp>
        <p:pic>
          <p:nvPicPr>
            <p:cNvPr id="1152" name="thumb F" descr="Luồng F"/>
            <p:cNvPicPr>
              <a:picLocks noChangeAspect="1"/>
            </p:cNvPicPr>
            <p:nvPr/>
          </p:nvPicPr>
          <p:blipFill>
            <a:blip r:embed="rId7"/>
            <a:stretch>
              <a:fillRect/>
            </a:stretch>
          </p:blipFill>
          <p:spPr>
            <a:xfrm>
              <a:off x="3302379" y="4015611"/>
              <a:ext cx="669527" cy="669527"/>
            </a:xfrm>
            <a:prstGeom prst="rect">
              <a:avLst/>
            </a:prstGeom>
          </p:spPr>
        </p:pic>
        <p:sp>
          <p:nvSpPr>
            <p:cNvPr id="1153" name="frame F"/>
            <p:cNvSpPr/>
            <p:nvPr/>
          </p:nvSpPr>
          <p:spPr>
            <a:xfrm>
              <a:off x="3302379" y="4015611"/>
              <a:ext cx="669527" cy="669527"/>
            </a:xfrm>
            <a:prstGeom prst="rect">
              <a:avLst/>
            </a:prstGeom>
            <a:noFill/>
            <a:ln w="20320">
              <a:solidFill>
                <a:srgbClr val="5658D2"/>
              </a:solidFill>
            </a:ln>
          </p:spPr>
          <p:txBody>
            <a:bodyPr/>
            <a:lstStyle/>
            <a:p>
              <a:endParaRPr lang="vi-VN"/>
            </a:p>
          </p:txBody>
        </p:sp>
        <p:sp>
          <p:nvSpPr>
            <p:cNvPr id="1154" name="label"/>
            <p:cNvSpPr txBox="1"/>
            <p:nvPr/>
          </p:nvSpPr>
          <p:spPr>
            <a:xfrm>
              <a:off x="3004811" y="3814365"/>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Luồng  F</a:t>
              </a:r>
            </a:p>
          </p:txBody>
        </p:sp>
        <p:sp>
          <p:nvSpPr>
            <p:cNvPr id="1155" name="box warp"/>
            <p:cNvSpPr/>
            <p:nvPr/>
          </p:nvSpPr>
          <p:spPr>
            <a:xfrm>
              <a:off x="4641432" y="1575558"/>
              <a:ext cx="967094" cy="416594"/>
            </a:xfrm>
            <a:prstGeom prst="roundRect">
              <a:avLst>
                <a:gd name="adj" fmla="val 14000"/>
              </a:avLst>
            </a:prstGeom>
            <a:solidFill>
              <a:srgbClr val="FFFFFF"/>
            </a:solidFill>
            <a:ln w="20320">
              <a:solidFill>
                <a:srgbClr val="5658D2"/>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Kéo ảnh</a:t>
              </a:r>
            </a:p>
            <a:p>
              <a:pPr algn="ctr">
                <a:spcBef>
                  <a:spcPts val="0"/>
                </a:spcBef>
                <a:spcAft>
                  <a:spcPts val="0"/>
                </a:spcAft>
              </a:pPr>
              <a:r>
                <a:rPr lang="vi-VN" sz="800" b="0" i="0" dirty="0">
                  <a:solidFill>
                    <a:srgbClr val="767D93"/>
                  </a:solidFill>
                  <a:latin typeface="Aptos"/>
                </a:rPr>
                <a:t>theo luồng F</a:t>
              </a:r>
            </a:p>
          </p:txBody>
        </p:sp>
        <p:pic>
          <p:nvPicPr>
            <p:cNvPr id="1156" name="thumb Ist" descr="Ảnh đã kéo I_{s→t}"/>
            <p:cNvPicPr>
              <a:picLocks noChangeAspect="1"/>
            </p:cNvPicPr>
            <p:nvPr/>
          </p:nvPicPr>
          <p:blipFill>
            <a:blip r:embed="rId9"/>
            <a:stretch>
              <a:fillRect/>
            </a:stretch>
          </p:blipFill>
          <p:spPr>
            <a:xfrm>
              <a:off x="5906094" y="1411896"/>
              <a:ext cx="743919" cy="743919"/>
            </a:xfrm>
            <a:prstGeom prst="rect">
              <a:avLst/>
            </a:prstGeom>
          </p:spPr>
        </p:pic>
        <p:sp>
          <p:nvSpPr>
            <p:cNvPr id="1157" name="frame Ist"/>
            <p:cNvSpPr/>
            <p:nvPr/>
          </p:nvSpPr>
          <p:spPr>
            <a:xfrm>
              <a:off x="5906094" y="1411896"/>
              <a:ext cx="743919" cy="743919"/>
            </a:xfrm>
            <a:prstGeom prst="rect">
              <a:avLst/>
            </a:prstGeom>
            <a:noFill/>
            <a:ln w="20320">
              <a:solidFill>
                <a:srgbClr val="5658D2"/>
              </a:solidFill>
            </a:ln>
          </p:spPr>
          <p:txBody>
            <a:bodyPr/>
            <a:lstStyle/>
            <a:p>
              <a:endParaRPr lang="vi-VN"/>
            </a:p>
          </p:txBody>
        </p:sp>
        <p:sp>
          <p:nvSpPr>
            <p:cNvPr id="1158" name="label"/>
            <p:cNvSpPr txBox="1"/>
            <p:nvPr/>
          </p:nvSpPr>
          <p:spPr>
            <a:xfrm>
              <a:off x="5645723" y="1210650"/>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đã kéo  I</a:t>
              </a:r>
              <a:r>
                <a:rPr lang="vi-VN" sz="680" b="1" i="0" baseline="-25000" dirty="0">
                  <a:solidFill>
                    <a:srgbClr val="141824"/>
                  </a:solidFill>
                  <a:latin typeface="Aptos"/>
                </a:rPr>
                <a:t>s→t</a:t>
              </a:r>
            </a:p>
          </p:txBody>
        </p:sp>
        <p:sp>
          <p:nvSpPr>
            <p:cNvPr id="1159" name="step3 card"/>
            <p:cNvSpPr/>
            <p:nvPr/>
          </p:nvSpPr>
          <p:spPr>
            <a:xfrm>
              <a:off x="9418320" y="1188720"/>
              <a:ext cx="2331720" cy="3611880"/>
            </a:xfrm>
            <a:prstGeom prst="roundRect">
              <a:avLst>
                <a:gd name="adj" fmla="val 4000"/>
              </a:avLst>
            </a:prstGeom>
            <a:solidFill>
              <a:srgbClr val="FFFFFF"/>
            </a:solidFill>
            <a:ln w="9525">
              <a:solidFill>
                <a:srgbClr val="D7DAE4"/>
              </a:solidFill>
            </a:ln>
          </p:spPr>
          <p:txBody>
            <a:bodyPr/>
            <a:lstStyle/>
            <a:p>
              <a:endParaRPr lang="vi-VN"/>
            </a:p>
          </p:txBody>
        </p:sp>
        <p:sp>
          <p:nvSpPr>
            <p:cNvPr id="1160" name="step3 text"/>
            <p:cNvSpPr txBox="1"/>
            <p:nvPr/>
          </p:nvSpPr>
          <p:spPr>
            <a:xfrm>
              <a:off x="9564624" y="1335024"/>
              <a:ext cx="2039112" cy="3337560"/>
            </a:xfrm>
            <a:prstGeom prst="rect">
              <a:avLst/>
            </a:prstGeom>
            <a:noFill/>
          </p:spPr>
          <p:txBody>
            <a:bodyPr wrap="square" lIns="0" tIns="0" rIns="0" bIns="0" anchor="t">
              <a:noAutofit/>
            </a:bodyPr>
            <a:lstStyle/>
            <a:p>
              <a:pPr algn="l">
                <a:spcBef>
                  <a:spcPts val="0"/>
                </a:spcBef>
                <a:spcAft>
                  <a:spcPts val="300"/>
                </a:spcAft>
              </a:pPr>
              <a:r>
                <a:rPr lang="vi-VN" sz="900" b="1" i="0" dirty="0">
                  <a:solidFill>
                    <a:srgbClr val="5658D2"/>
                  </a:solidFill>
                  <a:latin typeface="Aptos"/>
                </a:rPr>
                <a:t>BƯỚC 3 / 7</a:t>
              </a:r>
            </a:p>
            <a:p>
              <a:pPr algn="l">
                <a:spcBef>
                  <a:spcPts val="0"/>
                </a:spcBef>
                <a:spcAft>
                  <a:spcPts val="600"/>
                </a:spcAft>
              </a:pPr>
              <a:r>
                <a:rPr lang="vi-VN" sz="1400" b="1" i="0" dirty="0">
                  <a:solidFill>
                    <a:srgbClr val="141824"/>
                  </a:solidFill>
                  <a:latin typeface="Aptos"/>
                </a:rPr>
                <a:t>Kéo ảnh nguồn</a:t>
              </a:r>
            </a:p>
            <a:p>
              <a:pPr algn="l">
                <a:lnSpc>
                  <a:spcPct val="105000"/>
                </a:lnSpc>
                <a:spcBef>
                  <a:spcPts val="0"/>
                </a:spcBef>
                <a:spcAft>
                  <a:spcPts val="0"/>
                </a:spcAft>
              </a:pPr>
              <a:r>
                <a:rPr lang="vi-VN" sz="1100" b="0" i="0" dirty="0">
                  <a:solidFill>
                    <a:srgbClr val="4A5166"/>
                  </a:solidFill>
                  <a:latin typeface="Aptos"/>
                </a:rPr>
                <a:t>Theo bản đồ luồng, GReg kéo từng điểm ảnh của ảnh nguồn về vị trí mới. Ảnh đã kéo giữ đúng màu da, màu áo của người thật. Nhưng nó sai ở những chỗ khó, nhất là bàn tay.</a:t>
              </a:r>
            </a:p>
          </p:txBody>
        </p:sp>
      </p:grpSp>
      <p:sp>
        <p:nvSpPr>
          <p:cNvPr id="1161" name="packet Is_warp 0"/>
          <p:cNvSpPr/>
          <p:nvPr/>
        </p:nvSpPr>
        <p:spPr>
          <a:xfrm>
            <a:off x="1333970" y="1690121"/>
            <a:ext cx="68441" cy="68441"/>
          </a:xfrm>
          <a:prstGeom prst="ellipse">
            <a:avLst/>
          </a:prstGeom>
          <a:solidFill>
            <a:srgbClr val="BF6A12"/>
          </a:solidFill>
          <a:ln w="12700">
            <a:solidFill>
              <a:srgbClr val="FFFFFF"/>
            </a:solidFill>
          </a:ln>
        </p:spPr>
        <p:txBody>
          <a:bodyPr/>
          <a:lstStyle/>
          <a:p>
            <a:endParaRPr lang="vi-VN"/>
          </a:p>
        </p:txBody>
      </p:sp>
      <p:sp>
        <p:nvSpPr>
          <p:cNvPr id="1162" name="packet Is_warp 1"/>
          <p:cNvSpPr/>
          <p:nvPr/>
        </p:nvSpPr>
        <p:spPr>
          <a:xfrm>
            <a:off x="1333970" y="1690121"/>
            <a:ext cx="68441" cy="68441"/>
          </a:xfrm>
          <a:prstGeom prst="ellipse">
            <a:avLst/>
          </a:prstGeom>
          <a:solidFill>
            <a:srgbClr val="BF6A12"/>
          </a:solidFill>
          <a:ln w="12700">
            <a:solidFill>
              <a:srgbClr val="FFFFFF"/>
            </a:solidFill>
          </a:ln>
        </p:spPr>
        <p:txBody>
          <a:bodyPr/>
          <a:lstStyle/>
          <a:p>
            <a:endParaRPr lang="vi-VN"/>
          </a:p>
        </p:txBody>
      </p:sp>
      <p:sp>
        <p:nvSpPr>
          <p:cNvPr id="1163" name="packet F_warp 0"/>
          <p:cNvSpPr/>
          <p:nvPr/>
        </p:nvSpPr>
        <p:spPr>
          <a:xfrm>
            <a:off x="3937685" y="4316154"/>
            <a:ext cx="68441" cy="68441"/>
          </a:xfrm>
          <a:prstGeom prst="ellipse">
            <a:avLst/>
          </a:prstGeom>
          <a:solidFill>
            <a:srgbClr val="687086"/>
          </a:solidFill>
          <a:ln w="12700">
            <a:solidFill>
              <a:srgbClr val="FFFFFF"/>
            </a:solidFill>
          </a:ln>
        </p:spPr>
        <p:txBody>
          <a:bodyPr/>
          <a:lstStyle/>
          <a:p>
            <a:endParaRPr lang="vi-VN"/>
          </a:p>
        </p:txBody>
      </p:sp>
      <p:sp>
        <p:nvSpPr>
          <p:cNvPr id="1164" name="packet F_warp 1"/>
          <p:cNvSpPr/>
          <p:nvPr/>
        </p:nvSpPr>
        <p:spPr>
          <a:xfrm>
            <a:off x="3937685" y="4316154"/>
            <a:ext cx="68441" cy="68441"/>
          </a:xfrm>
          <a:prstGeom prst="ellipse">
            <a:avLst/>
          </a:prstGeom>
          <a:solidFill>
            <a:srgbClr val="687086"/>
          </a:solidFill>
          <a:ln w="12700">
            <a:solidFill>
              <a:srgbClr val="FFFFFF"/>
            </a:solidFill>
          </a:ln>
        </p:spPr>
        <p:txBody>
          <a:bodyPr/>
          <a:lstStyle/>
          <a:p>
            <a:endParaRPr lang="vi-VN"/>
          </a:p>
        </p:txBody>
      </p:sp>
      <p:sp>
        <p:nvSpPr>
          <p:cNvPr id="1165" name="packet warp_Ist 0"/>
          <p:cNvSpPr/>
          <p:nvPr/>
        </p:nvSpPr>
        <p:spPr>
          <a:xfrm>
            <a:off x="5574306" y="1749635"/>
            <a:ext cx="68441" cy="68441"/>
          </a:xfrm>
          <a:prstGeom prst="ellipse">
            <a:avLst/>
          </a:prstGeom>
          <a:solidFill>
            <a:srgbClr val="BF6A12"/>
          </a:solidFill>
          <a:ln w="12700">
            <a:solidFill>
              <a:srgbClr val="FFFFFF"/>
            </a:solidFill>
          </a:ln>
        </p:spPr>
        <p:txBody>
          <a:bodyPr/>
          <a:lstStyle/>
          <a:p>
            <a:endParaRPr lang="vi-VN"/>
          </a:p>
        </p:txBody>
      </p:sp>
      <p:grpSp>
        <p:nvGrpSpPr>
          <p:cNvPr id="1166" name="Bước 4: Chuyên gia vùng"/>
          <p:cNvGrpSpPr/>
          <p:nvPr/>
        </p:nvGrpSpPr>
        <p:grpSpPr>
          <a:xfrm>
            <a:off x="0" y="0"/>
            <a:ext cx="12191695" cy="6858000"/>
            <a:chOff x="0" y="0"/>
            <a:chExt cx="12191695" cy="6858000"/>
          </a:xfrm>
        </p:grpSpPr>
        <p:sp>
          <p:nvSpPr>
            <p:cNvPr id="1167" name="dim"/>
            <p:cNvSpPr/>
            <p:nvPr/>
          </p:nvSpPr>
          <p:spPr>
            <a:xfrm>
              <a:off x="402336" y="1133856"/>
              <a:ext cx="8924544" cy="4573239"/>
            </a:xfrm>
            <a:prstGeom prst="roundRect">
              <a:avLst>
                <a:gd name="adj" fmla="val 2500"/>
              </a:avLst>
            </a:prstGeom>
            <a:solidFill>
              <a:srgbClr val="FFFFFF">
                <a:alpha val="70000"/>
              </a:srgbClr>
            </a:solidFill>
            <a:ln>
              <a:noFill/>
            </a:ln>
          </p:spPr>
          <p:txBody>
            <a:bodyPr/>
            <a:lstStyle/>
            <a:p>
              <a:endParaRPr lang="vi-VN"/>
            </a:p>
          </p:txBody>
        </p:sp>
        <p:sp>
          <p:nvSpPr>
            <p:cNvPr id="1168" name="wire Is_re"/>
            <p:cNvSpPr/>
            <p:nvPr/>
          </p:nvSpPr>
          <p:spPr>
            <a:xfrm>
              <a:off x="1323555" y="1977274"/>
              <a:ext cx="498425" cy="520743"/>
            </a:xfrm>
            <a:custGeom>
              <a:avLst/>
              <a:gdLst/>
              <a:ahLst/>
              <a:cxnLst/>
              <a:rect l="0" t="0" r="r" b="b"/>
              <a:pathLst>
                <a:path w="498425" h="520743" fill="none">
                  <a:moveTo>
                    <a:pt x="44635" y="44635"/>
                  </a:moveTo>
                  <a:lnTo>
                    <a:pt x="163662" y="44635"/>
                  </a:lnTo>
                  <a:quadBezTo>
                    <a:pt x="230615" y="44635"/>
                    <a:pt x="230615" y="111588"/>
                  </a:quadBezTo>
                  <a:lnTo>
                    <a:pt x="230615" y="409155"/>
                  </a:lnTo>
                  <a:quadBezTo>
                    <a:pt x="230615" y="476108"/>
                    <a:pt x="297567" y="476108"/>
                  </a:quadBezTo>
                  <a:lnTo>
                    <a:pt x="453790" y="476108"/>
                  </a:lnTo>
                </a:path>
              </a:pathLst>
            </a:custGeom>
            <a:noFill/>
            <a:ln w="25400" cap="rnd">
              <a:solidFill>
                <a:srgbClr val="BF6A12"/>
              </a:solidFill>
              <a:prstDash val="dash"/>
              <a:round/>
              <a:tailEnd type="triangle" w="med" len="med"/>
            </a:ln>
          </p:spPr>
          <p:txBody>
            <a:bodyPr/>
            <a:lstStyle/>
            <a:p>
              <a:endParaRPr lang="vi-VN"/>
            </a:p>
          </p:txBody>
        </p:sp>
        <p:sp>
          <p:nvSpPr>
            <p:cNvPr id="1169" name="wire Nt_re"/>
            <p:cNvSpPr/>
            <p:nvPr/>
          </p:nvSpPr>
          <p:spPr>
            <a:xfrm>
              <a:off x="1323555" y="2527774"/>
              <a:ext cx="498425" cy="654648"/>
            </a:xfrm>
            <a:custGeom>
              <a:avLst/>
              <a:gdLst/>
              <a:ahLst/>
              <a:cxnLst/>
              <a:rect l="0" t="0" r="r" b="b"/>
              <a:pathLst>
                <a:path w="498425" h="654648" fill="none">
                  <a:moveTo>
                    <a:pt x="44635" y="610013"/>
                  </a:moveTo>
                  <a:lnTo>
                    <a:pt x="275250" y="610013"/>
                  </a:lnTo>
                  <a:quadBezTo>
                    <a:pt x="342203" y="610013"/>
                    <a:pt x="342203" y="543061"/>
                  </a:quadBezTo>
                  <a:lnTo>
                    <a:pt x="342203" y="100429"/>
                  </a:lnTo>
                  <a:quadBezTo>
                    <a:pt x="342203" y="44635"/>
                    <a:pt x="397996" y="44635"/>
                  </a:quadBezTo>
                  <a:lnTo>
                    <a:pt x="453790" y="44635"/>
                  </a:lnTo>
                </a:path>
              </a:pathLst>
            </a:custGeom>
            <a:noFill/>
            <a:ln w="25400" cap="rnd">
              <a:solidFill>
                <a:srgbClr val="5658D2"/>
              </a:solidFill>
              <a:round/>
              <a:tailEnd type="triangle" w="med" len="med"/>
            </a:ln>
          </p:spPr>
          <p:txBody>
            <a:bodyPr/>
            <a:lstStyle/>
            <a:p>
              <a:endParaRPr lang="vi-VN"/>
            </a:p>
          </p:txBody>
        </p:sp>
        <p:sp>
          <p:nvSpPr>
            <p:cNvPr id="1170" name="wire re_R"/>
            <p:cNvSpPr/>
            <p:nvPr/>
          </p:nvSpPr>
          <p:spPr>
            <a:xfrm>
              <a:off x="2848588" y="2468260"/>
              <a:ext cx="498425" cy="89270"/>
            </a:xfrm>
            <a:custGeom>
              <a:avLst/>
              <a:gdLst/>
              <a:ahLst/>
              <a:cxnLst/>
              <a:rect l="0" t="0" r="r" b="b"/>
              <a:pathLst>
                <a:path w="498425" h="89270" fill="none">
                  <a:moveTo>
                    <a:pt x="44635" y="44635"/>
                  </a:moveTo>
                  <a:lnTo>
                    <a:pt x="453790" y="44635"/>
                  </a:lnTo>
                </a:path>
              </a:pathLst>
            </a:custGeom>
            <a:noFill/>
            <a:ln w="25400" cap="rnd">
              <a:solidFill>
                <a:srgbClr val="0B8A82"/>
              </a:solidFill>
              <a:round/>
              <a:tailEnd type="triangle" w="med" len="med"/>
            </a:ln>
          </p:spPr>
          <p:txBody>
            <a:bodyPr/>
            <a:lstStyle/>
            <a:p>
              <a:endParaRPr lang="vi-VN"/>
            </a:p>
          </p:txBody>
        </p:sp>
        <p:pic>
          <p:nvPicPr>
            <p:cNvPr id="1171" name="thumb Is" descr="Ảnh nguồn I_{s}"/>
            <p:cNvPicPr>
              <a:picLocks noChangeAspect="1"/>
            </p:cNvPicPr>
            <p:nvPr/>
          </p:nvPicPr>
          <p:blipFill>
            <a:blip r:embed="rId2"/>
            <a:stretch>
              <a:fillRect/>
            </a:stretch>
          </p:blipFill>
          <p:spPr>
            <a:xfrm>
              <a:off x="624272" y="1411896"/>
              <a:ext cx="743919" cy="743919"/>
            </a:xfrm>
            <a:prstGeom prst="rect">
              <a:avLst/>
            </a:prstGeom>
          </p:spPr>
        </p:pic>
        <p:sp>
          <p:nvSpPr>
            <p:cNvPr id="1172" name="frame Is"/>
            <p:cNvSpPr/>
            <p:nvPr/>
          </p:nvSpPr>
          <p:spPr>
            <a:xfrm>
              <a:off x="624272" y="1411896"/>
              <a:ext cx="743919" cy="743919"/>
            </a:xfrm>
            <a:prstGeom prst="rect">
              <a:avLst/>
            </a:prstGeom>
            <a:noFill/>
            <a:ln w="20320">
              <a:solidFill>
                <a:srgbClr val="5658D2"/>
              </a:solidFill>
            </a:ln>
          </p:spPr>
          <p:txBody>
            <a:bodyPr/>
            <a:lstStyle/>
            <a:p>
              <a:endParaRPr lang="vi-VN"/>
            </a:p>
          </p:txBody>
        </p:sp>
        <p:sp>
          <p:nvSpPr>
            <p:cNvPr id="1173" name="label"/>
            <p:cNvSpPr txBox="1"/>
            <p:nvPr/>
          </p:nvSpPr>
          <p:spPr>
            <a:xfrm>
              <a:off x="363900" y="2133109"/>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nguồn</a:t>
              </a:r>
            </a:p>
          </p:txBody>
        </p:sp>
        <p:sp>
          <p:nvSpPr>
            <p:cNvPr id="1174" name="label"/>
            <p:cNvSpPr txBox="1"/>
            <p:nvPr/>
          </p:nvSpPr>
          <p:spPr>
            <a:xfrm>
              <a:off x="363900" y="2237257"/>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I</a:t>
              </a:r>
              <a:r>
                <a:rPr lang="vi-VN" sz="640" b="0" i="0" baseline="-25000" dirty="0">
                  <a:solidFill>
                    <a:srgbClr val="767D93"/>
                  </a:solidFill>
                  <a:latin typeface="Aptos"/>
                </a:rPr>
                <a:t>s</a:t>
              </a:r>
            </a:p>
          </p:txBody>
        </p:sp>
        <p:pic>
          <p:nvPicPr>
            <p:cNvPr id="1175" name="thumb Nt" descr="Hướng mặt mới N_{t}"/>
            <p:cNvPicPr>
              <a:picLocks noChangeAspect="1"/>
            </p:cNvPicPr>
            <p:nvPr/>
          </p:nvPicPr>
          <p:blipFill>
            <a:blip r:embed="rId3"/>
            <a:stretch>
              <a:fillRect/>
            </a:stretch>
          </p:blipFill>
          <p:spPr>
            <a:xfrm>
              <a:off x="624272" y="2974125"/>
              <a:ext cx="743919" cy="743919"/>
            </a:xfrm>
            <a:prstGeom prst="rect">
              <a:avLst/>
            </a:prstGeom>
          </p:spPr>
        </p:pic>
        <p:sp>
          <p:nvSpPr>
            <p:cNvPr id="1176" name="frame Nt"/>
            <p:cNvSpPr/>
            <p:nvPr/>
          </p:nvSpPr>
          <p:spPr>
            <a:xfrm>
              <a:off x="624272" y="2974125"/>
              <a:ext cx="743919" cy="743919"/>
            </a:xfrm>
            <a:prstGeom prst="rect">
              <a:avLst/>
            </a:prstGeom>
            <a:noFill/>
            <a:ln w="20320">
              <a:solidFill>
                <a:srgbClr val="5658D2"/>
              </a:solidFill>
            </a:ln>
          </p:spPr>
          <p:txBody>
            <a:bodyPr/>
            <a:lstStyle/>
            <a:p>
              <a:endParaRPr lang="vi-VN"/>
            </a:p>
          </p:txBody>
        </p:sp>
        <p:sp>
          <p:nvSpPr>
            <p:cNvPr id="1177" name="label"/>
            <p:cNvSpPr txBox="1"/>
            <p:nvPr/>
          </p:nvSpPr>
          <p:spPr>
            <a:xfrm>
              <a:off x="363900" y="3695338"/>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mới</a:t>
              </a:r>
            </a:p>
          </p:txBody>
        </p:sp>
        <p:sp>
          <p:nvSpPr>
            <p:cNvPr id="1178" name="label"/>
            <p:cNvSpPr txBox="1"/>
            <p:nvPr/>
          </p:nvSpPr>
          <p:spPr>
            <a:xfrm>
              <a:off x="363900" y="379948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t</a:t>
              </a:r>
            </a:p>
          </p:txBody>
        </p:sp>
        <p:sp>
          <p:nvSpPr>
            <p:cNvPr id="1179" name="box re"/>
            <p:cNvSpPr/>
            <p:nvPr/>
          </p:nvSpPr>
          <p:spPr>
            <a:xfrm>
              <a:off x="1777346" y="2304598"/>
              <a:ext cx="1115878" cy="416594"/>
            </a:xfrm>
            <a:prstGeom prst="roundRect">
              <a:avLst>
                <a:gd name="adj" fmla="val 14000"/>
              </a:avLst>
            </a:prstGeom>
            <a:solidFill>
              <a:srgbClr val="FFFFFF"/>
            </a:solidFill>
            <a:ln w="20320">
              <a:solidFill>
                <a:srgbClr val="5658D2"/>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Chuyên gia vùng</a:t>
              </a:r>
            </a:p>
            <a:p>
              <a:pPr algn="ctr">
                <a:spcBef>
                  <a:spcPts val="0"/>
                </a:spcBef>
                <a:spcAft>
                  <a:spcPts val="0"/>
                </a:spcAft>
              </a:pPr>
              <a:r>
                <a:rPr lang="vi-VN" sz="800" b="0" i="0" dirty="0">
                  <a:solidFill>
                    <a:srgbClr val="767D93"/>
                  </a:solidFill>
                  <a:latin typeface="Aptos"/>
                </a:rPr>
                <a:t>RPG · ×3</a:t>
              </a:r>
            </a:p>
          </p:txBody>
        </p:sp>
        <p:pic>
          <p:nvPicPr>
            <p:cNvPr id="1180" name="thumb R" descr="Khung gợi ý R"/>
            <p:cNvPicPr>
              <a:picLocks noChangeAspect="1"/>
            </p:cNvPicPr>
            <p:nvPr/>
          </p:nvPicPr>
          <p:blipFill>
            <a:blip r:embed="rId5"/>
            <a:stretch>
              <a:fillRect/>
            </a:stretch>
          </p:blipFill>
          <p:spPr>
            <a:xfrm>
              <a:off x="3302379" y="2178132"/>
              <a:ext cx="669527" cy="669527"/>
            </a:xfrm>
            <a:prstGeom prst="rect">
              <a:avLst/>
            </a:prstGeom>
          </p:spPr>
        </p:pic>
        <p:sp>
          <p:nvSpPr>
            <p:cNvPr id="1181" name="frame R"/>
            <p:cNvSpPr/>
            <p:nvPr/>
          </p:nvSpPr>
          <p:spPr>
            <a:xfrm>
              <a:off x="3302379" y="2178132"/>
              <a:ext cx="669527" cy="669527"/>
            </a:xfrm>
            <a:prstGeom prst="rect">
              <a:avLst/>
            </a:prstGeom>
            <a:noFill/>
            <a:ln w="20320">
              <a:solidFill>
                <a:srgbClr val="5658D2"/>
              </a:solidFill>
            </a:ln>
          </p:spPr>
          <p:txBody>
            <a:bodyPr/>
            <a:lstStyle/>
            <a:p>
              <a:endParaRPr lang="vi-VN"/>
            </a:p>
          </p:txBody>
        </p:sp>
        <p:sp>
          <p:nvSpPr>
            <p:cNvPr id="1182" name="label"/>
            <p:cNvSpPr txBox="1"/>
            <p:nvPr/>
          </p:nvSpPr>
          <p:spPr>
            <a:xfrm>
              <a:off x="3004811" y="1976886"/>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Khung gợi ý  R</a:t>
              </a:r>
            </a:p>
          </p:txBody>
        </p:sp>
        <p:sp>
          <p:nvSpPr>
            <p:cNvPr id="1183" name="step4 card"/>
            <p:cNvSpPr/>
            <p:nvPr/>
          </p:nvSpPr>
          <p:spPr>
            <a:xfrm>
              <a:off x="9418320" y="1188720"/>
              <a:ext cx="2331720" cy="3611880"/>
            </a:xfrm>
            <a:prstGeom prst="roundRect">
              <a:avLst>
                <a:gd name="adj" fmla="val 4000"/>
              </a:avLst>
            </a:prstGeom>
            <a:solidFill>
              <a:srgbClr val="FFFFFF"/>
            </a:solidFill>
            <a:ln w="9525">
              <a:solidFill>
                <a:srgbClr val="D7DAE4"/>
              </a:solidFill>
            </a:ln>
          </p:spPr>
          <p:txBody>
            <a:bodyPr/>
            <a:lstStyle/>
            <a:p>
              <a:endParaRPr lang="vi-VN"/>
            </a:p>
          </p:txBody>
        </p:sp>
        <p:sp>
          <p:nvSpPr>
            <p:cNvPr id="1184" name="step4 text"/>
            <p:cNvSpPr txBox="1"/>
            <p:nvPr/>
          </p:nvSpPr>
          <p:spPr>
            <a:xfrm>
              <a:off x="9564624" y="1335024"/>
              <a:ext cx="2039112" cy="3337560"/>
            </a:xfrm>
            <a:prstGeom prst="rect">
              <a:avLst/>
            </a:prstGeom>
            <a:noFill/>
          </p:spPr>
          <p:txBody>
            <a:bodyPr wrap="square" lIns="0" tIns="0" rIns="0" bIns="0" anchor="t">
              <a:noAutofit/>
            </a:bodyPr>
            <a:lstStyle/>
            <a:p>
              <a:pPr algn="l">
                <a:spcBef>
                  <a:spcPts val="0"/>
                </a:spcBef>
                <a:spcAft>
                  <a:spcPts val="300"/>
                </a:spcAft>
              </a:pPr>
              <a:r>
                <a:rPr lang="vi-VN" sz="900" b="1" i="0" dirty="0">
                  <a:solidFill>
                    <a:srgbClr val="5658D2"/>
                  </a:solidFill>
                  <a:latin typeface="Aptos"/>
                </a:rPr>
                <a:t>BƯỚC 4 / 7</a:t>
              </a:r>
            </a:p>
            <a:p>
              <a:pPr algn="l">
                <a:spcBef>
                  <a:spcPts val="0"/>
                </a:spcBef>
                <a:spcAft>
                  <a:spcPts val="600"/>
                </a:spcAft>
              </a:pPr>
              <a:r>
                <a:rPr lang="vi-VN" sz="1400" b="1" i="0" dirty="0">
                  <a:solidFill>
                    <a:srgbClr val="141824"/>
                  </a:solidFill>
                  <a:latin typeface="Aptos"/>
                </a:rPr>
                <a:t>Chuyên gia vùng</a:t>
              </a:r>
            </a:p>
            <a:p>
              <a:pPr algn="l">
                <a:lnSpc>
                  <a:spcPct val="105000"/>
                </a:lnSpc>
                <a:spcBef>
                  <a:spcPts val="0"/>
                </a:spcBef>
                <a:spcAft>
                  <a:spcPts val="0"/>
                </a:spcAft>
              </a:pPr>
              <a:r>
                <a:rPr lang="vi-VN" sz="1100" b="0" i="0" dirty="0">
                  <a:solidFill>
                    <a:srgbClr val="4A5166"/>
                  </a:solidFill>
                  <a:latin typeface="Aptos"/>
                </a:rPr>
                <a:t>GReg cắt ba vùng mặt, tay trái, tay phải từ bản đồ hướng mặt mới. Mỗi vùng đi qua một mạng nhỏ chuyên vẽ vùng đó, kèm một mã tóm tắt ngoại hình lấy từ ảnh nguồn. Kết quả được dán lại đúng chỗ trên ba tấm nền đen, gọi là khung gợi ý R.</a:t>
              </a:r>
            </a:p>
          </p:txBody>
        </p:sp>
      </p:grpSp>
      <p:sp>
        <p:nvSpPr>
          <p:cNvPr id="1185" name="packet Is_re 0"/>
          <p:cNvSpPr/>
          <p:nvPr/>
        </p:nvSpPr>
        <p:spPr>
          <a:xfrm>
            <a:off x="1333970" y="1987689"/>
            <a:ext cx="68441" cy="68441"/>
          </a:xfrm>
          <a:prstGeom prst="ellipse">
            <a:avLst/>
          </a:prstGeom>
          <a:solidFill>
            <a:srgbClr val="BF6A12"/>
          </a:solidFill>
          <a:ln w="12700">
            <a:solidFill>
              <a:srgbClr val="FFFFFF"/>
            </a:solidFill>
          </a:ln>
        </p:spPr>
        <p:txBody>
          <a:bodyPr/>
          <a:lstStyle/>
          <a:p>
            <a:endParaRPr lang="vi-VN"/>
          </a:p>
        </p:txBody>
      </p:sp>
      <p:sp>
        <p:nvSpPr>
          <p:cNvPr id="1186" name="packet Nt_re 0"/>
          <p:cNvSpPr/>
          <p:nvPr/>
        </p:nvSpPr>
        <p:spPr>
          <a:xfrm>
            <a:off x="1333970" y="3103567"/>
            <a:ext cx="68441" cy="68441"/>
          </a:xfrm>
          <a:prstGeom prst="ellipse">
            <a:avLst/>
          </a:prstGeom>
          <a:solidFill>
            <a:srgbClr val="5658D2"/>
          </a:solidFill>
          <a:ln w="12700">
            <a:solidFill>
              <a:srgbClr val="FFFFFF"/>
            </a:solidFill>
          </a:ln>
        </p:spPr>
        <p:txBody>
          <a:bodyPr/>
          <a:lstStyle/>
          <a:p>
            <a:endParaRPr lang="vi-VN"/>
          </a:p>
        </p:txBody>
      </p:sp>
      <p:sp>
        <p:nvSpPr>
          <p:cNvPr id="1187" name="packet re_R 0"/>
          <p:cNvSpPr/>
          <p:nvPr/>
        </p:nvSpPr>
        <p:spPr>
          <a:xfrm>
            <a:off x="2859003" y="2478675"/>
            <a:ext cx="68441" cy="68441"/>
          </a:xfrm>
          <a:prstGeom prst="ellipse">
            <a:avLst/>
          </a:prstGeom>
          <a:solidFill>
            <a:srgbClr val="0B8A82"/>
          </a:solidFill>
          <a:ln w="12700">
            <a:solidFill>
              <a:srgbClr val="FFFFFF"/>
            </a:solidFill>
          </a:ln>
        </p:spPr>
        <p:txBody>
          <a:bodyPr/>
          <a:lstStyle/>
          <a:p>
            <a:endParaRPr lang="vi-VN"/>
          </a:p>
        </p:txBody>
      </p:sp>
      <p:grpSp>
        <p:nvGrpSpPr>
          <p:cNvPr id="1188" name="Bước 5: Lấy đường viền"/>
          <p:cNvGrpSpPr/>
          <p:nvPr/>
        </p:nvGrpSpPr>
        <p:grpSpPr>
          <a:xfrm>
            <a:off x="0" y="0"/>
            <a:ext cx="12191695" cy="6858000"/>
            <a:chOff x="0" y="0"/>
            <a:chExt cx="12191695" cy="6858000"/>
          </a:xfrm>
        </p:grpSpPr>
        <p:sp>
          <p:nvSpPr>
            <p:cNvPr id="1189" name="dim"/>
            <p:cNvSpPr/>
            <p:nvPr/>
          </p:nvSpPr>
          <p:spPr>
            <a:xfrm>
              <a:off x="402336" y="1133856"/>
              <a:ext cx="8924544" cy="4573239"/>
            </a:xfrm>
            <a:prstGeom prst="roundRect">
              <a:avLst>
                <a:gd name="adj" fmla="val 2500"/>
              </a:avLst>
            </a:prstGeom>
            <a:solidFill>
              <a:srgbClr val="FFFFFF">
                <a:alpha val="70000"/>
              </a:srgbClr>
            </a:solidFill>
            <a:ln>
              <a:noFill/>
            </a:ln>
          </p:spPr>
          <p:txBody>
            <a:bodyPr/>
            <a:lstStyle/>
            <a:p>
              <a:endParaRPr lang="vi-VN"/>
            </a:p>
          </p:txBody>
        </p:sp>
        <p:sp>
          <p:nvSpPr>
            <p:cNvPr id="1190" name="wire Nt_grad"/>
            <p:cNvSpPr/>
            <p:nvPr/>
          </p:nvSpPr>
          <p:spPr>
            <a:xfrm>
              <a:off x="1323555" y="3301449"/>
              <a:ext cx="498425" cy="89270"/>
            </a:xfrm>
            <a:custGeom>
              <a:avLst/>
              <a:gdLst/>
              <a:ahLst/>
              <a:cxnLst/>
              <a:rect l="0" t="0" r="r" b="b"/>
              <a:pathLst>
                <a:path w="498425" h="89270" fill="none">
                  <a:moveTo>
                    <a:pt x="44635" y="44635"/>
                  </a:moveTo>
                  <a:lnTo>
                    <a:pt x="453790" y="44635"/>
                  </a:lnTo>
                </a:path>
              </a:pathLst>
            </a:custGeom>
            <a:noFill/>
            <a:ln w="25400" cap="rnd">
              <a:solidFill>
                <a:srgbClr val="5658D2"/>
              </a:solidFill>
              <a:round/>
              <a:tailEnd type="triangle" w="med" len="med"/>
            </a:ln>
          </p:spPr>
          <p:txBody>
            <a:bodyPr/>
            <a:lstStyle/>
            <a:p>
              <a:endParaRPr lang="vi-VN"/>
            </a:p>
          </p:txBody>
        </p:sp>
        <p:sp>
          <p:nvSpPr>
            <p:cNvPr id="1191" name="wire grad_GR"/>
            <p:cNvSpPr/>
            <p:nvPr/>
          </p:nvSpPr>
          <p:spPr>
            <a:xfrm>
              <a:off x="2848588" y="3301449"/>
              <a:ext cx="498425" cy="89270"/>
            </a:xfrm>
            <a:custGeom>
              <a:avLst/>
              <a:gdLst/>
              <a:ahLst/>
              <a:cxnLst/>
              <a:rect l="0" t="0" r="r" b="b"/>
              <a:pathLst>
                <a:path w="498425" h="89270" fill="none">
                  <a:moveTo>
                    <a:pt x="44635" y="44635"/>
                  </a:moveTo>
                  <a:lnTo>
                    <a:pt x="453790" y="44635"/>
                  </a:lnTo>
                </a:path>
              </a:pathLst>
            </a:custGeom>
            <a:noFill/>
            <a:ln w="25400" cap="rnd">
              <a:solidFill>
                <a:srgbClr val="0B8A82"/>
              </a:solidFill>
              <a:round/>
              <a:tailEnd type="triangle" w="med" len="med"/>
            </a:ln>
          </p:spPr>
          <p:txBody>
            <a:bodyPr/>
            <a:lstStyle/>
            <a:p>
              <a:endParaRPr lang="vi-VN"/>
            </a:p>
          </p:txBody>
        </p:sp>
        <p:sp>
          <p:nvSpPr>
            <p:cNvPr id="1192" name="wire GR_enc"/>
            <p:cNvSpPr/>
            <p:nvPr/>
          </p:nvSpPr>
          <p:spPr>
            <a:xfrm>
              <a:off x="3927271" y="3301449"/>
              <a:ext cx="758797" cy="89270"/>
            </a:xfrm>
            <a:custGeom>
              <a:avLst/>
              <a:gdLst/>
              <a:ahLst/>
              <a:cxnLst/>
              <a:rect l="0" t="0" r="r" b="b"/>
              <a:pathLst>
                <a:path w="758797" h="89270" fill="none">
                  <a:moveTo>
                    <a:pt x="44635" y="44635"/>
                  </a:moveTo>
                  <a:lnTo>
                    <a:pt x="714162" y="44635"/>
                  </a:lnTo>
                </a:path>
              </a:pathLst>
            </a:custGeom>
            <a:noFill/>
            <a:ln w="25400" cap="rnd">
              <a:solidFill>
                <a:srgbClr val="0B8A82"/>
              </a:solidFill>
              <a:round/>
              <a:tailEnd type="triangle" w="med" len="med"/>
            </a:ln>
          </p:spPr>
          <p:txBody>
            <a:bodyPr/>
            <a:lstStyle/>
            <a:p>
              <a:endParaRPr lang="vi-VN"/>
            </a:p>
          </p:txBody>
        </p:sp>
        <p:sp>
          <p:nvSpPr>
            <p:cNvPr id="1193" name="wire enc_bus"/>
            <p:cNvSpPr/>
            <p:nvPr/>
          </p:nvSpPr>
          <p:spPr>
            <a:xfrm>
              <a:off x="5043148" y="3465111"/>
              <a:ext cx="2603715" cy="2068094"/>
            </a:xfrm>
            <a:custGeom>
              <a:avLst/>
              <a:gdLst/>
              <a:ahLst/>
              <a:cxnLst/>
              <a:rect l="0" t="0" r="r" b="b"/>
              <a:pathLst>
                <a:path w="2603715" h="2068094" fill="none">
                  <a:moveTo>
                    <a:pt x="44635" y="44635"/>
                  </a:moveTo>
                  <a:lnTo>
                    <a:pt x="44635" y="1956506"/>
                  </a:lnTo>
                  <a:quadBezTo>
                    <a:pt x="44635" y="2023459"/>
                    <a:pt x="111588" y="2023459"/>
                  </a:quadBezTo>
                  <a:lnTo>
                    <a:pt x="2492127" y="2023459"/>
                  </a:lnTo>
                  <a:quadBezTo>
                    <a:pt x="2559080" y="2023459"/>
                    <a:pt x="2559080" y="1956506"/>
                  </a:quadBezTo>
                  <a:lnTo>
                    <a:pt x="2559080" y="1673817"/>
                  </a:lnTo>
                </a:path>
              </a:pathLst>
            </a:custGeom>
            <a:noFill/>
            <a:ln w="25400" cap="rnd">
              <a:solidFill>
                <a:srgbClr val="0B8A82"/>
              </a:solidFill>
              <a:round/>
              <a:tailEnd type="triangle" w="med" len="med"/>
            </a:ln>
          </p:spPr>
          <p:txBody>
            <a:bodyPr/>
            <a:lstStyle/>
            <a:p>
              <a:endParaRPr lang="vi-VN"/>
            </a:p>
          </p:txBody>
        </p:sp>
        <p:sp>
          <p:nvSpPr>
            <p:cNvPr id="1194" name="wire bus_g1"/>
            <p:cNvSpPr/>
            <p:nvPr/>
          </p:nvSpPr>
          <p:spPr>
            <a:xfrm>
              <a:off x="7066607" y="4573550"/>
              <a:ext cx="89270" cy="959655"/>
            </a:xfrm>
            <a:custGeom>
              <a:avLst/>
              <a:gdLst/>
              <a:ahLst/>
              <a:cxnLst/>
              <a:rect l="0" t="0" r="r" b="b"/>
              <a:pathLst>
                <a:path w="89270" h="959655" fill="none">
                  <a:moveTo>
                    <a:pt x="44635" y="915020"/>
                  </a:moveTo>
                  <a:lnTo>
                    <a:pt x="44635" y="44635"/>
                  </a:lnTo>
                </a:path>
              </a:pathLst>
            </a:custGeom>
            <a:noFill/>
            <a:ln w="25400" cap="rnd">
              <a:solidFill>
                <a:srgbClr val="0B8A82"/>
              </a:solidFill>
              <a:round/>
              <a:tailEnd type="triangle" w="med" len="med"/>
            </a:ln>
          </p:spPr>
          <p:txBody>
            <a:bodyPr/>
            <a:lstStyle/>
            <a:p>
              <a:endParaRPr lang="vi-VN"/>
            </a:p>
          </p:txBody>
        </p:sp>
        <p:sp>
          <p:nvSpPr>
            <p:cNvPr id="1195" name="wire bus_g2"/>
            <p:cNvSpPr/>
            <p:nvPr/>
          </p:nvSpPr>
          <p:spPr>
            <a:xfrm>
              <a:off x="7312100" y="4833921"/>
              <a:ext cx="89270" cy="699284"/>
            </a:xfrm>
            <a:custGeom>
              <a:avLst/>
              <a:gdLst/>
              <a:ahLst/>
              <a:cxnLst/>
              <a:rect l="0" t="0" r="r" b="b"/>
              <a:pathLst>
                <a:path w="89270" h="699284" fill="none">
                  <a:moveTo>
                    <a:pt x="44635" y="654648"/>
                  </a:moveTo>
                  <a:lnTo>
                    <a:pt x="44635" y="44635"/>
                  </a:lnTo>
                </a:path>
              </a:pathLst>
            </a:custGeom>
            <a:noFill/>
            <a:ln w="25400" cap="rnd">
              <a:solidFill>
                <a:srgbClr val="0B8A82"/>
              </a:solidFill>
              <a:round/>
              <a:tailEnd type="triangle" w="med" len="med"/>
            </a:ln>
          </p:spPr>
          <p:txBody>
            <a:bodyPr/>
            <a:lstStyle/>
            <a:p>
              <a:endParaRPr lang="vi-VN"/>
            </a:p>
          </p:txBody>
        </p:sp>
        <p:pic>
          <p:nvPicPr>
            <p:cNvPr id="1196" name="thumb Nt" descr="Hướng mặt mới N_{t}"/>
            <p:cNvPicPr>
              <a:picLocks noChangeAspect="1"/>
            </p:cNvPicPr>
            <p:nvPr/>
          </p:nvPicPr>
          <p:blipFill>
            <a:blip r:embed="rId3"/>
            <a:stretch>
              <a:fillRect/>
            </a:stretch>
          </p:blipFill>
          <p:spPr>
            <a:xfrm>
              <a:off x="624272" y="2974125"/>
              <a:ext cx="743919" cy="743919"/>
            </a:xfrm>
            <a:prstGeom prst="rect">
              <a:avLst/>
            </a:prstGeom>
          </p:spPr>
        </p:pic>
        <p:sp>
          <p:nvSpPr>
            <p:cNvPr id="1197" name="frame Nt"/>
            <p:cNvSpPr/>
            <p:nvPr/>
          </p:nvSpPr>
          <p:spPr>
            <a:xfrm>
              <a:off x="624272" y="2974125"/>
              <a:ext cx="743919" cy="743919"/>
            </a:xfrm>
            <a:prstGeom prst="rect">
              <a:avLst/>
            </a:prstGeom>
            <a:noFill/>
            <a:ln w="20320">
              <a:solidFill>
                <a:srgbClr val="5658D2"/>
              </a:solidFill>
            </a:ln>
          </p:spPr>
          <p:txBody>
            <a:bodyPr/>
            <a:lstStyle/>
            <a:p>
              <a:endParaRPr lang="vi-VN"/>
            </a:p>
          </p:txBody>
        </p:sp>
        <p:sp>
          <p:nvSpPr>
            <p:cNvPr id="1198" name="label"/>
            <p:cNvSpPr txBox="1"/>
            <p:nvPr/>
          </p:nvSpPr>
          <p:spPr>
            <a:xfrm>
              <a:off x="363900" y="3695338"/>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mới</a:t>
              </a:r>
            </a:p>
          </p:txBody>
        </p:sp>
        <p:sp>
          <p:nvSpPr>
            <p:cNvPr id="1199" name="label"/>
            <p:cNvSpPr txBox="1"/>
            <p:nvPr/>
          </p:nvSpPr>
          <p:spPr>
            <a:xfrm>
              <a:off x="363900" y="379948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t</a:t>
              </a:r>
            </a:p>
          </p:txBody>
        </p:sp>
        <p:sp>
          <p:nvSpPr>
            <p:cNvPr id="1200" name="box grad"/>
            <p:cNvSpPr/>
            <p:nvPr/>
          </p:nvSpPr>
          <p:spPr>
            <a:xfrm>
              <a:off x="1777346" y="3137787"/>
              <a:ext cx="1115878" cy="416594"/>
            </a:xfrm>
            <a:prstGeom prst="roundRect">
              <a:avLst>
                <a:gd name="adj" fmla="val 14000"/>
              </a:avLst>
            </a:prstGeom>
            <a:solidFill>
              <a:srgbClr val="FFFFFF"/>
            </a:solidFill>
            <a:ln w="20320">
              <a:solidFill>
                <a:srgbClr val="5658D2"/>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Lấy đường viền</a:t>
              </a:r>
            </a:p>
            <a:p>
              <a:pPr algn="ctr">
                <a:spcBef>
                  <a:spcPts val="0"/>
                </a:spcBef>
                <a:spcAft>
                  <a:spcPts val="0"/>
                </a:spcAft>
              </a:pPr>
              <a:r>
                <a:rPr lang="vi-VN" sz="800" b="0" i="0" dirty="0">
                  <a:solidFill>
                    <a:srgbClr val="767D93"/>
                  </a:solidFill>
                  <a:latin typeface="Aptos"/>
                </a:rPr>
                <a:t>công thức 1–3</a:t>
              </a:r>
            </a:p>
          </p:txBody>
        </p:sp>
        <p:pic>
          <p:nvPicPr>
            <p:cNvPr id="1201" name="thumb GR" descr="Viền theo vùng G_{R}"/>
            <p:cNvPicPr>
              <a:picLocks noChangeAspect="1"/>
            </p:cNvPicPr>
            <p:nvPr/>
          </p:nvPicPr>
          <p:blipFill>
            <a:blip r:embed="rId6"/>
            <a:stretch>
              <a:fillRect/>
            </a:stretch>
          </p:blipFill>
          <p:spPr>
            <a:xfrm>
              <a:off x="3302379" y="3011321"/>
              <a:ext cx="669527" cy="669527"/>
            </a:xfrm>
            <a:prstGeom prst="rect">
              <a:avLst/>
            </a:prstGeom>
          </p:spPr>
        </p:pic>
        <p:sp>
          <p:nvSpPr>
            <p:cNvPr id="1202" name="frame GR"/>
            <p:cNvSpPr/>
            <p:nvPr/>
          </p:nvSpPr>
          <p:spPr>
            <a:xfrm>
              <a:off x="3302379" y="3011321"/>
              <a:ext cx="669527" cy="669527"/>
            </a:xfrm>
            <a:prstGeom prst="rect">
              <a:avLst/>
            </a:prstGeom>
            <a:noFill/>
            <a:ln w="20320">
              <a:solidFill>
                <a:srgbClr val="5658D2"/>
              </a:solidFill>
            </a:ln>
          </p:spPr>
          <p:txBody>
            <a:bodyPr/>
            <a:lstStyle/>
            <a:p>
              <a:endParaRPr lang="vi-VN"/>
            </a:p>
          </p:txBody>
        </p:sp>
        <p:sp>
          <p:nvSpPr>
            <p:cNvPr id="1203" name="label"/>
            <p:cNvSpPr txBox="1"/>
            <p:nvPr/>
          </p:nvSpPr>
          <p:spPr>
            <a:xfrm>
              <a:off x="3004811" y="2810075"/>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Viền theo vùng  G</a:t>
              </a:r>
              <a:r>
                <a:rPr lang="vi-VN" sz="680" b="1" i="0" baseline="-25000" dirty="0">
                  <a:solidFill>
                    <a:srgbClr val="141824"/>
                  </a:solidFill>
                  <a:latin typeface="Aptos"/>
                </a:rPr>
                <a:t>R</a:t>
              </a:r>
            </a:p>
          </p:txBody>
        </p:sp>
        <p:sp>
          <p:nvSpPr>
            <p:cNvPr id="1204" name="box enc"/>
            <p:cNvSpPr/>
            <p:nvPr/>
          </p:nvSpPr>
          <p:spPr>
            <a:xfrm>
              <a:off x="4641432" y="3182422"/>
              <a:ext cx="892702" cy="327324"/>
            </a:xfrm>
            <a:prstGeom prst="roundRect">
              <a:avLst>
                <a:gd name="adj" fmla="val 14000"/>
              </a:avLst>
            </a:prstGeom>
            <a:solidFill>
              <a:srgbClr val="FFFFFF"/>
            </a:solidFill>
            <a:ln w="20320">
              <a:solidFill>
                <a:srgbClr val="5658D2"/>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Mã hoá viền</a:t>
              </a:r>
            </a:p>
            <a:p>
              <a:pPr algn="ctr">
                <a:spcBef>
                  <a:spcPts val="0"/>
                </a:spcBef>
                <a:spcAft>
                  <a:spcPts val="0"/>
                </a:spcAft>
              </a:pPr>
              <a:r>
                <a:rPr lang="vi-VN" sz="800" b="0" i="0" dirty="0">
                  <a:solidFill>
                    <a:srgbClr val="767D93"/>
                  </a:solidFill>
                  <a:latin typeface="Aptos"/>
                </a:rPr>
                <a:t>→ X</a:t>
              </a:r>
              <a:r>
                <a:rPr lang="vi-VN" sz="640" b="0" i="0" baseline="-25000" dirty="0">
                  <a:solidFill>
                    <a:srgbClr val="767D93"/>
                  </a:solidFill>
                  <a:latin typeface="Aptos"/>
                </a:rPr>
                <a:t>g</a:t>
              </a:r>
            </a:p>
          </p:txBody>
        </p:sp>
        <p:sp>
          <p:nvSpPr>
            <p:cNvPr id="1205" name="gen box"/>
            <p:cNvSpPr/>
            <p:nvPr/>
          </p:nvSpPr>
          <p:spPr>
            <a:xfrm>
              <a:off x="6129270" y="2602165"/>
              <a:ext cx="1785405" cy="2752499"/>
            </a:xfrm>
            <a:prstGeom prst="roundRect">
              <a:avLst>
                <a:gd name="adj" fmla="val 3500"/>
              </a:avLst>
            </a:prstGeom>
            <a:solidFill>
              <a:srgbClr val="F2F3F7"/>
            </a:solidFill>
            <a:ln w="20320">
              <a:solidFill>
                <a:srgbClr val="5658D2"/>
              </a:solidFill>
            </a:ln>
          </p:spPr>
          <p:txBody>
            <a:bodyPr/>
            <a:lstStyle/>
            <a:p>
              <a:endParaRPr lang="vi-VN"/>
            </a:p>
          </p:txBody>
        </p:sp>
        <p:sp>
          <p:nvSpPr>
            <p:cNvPr id="1206" name="label"/>
            <p:cNvSpPr txBox="1"/>
            <p:nvPr/>
          </p:nvSpPr>
          <p:spPr>
            <a:xfrm>
              <a:off x="6389641" y="2624095"/>
              <a:ext cx="1264662" cy="182880"/>
            </a:xfrm>
            <a:prstGeom prst="rect">
              <a:avLst/>
            </a:prstGeom>
            <a:noFill/>
          </p:spPr>
          <p:txBody>
            <a:bodyPr wrap="none" lIns="0" tIns="0" rIns="0" bIns="0" anchor="b">
              <a:noAutofit/>
            </a:bodyPr>
            <a:lstStyle/>
            <a:p>
              <a:pPr algn="ctr">
                <a:spcBef>
                  <a:spcPts val="0"/>
                </a:spcBef>
                <a:spcAft>
                  <a:spcPts val="0"/>
                </a:spcAft>
              </a:pPr>
              <a:r>
                <a:rPr lang="vi-VN" sz="900" b="1" i="0" dirty="0">
                  <a:solidFill>
                    <a:srgbClr val="141824"/>
                  </a:solidFill>
                  <a:latin typeface="Aptos"/>
                </a:rPr>
                <a:t>Bộ vẽ ảnh</a:t>
              </a:r>
            </a:p>
          </p:txBody>
        </p:sp>
        <p:sp>
          <p:nvSpPr>
            <p:cNvPr id="1207" name="label"/>
            <p:cNvSpPr txBox="1"/>
            <p:nvPr/>
          </p:nvSpPr>
          <p:spPr>
            <a:xfrm>
              <a:off x="6389641" y="2743122"/>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U-Net · 3 khối GRM</a:t>
              </a:r>
            </a:p>
          </p:txBody>
        </p:sp>
        <p:sp>
          <p:nvSpPr>
            <p:cNvPr id="1208" name="bar"/>
            <p:cNvSpPr/>
            <p:nvPr/>
          </p:nvSpPr>
          <p:spPr>
            <a:xfrm>
              <a:off x="6233418" y="2974125"/>
              <a:ext cx="104149" cy="2157364"/>
            </a:xfrm>
            <a:prstGeom prst="roundRect">
              <a:avLst>
                <a:gd name="adj" fmla="val 20000"/>
              </a:avLst>
            </a:prstGeom>
            <a:solidFill>
              <a:srgbClr val="BABECA"/>
            </a:solidFill>
            <a:ln>
              <a:noFill/>
            </a:ln>
          </p:spPr>
          <p:txBody>
            <a:bodyPr/>
            <a:lstStyle/>
            <a:p>
              <a:endParaRPr lang="vi-VN"/>
            </a:p>
          </p:txBody>
        </p:sp>
        <p:sp>
          <p:nvSpPr>
            <p:cNvPr id="1209" name="bar"/>
            <p:cNvSpPr/>
            <p:nvPr/>
          </p:nvSpPr>
          <p:spPr>
            <a:xfrm>
              <a:off x="6411959" y="3234496"/>
              <a:ext cx="104149" cy="1636621"/>
            </a:xfrm>
            <a:prstGeom prst="roundRect">
              <a:avLst>
                <a:gd name="adj" fmla="val 20000"/>
              </a:avLst>
            </a:prstGeom>
            <a:solidFill>
              <a:srgbClr val="BABECA"/>
            </a:solidFill>
            <a:ln>
              <a:noFill/>
            </a:ln>
          </p:spPr>
          <p:txBody>
            <a:bodyPr/>
            <a:lstStyle/>
            <a:p>
              <a:endParaRPr lang="vi-VN"/>
            </a:p>
          </p:txBody>
        </p:sp>
        <p:sp>
          <p:nvSpPr>
            <p:cNvPr id="1210" name="bar"/>
            <p:cNvSpPr/>
            <p:nvPr/>
          </p:nvSpPr>
          <p:spPr>
            <a:xfrm>
              <a:off x="6590499" y="3494868"/>
              <a:ext cx="104149" cy="1115878"/>
            </a:xfrm>
            <a:prstGeom prst="roundRect">
              <a:avLst>
                <a:gd name="adj" fmla="val 20000"/>
              </a:avLst>
            </a:prstGeom>
            <a:solidFill>
              <a:srgbClr val="BABECA"/>
            </a:solidFill>
            <a:ln>
              <a:noFill/>
            </a:ln>
          </p:spPr>
          <p:txBody>
            <a:bodyPr/>
            <a:lstStyle/>
            <a:p>
              <a:endParaRPr lang="vi-VN"/>
            </a:p>
          </p:txBody>
        </p:sp>
        <p:sp>
          <p:nvSpPr>
            <p:cNvPr id="1211" name="bar"/>
            <p:cNvSpPr/>
            <p:nvPr/>
          </p:nvSpPr>
          <p:spPr>
            <a:xfrm>
              <a:off x="6769040" y="3680847"/>
              <a:ext cx="104149" cy="743919"/>
            </a:xfrm>
            <a:prstGeom prst="roundRect">
              <a:avLst>
                <a:gd name="adj" fmla="val 20000"/>
              </a:avLst>
            </a:prstGeom>
            <a:solidFill>
              <a:srgbClr val="BABECA"/>
            </a:solidFill>
            <a:ln>
              <a:noFill/>
            </a:ln>
          </p:spPr>
          <p:txBody>
            <a:bodyPr/>
            <a:lstStyle/>
            <a:p>
              <a:endParaRPr lang="vi-VN"/>
            </a:p>
          </p:txBody>
        </p:sp>
        <p:sp>
          <p:nvSpPr>
            <p:cNvPr id="1212" name="bar"/>
            <p:cNvSpPr/>
            <p:nvPr/>
          </p:nvSpPr>
          <p:spPr>
            <a:xfrm>
              <a:off x="6947580" y="3494868"/>
              <a:ext cx="104149" cy="1115878"/>
            </a:xfrm>
            <a:prstGeom prst="roundRect">
              <a:avLst>
                <a:gd name="adj" fmla="val 20000"/>
              </a:avLst>
            </a:prstGeom>
            <a:solidFill>
              <a:srgbClr val="BABECA"/>
            </a:solidFill>
            <a:ln>
              <a:noFill/>
            </a:ln>
          </p:spPr>
          <p:txBody>
            <a:bodyPr/>
            <a:lstStyle/>
            <a:p>
              <a:endParaRPr lang="vi-VN"/>
            </a:p>
          </p:txBody>
        </p:sp>
        <p:sp>
          <p:nvSpPr>
            <p:cNvPr id="1213" name="bar"/>
            <p:cNvSpPr/>
            <p:nvPr/>
          </p:nvSpPr>
          <p:spPr>
            <a:xfrm>
              <a:off x="7074046" y="3494868"/>
              <a:ext cx="74392" cy="1115878"/>
            </a:xfrm>
            <a:prstGeom prst="roundRect">
              <a:avLst>
                <a:gd name="adj" fmla="val 20000"/>
              </a:avLst>
            </a:prstGeom>
            <a:solidFill>
              <a:srgbClr val="0B8A82"/>
            </a:solidFill>
            <a:ln>
              <a:noFill/>
            </a:ln>
          </p:spPr>
          <p:txBody>
            <a:bodyPr/>
            <a:lstStyle/>
            <a:p>
              <a:endParaRPr lang="vi-VN"/>
            </a:p>
          </p:txBody>
        </p:sp>
        <p:sp>
          <p:nvSpPr>
            <p:cNvPr id="1214" name="bar"/>
            <p:cNvSpPr/>
            <p:nvPr/>
          </p:nvSpPr>
          <p:spPr>
            <a:xfrm>
              <a:off x="7193073" y="3234496"/>
              <a:ext cx="104149" cy="1636621"/>
            </a:xfrm>
            <a:prstGeom prst="roundRect">
              <a:avLst>
                <a:gd name="adj" fmla="val 20000"/>
              </a:avLst>
            </a:prstGeom>
            <a:solidFill>
              <a:srgbClr val="BABECA"/>
            </a:solidFill>
            <a:ln>
              <a:noFill/>
            </a:ln>
          </p:spPr>
          <p:txBody>
            <a:bodyPr/>
            <a:lstStyle/>
            <a:p>
              <a:endParaRPr lang="vi-VN"/>
            </a:p>
          </p:txBody>
        </p:sp>
        <p:sp>
          <p:nvSpPr>
            <p:cNvPr id="1215" name="bar"/>
            <p:cNvSpPr/>
            <p:nvPr/>
          </p:nvSpPr>
          <p:spPr>
            <a:xfrm>
              <a:off x="7319540" y="3234496"/>
              <a:ext cx="74392" cy="1636621"/>
            </a:xfrm>
            <a:prstGeom prst="roundRect">
              <a:avLst>
                <a:gd name="adj" fmla="val 20000"/>
              </a:avLst>
            </a:prstGeom>
            <a:solidFill>
              <a:srgbClr val="0B8A82"/>
            </a:solidFill>
            <a:ln>
              <a:noFill/>
            </a:ln>
          </p:spPr>
          <p:txBody>
            <a:bodyPr/>
            <a:lstStyle/>
            <a:p>
              <a:endParaRPr lang="vi-VN"/>
            </a:p>
          </p:txBody>
        </p:sp>
        <p:sp>
          <p:nvSpPr>
            <p:cNvPr id="1216" name="bar"/>
            <p:cNvSpPr/>
            <p:nvPr/>
          </p:nvSpPr>
          <p:spPr>
            <a:xfrm>
              <a:off x="7438567" y="2974125"/>
              <a:ext cx="104149" cy="2157364"/>
            </a:xfrm>
            <a:prstGeom prst="roundRect">
              <a:avLst>
                <a:gd name="adj" fmla="val 20000"/>
              </a:avLst>
            </a:prstGeom>
            <a:solidFill>
              <a:srgbClr val="BABECA"/>
            </a:solidFill>
            <a:ln>
              <a:noFill/>
            </a:ln>
          </p:spPr>
          <p:txBody>
            <a:bodyPr/>
            <a:lstStyle/>
            <a:p>
              <a:endParaRPr lang="vi-VN"/>
            </a:p>
          </p:txBody>
        </p:sp>
        <p:sp>
          <p:nvSpPr>
            <p:cNvPr id="1217" name="bar"/>
            <p:cNvSpPr/>
            <p:nvPr/>
          </p:nvSpPr>
          <p:spPr>
            <a:xfrm>
              <a:off x="7565033" y="2974125"/>
              <a:ext cx="74392" cy="2157364"/>
            </a:xfrm>
            <a:prstGeom prst="roundRect">
              <a:avLst>
                <a:gd name="adj" fmla="val 20000"/>
              </a:avLst>
            </a:prstGeom>
            <a:solidFill>
              <a:srgbClr val="0B8A82"/>
            </a:solidFill>
            <a:ln>
              <a:noFill/>
            </a:ln>
          </p:spPr>
          <p:txBody>
            <a:bodyPr/>
            <a:lstStyle/>
            <a:p>
              <a:endParaRPr lang="vi-VN"/>
            </a:p>
          </p:txBody>
        </p:sp>
        <p:sp>
          <p:nvSpPr>
            <p:cNvPr id="1218" name="label"/>
            <p:cNvSpPr txBox="1"/>
            <p:nvPr/>
          </p:nvSpPr>
          <p:spPr>
            <a:xfrm>
              <a:off x="5854020" y="5145979"/>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nén</a:t>
              </a:r>
            </a:p>
          </p:txBody>
        </p:sp>
        <p:sp>
          <p:nvSpPr>
            <p:cNvPr id="1219" name="label"/>
            <p:cNvSpPr txBox="1"/>
            <p:nvPr/>
          </p:nvSpPr>
          <p:spPr>
            <a:xfrm>
              <a:off x="6724405" y="5145979"/>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mở rộng</a:t>
              </a:r>
            </a:p>
          </p:txBody>
        </p:sp>
        <p:sp>
          <p:nvSpPr>
            <p:cNvPr id="1220" name="step5 card"/>
            <p:cNvSpPr/>
            <p:nvPr/>
          </p:nvSpPr>
          <p:spPr>
            <a:xfrm>
              <a:off x="9418320" y="1188720"/>
              <a:ext cx="2331720" cy="3611880"/>
            </a:xfrm>
            <a:prstGeom prst="roundRect">
              <a:avLst>
                <a:gd name="adj" fmla="val 4000"/>
              </a:avLst>
            </a:prstGeom>
            <a:solidFill>
              <a:srgbClr val="FFFFFF"/>
            </a:solidFill>
            <a:ln w="9525">
              <a:solidFill>
                <a:srgbClr val="D7DAE4"/>
              </a:solidFill>
            </a:ln>
          </p:spPr>
          <p:txBody>
            <a:bodyPr/>
            <a:lstStyle/>
            <a:p>
              <a:endParaRPr lang="vi-VN"/>
            </a:p>
          </p:txBody>
        </p:sp>
        <p:sp>
          <p:nvSpPr>
            <p:cNvPr id="1221" name="step5 text"/>
            <p:cNvSpPr txBox="1"/>
            <p:nvPr/>
          </p:nvSpPr>
          <p:spPr>
            <a:xfrm>
              <a:off x="9564624" y="1335024"/>
              <a:ext cx="2039112" cy="3337560"/>
            </a:xfrm>
            <a:prstGeom prst="rect">
              <a:avLst/>
            </a:prstGeom>
            <a:noFill/>
          </p:spPr>
          <p:txBody>
            <a:bodyPr wrap="square" lIns="0" tIns="0" rIns="0" bIns="0" anchor="t">
              <a:noAutofit/>
            </a:bodyPr>
            <a:lstStyle/>
            <a:p>
              <a:pPr algn="l">
                <a:spcBef>
                  <a:spcPts val="0"/>
                </a:spcBef>
                <a:spcAft>
                  <a:spcPts val="300"/>
                </a:spcAft>
              </a:pPr>
              <a:r>
                <a:rPr lang="vi-VN" sz="900" b="1" i="0" dirty="0">
                  <a:solidFill>
                    <a:srgbClr val="5658D2"/>
                  </a:solidFill>
                  <a:latin typeface="Aptos"/>
                </a:rPr>
                <a:t>BƯỚC 5 / 7</a:t>
              </a:r>
            </a:p>
            <a:p>
              <a:pPr algn="l">
                <a:spcBef>
                  <a:spcPts val="0"/>
                </a:spcBef>
                <a:spcAft>
                  <a:spcPts val="600"/>
                </a:spcAft>
              </a:pPr>
              <a:r>
                <a:rPr lang="vi-VN" sz="1400" b="1" i="0" dirty="0">
                  <a:solidFill>
                    <a:srgbClr val="141824"/>
                  </a:solidFill>
                  <a:latin typeface="Aptos"/>
                </a:rPr>
                <a:t>Lấy đường viền</a:t>
              </a:r>
            </a:p>
            <a:p>
              <a:pPr algn="l">
                <a:lnSpc>
                  <a:spcPct val="105000"/>
                </a:lnSpc>
                <a:spcBef>
                  <a:spcPts val="0"/>
                </a:spcBef>
                <a:spcAft>
                  <a:spcPts val="0"/>
                </a:spcAft>
              </a:pPr>
              <a:r>
                <a:rPr lang="vi-VN" sz="1100" b="0" i="0" dirty="0">
                  <a:solidFill>
                    <a:srgbClr val="4A5166"/>
                  </a:solidFill>
                  <a:latin typeface="Aptos"/>
                </a:rPr>
                <a:t>GReg tính đường viền của bản đồ hướng mặt mới, rồi chỉ giữ lại phần quanh mặt và hai tay. Phần này được nén thành đặc trưng X</a:t>
              </a:r>
              <a:r>
                <a:rPr lang="vi-VN" sz="880" b="0" i="0" baseline="-25000" dirty="0">
                  <a:solidFill>
                    <a:srgbClr val="4A5166"/>
                  </a:solidFill>
                  <a:latin typeface="Aptos"/>
                </a:rPr>
                <a:t>g</a:t>
              </a:r>
              <a:r>
                <a:rPr lang="vi-VN" sz="1100" b="0" i="0" dirty="0">
                  <a:solidFill>
                    <a:srgbClr val="4A5166"/>
                  </a:solidFill>
                  <a:latin typeface="Aptos"/>
                </a:rPr>
                <a:t> và gửi tới ba khối GRM trong bộ vẽ ảnh.</a:t>
              </a:r>
            </a:p>
          </p:txBody>
        </p:sp>
      </p:grpSp>
      <p:sp>
        <p:nvSpPr>
          <p:cNvPr id="1222" name="packet Nt_grad 0"/>
          <p:cNvSpPr/>
          <p:nvPr/>
        </p:nvSpPr>
        <p:spPr>
          <a:xfrm>
            <a:off x="1333970" y="3311864"/>
            <a:ext cx="68441" cy="68441"/>
          </a:xfrm>
          <a:prstGeom prst="ellipse">
            <a:avLst/>
          </a:prstGeom>
          <a:solidFill>
            <a:srgbClr val="5658D2"/>
          </a:solidFill>
          <a:ln w="12700">
            <a:solidFill>
              <a:srgbClr val="FFFFFF"/>
            </a:solidFill>
          </a:ln>
        </p:spPr>
        <p:txBody>
          <a:bodyPr/>
          <a:lstStyle/>
          <a:p>
            <a:endParaRPr lang="vi-VN"/>
          </a:p>
        </p:txBody>
      </p:sp>
      <p:sp>
        <p:nvSpPr>
          <p:cNvPr id="1223" name="packet grad_GR 0"/>
          <p:cNvSpPr/>
          <p:nvPr/>
        </p:nvSpPr>
        <p:spPr>
          <a:xfrm>
            <a:off x="2859003" y="3311864"/>
            <a:ext cx="68441" cy="68441"/>
          </a:xfrm>
          <a:prstGeom prst="ellipse">
            <a:avLst/>
          </a:prstGeom>
          <a:solidFill>
            <a:srgbClr val="0B8A82"/>
          </a:solidFill>
          <a:ln w="12700">
            <a:solidFill>
              <a:srgbClr val="FFFFFF"/>
            </a:solidFill>
          </a:ln>
        </p:spPr>
        <p:txBody>
          <a:bodyPr/>
          <a:lstStyle/>
          <a:p>
            <a:endParaRPr lang="vi-VN"/>
          </a:p>
        </p:txBody>
      </p:sp>
      <p:sp>
        <p:nvSpPr>
          <p:cNvPr id="1224" name="packet GR_enc 0"/>
          <p:cNvSpPr/>
          <p:nvPr/>
        </p:nvSpPr>
        <p:spPr>
          <a:xfrm>
            <a:off x="3937685" y="3311864"/>
            <a:ext cx="68441" cy="68441"/>
          </a:xfrm>
          <a:prstGeom prst="ellipse">
            <a:avLst/>
          </a:prstGeom>
          <a:solidFill>
            <a:srgbClr val="0B8A82"/>
          </a:solidFill>
          <a:ln w="12700">
            <a:solidFill>
              <a:srgbClr val="FFFFFF"/>
            </a:solidFill>
          </a:ln>
        </p:spPr>
        <p:txBody>
          <a:bodyPr/>
          <a:lstStyle/>
          <a:p>
            <a:endParaRPr lang="vi-VN"/>
          </a:p>
        </p:txBody>
      </p:sp>
      <p:sp>
        <p:nvSpPr>
          <p:cNvPr id="1225" name="packet enc_bus 0"/>
          <p:cNvSpPr/>
          <p:nvPr/>
        </p:nvSpPr>
        <p:spPr>
          <a:xfrm>
            <a:off x="5053563" y="3475526"/>
            <a:ext cx="68441" cy="68441"/>
          </a:xfrm>
          <a:prstGeom prst="ellipse">
            <a:avLst/>
          </a:prstGeom>
          <a:solidFill>
            <a:srgbClr val="0B8A82"/>
          </a:solidFill>
          <a:ln w="12700">
            <a:solidFill>
              <a:srgbClr val="FFFFFF"/>
            </a:solidFill>
          </a:ln>
        </p:spPr>
        <p:txBody>
          <a:bodyPr/>
          <a:lstStyle/>
          <a:p>
            <a:endParaRPr lang="vi-VN"/>
          </a:p>
        </p:txBody>
      </p:sp>
      <p:sp>
        <p:nvSpPr>
          <p:cNvPr id="1226" name="packet enc_bus 1"/>
          <p:cNvSpPr/>
          <p:nvPr/>
        </p:nvSpPr>
        <p:spPr>
          <a:xfrm>
            <a:off x="5053563" y="3475526"/>
            <a:ext cx="68441" cy="68441"/>
          </a:xfrm>
          <a:prstGeom prst="ellipse">
            <a:avLst/>
          </a:prstGeom>
          <a:solidFill>
            <a:srgbClr val="0B8A82"/>
          </a:solidFill>
          <a:ln w="12700">
            <a:solidFill>
              <a:srgbClr val="FFFFFF"/>
            </a:solidFill>
          </a:ln>
        </p:spPr>
        <p:txBody>
          <a:bodyPr/>
          <a:lstStyle/>
          <a:p>
            <a:endParaRPr lang="vi-VN"/>
          </a:p>
        </p:txBody>
      </p:sp>
      <p:sp>
        <p:nvSpPr>
          <p:cNvPr id="1227" name="packet enc_bus 2"/>
          <p:cNvSpPr/>
          <p:nvPr/>
        </p:nvSpPr>
        <p:spPr>
          <a:xfrm>
            <a:off x="5053563" y="3475526"/>
            <a:ext cx="68441" cy="68441"/>
          </a:xfrm>
          <a:prstGeom prst="ellipse">
            <a:avLst/>
          </a:prstGeom>
          <a:solidFill>
            <a:srgbClr val="0B8A82"/>
          </a:solidFill>
          <a:ln w="12700">
            <a:solidFill>
              <a:srgbClr val="FFFFFF"/>
            </a:solidFill>
          </a:ln>
        </p:spPr>
        <p:txBody>
          <a:bodyPr/>
          <a:lstStyle/>
          <a:p>
            <a:endParaRPr lang="vi-VN"/>
          </a:p>
        </p:txBody>
      </p:sp>
      <p:sp>
        <p:nvSpPr>
          <p:cNvPr id="1228" name="packet bus_g1 0"/>
          <p:cNvSpPr/>
          <p:nvPr/>
        </p:nvSpPr>
        <p:spPr>
          <a:xfrm>
            <a:off x="7077022" y="5454350"/>
            <a:ext cx="68441" cy="68441"/>
          </a:xfrm>
          <a:prstGeom prst="ellipse">
            <a:avLst/>
          </a:prstGeom>
          <a:solidFill>
            <a:srgbClr val="0B8A82"/>
          </a:solidFill>
          <a:ln w="12700">
            <a:solidFill>
              <a:srgbClr val="FFFFFF"/>
            </a:solidFill>
          </a:ln>
        </p:spPr>
        <p:txBody>
          <a:bodyPr/>
          <a:lstStyle/>
          <a:p>
            <a:endParaRPr lang="vi-VN"/>
          </a:p>
        </p:txBody>
      </p:sp>
      <p:sp>
        <p:nvSpPr>
          <p:cNvPr id="1229" name="packet bus_g2 0"/>
          <p:cNvSpPr/>
          <p:nvPr/>
        </p:nvSpPr>
        <p:spPr>
          <a:xfrm>
            <a:off x="7322515" y="5454350"/>
            <a:ext cx="68441" cy="68441"/>
          </a:xfrm>
          <a:prstGeom prst="ellipse">
            <a:avLst/>
          </a:prstGeom>
          <a:solidFill>
            <a:srgbClr val="0B8A82"/>
          </a:solidFill>
          <a:ln w="12700">
            <a:solidFill>
              <a:srgbClr val="FFFFFF"/>
            </a:solidFill>
          </a:ln>
        </p:spPr>
        <p:txBody>
          <a:bodyPr/>
          <a:lstStyle/>
          <a:p>
            <a:endParaRPr lang="vi-VN"/>
          </a:p>
        </p:txBody>
      </p:sp>
      <p:grpSp>
        <p:nvGrpSpPr>
          <p:cNvPr id="1230" name="Bước 6: Vẽ ảnh"/>
          <p:cNvGrpSpPr/>
          <p:nvPr/>
        </p:nvGrpSpPr>
        <p:grpSpPr>
          <a:xfrm>
            <a:off x="0" y="0"/>
            <a:ext cx="12191695" cy="6858000"/>
            <a:chOff x="0" y="0"/>
            <a:chExt cx="12191695" cy="6858000"/>
          </a:xfrm>
        </p:grpSpPr>
        <p:sp>
          <p:nvSpPr>
            <p:cNvPr id="1231" name="dim"/>
            <p:cNvSpPr/>
            <p:nvPr/>
          </p:nvSpPr>
          <p:spPr>
            <a:xfrm>
              <a:off x="402336" y="1133856"/>
              <a:ext cx="8924544" cy="4573239"/>
            </a:xfrm>
            <a:prstGeom prst="roundRect">
              <a:avLst>
                <a:gd name="adj" fmla="val 2500"/>
              </a:avLst>
            </a:prstGeom>
            <a:solidFill>
              <a:srgbClr val="FFFFFF">
                <a:alpha val="70000"/>
              </a:srgbClr>
            </a:solidFill>
            <a:ln>
              <a:noFill/>
            </a:ln>
          </p:spPr>
          <p:txBody>
            <a:bodyPr/>
            <a:lstStyle/>
            <a:p>
              <a:endParaRPr lang="vi-VN"/>
            </a:p>
          </p:txBody>
        </p:sp>
        <p:sp>
          <p:nvSpPr>
            <p:cNvPr id="1232" name="wire Ist_cat"/>
            <p:cNvSpPr/>
            <p:nvPr/>
          </p:nvSpPr>
          <p:spPr>
            <a:xfrm>
              <a:off x="5787067" y="2111179"/>
              <a:ext cx="535621" cy="1249783"/>
            </a:xfrm>
            <a:custGeom>
              <a:avLst/>
              <a:gdLst/>
              <a:ahLst/>
              <a:cxnLst/>
              <a:rect l="0" t="0" r="r" b="b"/>
              <a:pathLst>
                <a:path w="535621" h="1249783" fill="none">
                  <a:moveTo>
                    <a:pt x="490986" y="44635"/>
                  </a:moveTo>
                  <a:lnTo>
                    <a:pt x="490986" y="200858"/>
                  </a:lnTo>
                  <a:quadBezTo>
                    <a:pt x="490986" y="267811"/>
                    <a:pt x="424034" y="267811"/>
                  </a:quadBezTo>
                  <a:lnTo>
                    <a:pt x="111588" y="267811"/>
                  </a:lnTo>
                  <a:quadBezTo>
                    <a:pt x="44635" y="267811"/>
                    <a:pt x="44635" y="334763"/>
                  </a:quadBezTo>
                  <a:lnTo>
                    <a:pt x="44635" y="1205148"/>
                  </a:lnTo>
                </a:path>
              </a:pathLst>
            </a:custGeom>
            <a:noFill/>
            <a:ln w="25400" cap="rnd">
              <a:solidFill>
                <a:srgbClr val="BF6A12"/>
              </a:solidFill>
              <a:round/>
              <a:tailEnd type="triangle" w="med" len="med"/>
            </a:ln>
          </p:spPr>
          <p:txBody>
            <a:bodyPr/>
            <a:lstStyle/>
            <a:p>
              <a:endParaRPr lang="vi-VN"/>
            </a:p>
          </p:txBody>
        </p:sp>
        <p:sp>
          <p:nvSpPr>
            <p:cNvPr id="1233" name="wire R_cat"/>
            <p:cNvSpPr/>
            <p:nvPr/>
          </p:nvSpPr>
          <p:spPr>
            <a:xfrm>
              <a:off x="3927271" y="2468260"/>
              <a:ext cx="1844918" cy="996851"/>
            </a:xfrm>
            <a:custGeom>
              <a:avLst/>
              <a:gdLst/>
              <a:ahLst/>
              <a:cxnLst/>
              <a:rect l="0" t="0" r="r" b="b"/>
              <a:pathLst>
                <a:path w="1844918" h="996851" fill="none">
                  <a:moveTo>
                    <a:pt x="44635" y="44635"/>
                  </a:moveTo>
                  <a:lnTo>
                    <a:pt x="1614303" y="44635"/>
                  </a:lnTo>
                  <a:quadBezTo>
                    <a:pt x="1681256" y="44635"/>
                    <a:pt x="1681256" y="111588"/>
                  </a:quadBezTo>
                  <a:lnTo>
                    <a:pt x="1681256" y="892702"/>
                  </a:lnTo>
                  <a:quadBezTo>
                    <a:pt x="1681256" y="952216"/>
                    <a:pt x="1740770" y="952216"/>
                  </a:quadBezTo>
                  <a:lnTo>
                    <a:pt x="1800283" y="952216"/>
                  </a:lnTo>
                </a:path>
              </a:pathLst>
            </a:custGeom>
            <a:noFill/>
            <a:ln w="25400" cap="rnd">
              <a:solidFill>
                <a:srgbClr val="0B8A82"/>
              </a:solidFill>
              <a:round/>
              <a:tailEnd type="triangle" w="med" len="med"/>
            </a:ln>
          </p:spPr>
          <p:txBody>
            <a:bodyPr/>
            <a:lstStyle/>
            <a:p>
              <a:endParaRPr lang="vi-VN"/>
            </a:p>
          </p:txBody>
        </p:sp>
        <p:sp>
          <p:nvSpPr>
            <p:cNvPr id="1234" name="wire Nt_cat"/>
            <p:cNvSpPr/>
            <p:nvPr/>
          </p:nvSpPr>
          <p:spPr>
            <a:xfrm>
              <a:off x="1323555" y="3375841"/>
              <a:ext cx="4552782" cy="476108"/>
            </a:xfrm>
            <a:custGeom>
              <a:avLst/>
              <a:gdLst/>
              <a:ahLst/>
              <a:cxnLst/>
              <a:rect l="0" t="0" r="r" b="b"/>
              <a:pathLst>
                <a:path w="4552782" h="476108" fill="none">
                  <a:moveTo>
                    <a:pt x="44635" y="44635"/>
                  </a:moveTo>
                  <a:lnTo>
                    <a:pt x="238054" y="44635"/>
                  </a:lnTo>
                  <a:quadBezTo>
                    <a:pt x="305007" y="44635"/>
                    <a:pt x="305007" y="111588"/>
                  </a:quadBezTo>
                  <a:lnTo>
                    <a:pt x="305007" y="364520"/>
                  </a:lnTo>
                  <a:quadBezTo>
                    <a:pt x="305007" y="431473"/>
                    <a:pt x="371959" y="431473"/>
                  </a:quadBezTo>
                  <a:lnTo>
                    <a:pt x="4441194" y="431473"/>
                  </a:lnTo>
                  <a:quadBezTo>
                    <a:pt x="4508147" y="431473"/>
                    <a:pt x="4508147" y="364520"/>
                  </a:quadBezTo>
                  <a:lnTo>
                    <a:pt x="4508147" y="148784"/>
                  </a:lnTo>
                </a:path>
              </a:pathLst>
            </a:custGeom>
            <a:noFill/>
            <a:ln w="25400" cap="rnd">
              <a:solidFill>
                <a:srgbClr val="5658D2"/>
              </a:solidFill>
              <a:round/>
              <a:tailEnd type="triangle" w="med" len="med"/>
            </a:ln>
          </p:spPr>
          <p:txBody>
            <a:bodyPr/>
            <a:lstStyle/>
            <a:p>
              <a:endParaRPr lang="vi-VN"/>
            </a:p>
          </p:txBody>
        </p:sp>
        <p:sp>
          <p:nvSpPr>
            <p:cNvPr id="1235" name="wire cat_gen"/>
            <p:cNvSpPr/>
            <p:nvPr/>
          </p:nvSpPr>
          <p:spPr>
            <a:xfrm>
              <a:off x="5891216" y="3375841"/>
              <a:ext cx="282689" cy="89270"/>
            </a:xfrm>
            <a:custGeom>
              <a:avLst/>
              <a:gdLst/>
              <a:ahLst/>
              <a:cxnLst/>
              <a:rect l="0" t="0" r="r" b="b"/>
              <a:pathLst>
                <a:path w="282689" h="89270" fill="none">
                  <a:moveTo>
                    <a:pt x="44635" y="44635"/>
                  </a:moveTo>
                  <a:lnTo>
                    <a:pt x="238054" y="44635"/>
                  </a:lnTo>
                </a:path>
              </a:pathLst>
            </a:custGeom>
            <a:noFill/>
            <a:ln w="25400" cap="rnd">
              <a:solidFill>
                <a:srgbClr val="4A5166"/>
              </a:solidFill>
              <a:round/>
              <a:tailEnd type="triangle" w="med" len="med"/>
            </a:ln>
          </p:spPr>
          <p:txBody>
            <a:bodyPr/>
            <a:lstStyle/>
            <a:p>
              <a:endParaRPr lang="vi-VN"/>
            </a:p>
          </p:txBody>
        </p:sp>
        <p:sp>
          <p:nvSpPr>
            <p:cNvPr id="1236" name="wire gen_Igen"/>
            <p:cNvSpPr/>
            <p:nvPr/>
          </p:nvSpPr>
          <p:spPr>
            <a:xfrm>
              <a:off x="7870039" y="3710604"/>
              <a:ext cx="312446" cy="89270"/>
            </a:xfrm>
            <a:custGeom>
              <a:avLst/>
              <a:gdLst/>
              <a:ahLst/>
              <a:cxnLst/>
              <a:rect l="0" t="0" r="r" b="b"/>
              <a:pathLst>
                <a:path w="312446" h="89270" fill="none">
                  <a:moveTo>
                    <a:pt x="44635" y="44635"/>
                  </a:moveTo>
                  <a:lnTo>
                    <a:pt x="267811" y="44635"/>
                  </a:lnTo>
                </a:path>
              </a:pathLst>
            </a:custGeom>
            <a:noFill/>
            <a:ln w="25400" cap="rnd">
              <a:solidFill>
                <a:srgbClr val="BF6A12"/>
              </a:solidFill>
              <a:round/>
              <a:tailEnd type="triangle" w="med" len="med"/>
            </a:ln>
          </p:spPr>
          <p:txBody>
            <a:bodyPr/>
            <a:lstStyle/>
            <a:p>
              <a:endParaRPr lang="vi-VN"/>
            </a:p>
          </p:txBody>
        </p:sp>
        <p:sp>
          <p:nvSpPr>
            <p:cNvPr id="1237" name="wire enc_bus"/>
            <p:cNvSpPr/>
            <p:nvPr/>
          </p:nvSpPr>
          <p:spPr>
            <a:xfrm>
              <a:off x="5043148" y="3465111"/>
              <a:ext cx="2603715" cy="2068094"/>
            </a:xfrm>
            <a:custGeom>
              <a:avLst/>
              <a:gdLst/>
              <a:ahLst/>
              <a:cxnLst/>
              <a:rect l="0" t="0" r="r" b="b"/>
              <a:pathLst>
                <a:path w="2603715" h="2068094" fill="none">
                  <a:moveTo>
                    <a:pt x="44635" y="44635"/>
                  </a:moveTo>
                  <a:lnTo>
                    <a:pt x="44635" y="1956506"/>
                  </a:lnTo>
                  <a:quadBezTo>
                    <a:pt x="44635" y="2023459"/>
                    <a:pt x="111588" y="2023459"/>
                  </a:quadBezTo>
                  <a:lnTo>
                    <a:pt x="2492127" y="2023459"/>
                  </a:lnTo>
                  <a:quadBezTo>
                    <a:pt x="2559080" y="2023459"/>
                    <a:pt x="2559080" y="1956506"/>
                  </a:quadBezTo>
                  <a:lnTo>
                    <a:pt x="2559080" y="1673817"/>
                  </a:lnTo>
                </a:path>
              </a:pathLst>
            </a:custGeom>
            <a:noFill/>
            <a:ln w="25400" cap="rnd">
              <a:solidFill>
                <a:srgbClr val="0B8A82"/>
              </a:solidFill>
              <a:round/>
              <a:tailEnd type="triangle" w="med" len="med"/>
            </a:ln>
          </p:spPr>
          <p:txBody>
            <a:bodyPr/>
            <a:lstStyle/>
            <a:p>
              <a:endParaRPr lang="vi-VN"/>
            </a:p>
          </p:txBody>
        </p:sp>
        <p:sp>
          <p:nvSpPr>
            <p:cNvPr id="1238" name="wire bus_g1"/>
            <p:cNvSpPr/>
            <p:nvPr/>
          </p:nvSpPr>
          <p:spPr>
            <a:xfrm>
              <a:off x="7066607" y="4573550"/>
              <a:ext cx="89270" cy="959655"/>
            </a:xfrm>
            <a:custGeom>
              <a:avLst/>
              <a:gdLst/>
              <a:ahLst/>
              <a:cxnLst/>
              <a:rect l="0" t="0" r="r" b="b"/>
              <a:pathLst>
                <a:path w="89270" h="959655" fill="none">
                  <a:moveTo>
                    <a:pt x="44635" y="915020"/>
                  </a:moveTo>
                  <a:lnTo>
                    <a:pt x="44635" y="44635"/>
                  </a:lnTo>
                </a:path>
              </a:pathLst>
            </a:custGeom>
            <a:noFill/>
            <a:ln w="25400" cap="rnd">
              <a:solidFill>
                <a:srgbClr val="0B8A82"/>
              </a:solidFill>
              <a:round/>
              <a:tailEnd type="triangle" w="med" len="med"/>
            </a:ln>
          </p:spPr>
          <p:txBody>
            <a:bodyPr/>
            <a:lstStyle/>
            <a:p>
              <a:endParaRPr lang="vi-VN"/>
            </a:p>
          </p:txBody>
        </p:sp>
        <p:sp>
          <p:nvSpPr>
            <p:cNvPr id="1239" name="wire bus_g2"/>
            <p:cNvSpPr/>
            <p:nvPr/>
          </p:nvSpPr>
          <p:spPr>
            <a:xfrm>
              <a:off x="7312100" y="4833921"/>
              <a:ext cx="89270" cy="699284"/>
            </a:xfrm>
            <a:custGeom>
              <a:avLst/>
              <a:gdLst/>
              <a:ahLst/>
              <a:cxnLst/>
              <a:rect l="0" t="0" r="r" b="b"/>
              <a:pathLst>
                <a:path w="89270" h="699284" fill="none">
                  <a:moveTo>
                    <a:pt x="44635" y="654648"/>
                  </a:moveTo>
                  <a:lnTo>
                    <a:pt x="44635" y="44635"/>
                  </a:lnTo>
                </a:path>
              </a:pathLst>
            </a:custGeom>
            <a:noFill/>
            <a:ln w="25400" cap="rnd">
              <a:solidFill>
                <a:srgbClr val="0B8A82"/>
              </a:solidFill>
              <a:round/>
              <a:tailEnd type="triangle" w="med" len="med"/>
            </a:ln>
          </p:spPr>
          <p:txBody>
            <a:bodyPr/>
            <a:lstStyle/>
            <a:p>
              <a:endParaRPr lang="vi-VN"/>
            </a:p>
          </p:txBody>
        </p:sp>
        <p:pic>
          <p:nvPicPr>
            <p:cNvPr id="1240" name="thumb Ist" descr="Ảnh đã kéo I_{s→t}"/>
            <p:cNvPicPr>
              <a:picLocks noChangeAspect="1"/>
            </p:cNvPicPr>
            <p:nvPr/>
          </p:nvPicPr>
          <p:blipFill>
            <a:blip r:embed="rId9"/>
            <a:stretch>
              <a:fillRect/>
            </a:stretch>
          </p:blipFill>
          <p:spPr>
            <a:xfrm>
              <a:off x="5906094" y="1411896"/>
              <a:ext cx="743919" cy="743919"/>
            </a:xfrm>
            <a:prstGeom prst="rect">
              <a:avLst/>
            </a:prstGeom>
          </p:spPr>
        </p:pic>
        <p:sp>
          <p:nvSpPr>
            <p:cNvPr id="1241" name="frame Ist"/>
            <p:cNvSpPr/>
            <p:nvPr/>
          </p:nvSpPr>
          <p:spPr>
            <a:xfrm>
              <a:off x="5906094" y="1411896"/>
              <a:ext cx="743919" cy="743919"/>
            </a:xfrm>
            <a:prstGeom prst="rect">
              <a:avLst/>
            </a:prstGeom>
            <a:noFill/>
            <a:ln w="20320">
              <a:solidFill>
                <a:srgbClr val="5658D2"/>
              </a:solidFill>
            </a:ln>
          </p:spPr>
          <p:txBody>
            <a:bodyPr/>
            <a:lstStyle/>
            <a:p>
              <a:endParaRPr lang="vi-VN"/>
            </a:p>
          </p:txBody>
        </p:sp>
        <p:sp>
          <p:nvSpPr>
            <p:cNvPr id="1242" name="label"/>
            <p:cNvSpPr txBox="1"/>
            <p:nvPr/>
          </p:nvSpPr>
          <p:spPr>
            <a:xfrm>
              <a:off x="5645723" y="1210650"/>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đã kéo  I</a:t>
              </a:r>
              <a:r>
                <a:rPr lang="vi-VN" sz="680" b="1" i="0" baseline="-25000" dirty="0">
                  <a:solidFill>
                    <a:srgbClr val="141824"/>
                  </a:solidFill>
                  <a:latin typeface="Aptos"/>
                </a:rPr>
                <a:t>s→t</a:t>
              </a:r>
            </a:p>
          </p:txBody>
        </p:sp>
        <p:pic>
          <p:nvPicPr>
            <p:cNvPr id="1243" name="thumb R" descr="Khung gợi ý R"/>
            <p:cNvPicPr>
              <a:picLocks noChangeAspect="1"/>
            </p:cNvPicPr>
            <p:nvPr/>
          </p:nvPicPr>
          <p:blipFill>
            <a:blip r:embed="rId5"/>
            <a:stretch>
              <a:fillRect/>
            </a:stretch>
          </p:blipFill>
          <p:spPr>
            <a:xfrm>
              <a:off x="3302379" y="2178132"/>
              <a:ext cx="669527" cy="669527"/>
            </a:xfrm>
            <a:prstGeom prst="rect">
              <a:avLst/>
            </a:prstGeom>
          </p:spPr>
        </p:pic>
        <p:sp>
          <p:nvSpPr>
            <p:cNvPr id="1244" name="frame R"/>
            <p:cNvSpPr/>
            <p:nvPr/>
          </p:nvSpPr>
          <p:spPr>
            <a:xfrm>
              <a:off x="3302379" y="2178132"/>
              <a:ext cx="669527" cy="669527"/>
            </a:xfrm>
            <a:prstGeom prst="rect">
              <a:avLst/>
            </a:prstGeom>
            <a:noFill/>
            <a:ln w="20320">
              <a:solidFill>
                <a:srgbClr val="5658D2"/>
              </a:solidFill>
            </a:ln>
          </p:spPr>
          <p:txBody>
            <a:bodyPr/>
            <a:lstStyle/>
            <a:p>
              <a:endParaRPr lang="vi-VN"/>
            </a:p>
          </p:txBody>
        </p:sp>
        <p:sp>
          <p:nvSpPr>
            <p:cNvPr id="1245" name="label"/>
            <p:cNvSpPr txBox="1"/>
            <p:nvPr/>
          </p:nvSpPr>
          <p:spPr>
            <a:xfrm>
              <a:off x="3004811" y="1976886"/>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Khung gợi ý  R</a:t>
              </a:r>
            </a:p>
          </p:txBody>
        </p:sp>
        <p:pic>
          <p:nvPicPr>
            <p:cNvPr id="1246" name="thumb Nt" descr="Hướng mặt mới N_{t}"/>
            <p:cNvPicPr>
              <a:picLocks noChangeAspect="1"/>
            </p:cNvPicPr>
            <p:nvPr/>
          </p:nvPicPr>
          <p:blipFill>
            <a:blip r:embed="rId3"/>
            <a:stretch>
              <a:fillRect/>
            </a:stretch>
          </p:blipFill>
          <p:spPr>
            <a:xfrm>
              <a:off x="624272" y="2974125"/>
              <a:ext cx="743919" cy="743919"/>
            </a:xfrm>
            <a:prstGeom prst="rect">
              <a:avLst/>
            </a:prstGeom>
          </p:spPr>
        </p:pic>
        <p:sp>
          <p:nvSpPr>
            <p:cNvPr id="1247" name="frame Nt"/>
            <p:cNvSpPr/>
            <p:nvPr/>
          </p:nvSpPr>
          <p:spPr>
            <a:xfrm>
              <a:off x="624272" y="2974125"/>
              <a:ext cx="743919" cy="743919"/>
            </a:xfrm>
            <a:prstGeom prst="rect">
              <a:avLst/>
            </a:prstGeom>
            <a:noFill/>
            <a:ln w="20320">
              <a:solidFill>
                <a:srgbClr val="5658D2"/>
              </a:solidFill>
            </a:ln>
          </p:spPr>
          <p:txBody>
            <a:bodyPr/>
            <a:lstStyle/>
            <a:p>
              <a:endParaRPr lang="vi-VN"/>
            </a:p>
          </p:txBody>
        </p:sp>
        <p:sp>
          <p:nvSpPr>
            <p:cNvPr id="1248" name="label"/>
            <p:cNvSpPr txBox="1"/>
            <p:nvPr/>
          </p:nvSpPr>
          <p:spPr>
            <a:xfrm>
              <a:off x="363900" y="3695338"/>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Hướng mặt mới</a:t>
              </a:r>
            </a:p>
          </p:txBody>
        </p:sp>
        <p:sp>
          <p:nvSpPr>
            <p:cNvPr id="1249" name="label"/>
            <p:cNvSpPr txBox="1"/>
            <p:nvPr/>
          </p:nvSpPr>
          <p:spPr>
            <a:xfrm>
              <a:off x="363900" y="379948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a:t>
              </a:r>
              <a:r>
                <a:rPr lang="vi-VN" sz="640" b="0" i="0" baseline="-25000" dirty="0">
                  <a:solidFill>
                    <a:srgbClr val="767D93"/>
                  </a:solidFill>
                  <a:latin typeface="Aptos"/>
                </a:rPr>
                <a:t>t</a:t>
              </a:r>
            </a:p>
          </p:txBody>
        </p:sp>
        <p:sp>
          <p:nvSpPr>
            <p:cNvPr id="1250" name="cat"/>
            <p:cNvSpPr/>
            <p:nvPr/>
          </p:nvSpPr>
          <p:spPr>
            <a:xfrm>
              <a:off x="5734993" y="3323767"/>
              <a:ext cx="193419" cy="193419"/>
            </a:xfrm>
            <a:prstGeom prst="ellipse">
              <a:avLst/>
            </a:prstGeom>
            <a:solidFill>
              <a:srgbClr val="FFFFFF"/>
            </a:solidFill>
            <a:ln w="20320">
              <a:solidFill>
                <a:srgbClr val="5658D2"/>
              </a:solidFill>
            </a:ln>
          </p:spPr>
          <p:txBody>
            <a:bodyPr/>
            <a:lstStyle/>
            <a:p>
              <a:endParaRPr lang="vi-VN"/>
            </a:p>
          </p:txBody>
        </p:sp>
        <p:sp>
          <p:nvSpPr>
            <p:cNvPr id="1251" name="cat line"/>
            <p:cNvSpPr/>
            <p:nvPr/>
          </p:nvSpPr>
          <p:spPr>
            <a:xfrm>
              <a:off x="5787067" y="3376930"/>
              <a:ext cx="89270" cy="12700"/>
            </a:xfrm>
            <a:prstGeom prst="rect">
              <a:avLst/>
            </a:prstGeom>
            <a:solidFill>
              <a:srgbClr val="767D93"/>
            </a:solidFill>
            <a:ln>
              <a:noFill/>
            </a:ln>
          </p:spPr>
          <p:txBody>
            <a:bodyPr/>
            <a:lstStyle/>
            <a:p>
              <a:endParaRPr lang="vi-VN"/>
            </a:p>
          </p:txBody>
        </p:sp>
        <p:sp>
          <p:nvSpPr>
            <p:cNvPr id="1252" name="cat line"/>
            <p:cNvSpPr/>
            <p:nvPr/>
          </p:nvSpPr>
          <p:spPr>
            <a:xfrm>
              <a:off x="5787067" y="3414126"/>
              <a:ext cx="89270" cy="12700"/>
            </a:xfrm>
            <a:prstGeom prst="rect">
              <a:avLst/>
            </a:prstGeom>
            <a:solidFill>
              <a:srgbClr val="767D93"/>
            </a:solidFill>
            <a:ln>
              <a:noFill/>
            </a:ln>
          </p:spPr>
          <p:txBody>
            <a:bodyPr/>
            <a:lstStyle/>
            <a:p>
              <a:endParaRPr lang="vi-VN"/>
            </a:p>
          </p:txBody>
        </p:sp>
        <p:sp>
          <p:nvSpPr>
            <p:cNvPr id="1253" name="cat line"/>
            <p:cNvSpPr/>
            <p:nvPr/>
          </p:nvSpPr>
          <p:spPr>
            <a:xfrm>
              <a:off x="5787067" y="3451322"/>
              <a:ext cx="89270" cy="12700"/>
            </a:xfrm>
            <a:prstGeom prst="rect">
              <a:avLst/>
            </a:prstGeom>
            <a:solidFill>
              <a:srgbClr val="767D93"/>
            </a:solidFill>
            <a:ln>
              <a:noFill/>
            </a:ln>
          </p:spPr>
          <p:txBody>
            <a:bodyPr/>
            <a:lstStyle/>
            <a:p>
              <a:endParaRPr lang="vi-VN"/>
            </a:p>
          </p:txBody>
        </p:sp>
        <p:sp>
          <p:nvSpPr>
            <p:cNvPr id="1254" name="label"/>
            <p:cNvSpPr txBox="1"/>
            <p:nvPr/>
          </p:nvSpPr>
          <p:spPr>
            <a:xfrm>
              <a:off x="5883777" y="3516797"/>
              <a:ext cx="238054" cy="182880"/>
            </a:xfrm>
            <a:prstGeom prst="rect">
              <a:avLst/>
            </a:prstGeom>
            <a:noFill/>
          </p:spPr>
          <p:txBody>
            <a:bodyPr wrap="none" lIns="0" tIns="0" rIns="0" bIns="0" anchor="b">
              <a:noAutofit/>
            </a:bodyPr>
            <a:lstStyle/>
            <a:p>
              <a:pPr algn="l">
                <a:spcBef>
                  <a:spcPts val="0"/>
                </a:spcBef>
                <a:spcAft>
                  <a:spcPts val="0"/>
                </a:spcAft>
              </a:pPr>
              <a:r>
                <a:rPr lang="vi-VN" sz="800" b="0" i="0" dirty="0">
                  <a:solidFill>
                    <a:srgbClr val="767D93"/>
                  </a:solidFill>
                  <a:latin typeface="Aptos"/>
                </a:rPr>
                <a:t>ghép</a:t>
              </a:r>
            </a:p>
          </p:txBody>
        </p:sp>
        <p:sp>
          <p:nvSpPr>
            <p:cNvPr id="1255" name="gen box"/>
            <p:cNvSpPr/>
            <p:nvPr/>
          </p:nvSpPr>
          <p:spPr>
            <a:xfrm>
              <a:off x="6129270" y="2602165"/>
              <a:ext cx="1785405" cy="2752499"/>
            </a:xfrm>
            <a:prstGeom prst="roundRect">
              <a:avLst>
                <a:gd name="adj" fmla="val 3500"/>
              </a:avLst>
            </a:prstGeom>
            <a:solidFill>
              <a:srgbClr val="F2F3F7"/>
            </a:solidFill>
            <a:ln w="20320">
              <a:solidFill>
                <a:srgbClr val="5658D2"/>
              </a:solidFill>
            </a:ln>
          </p:spPr>
          <p:txBody>
            <a:bodyPr/>
            <a:lstStyle/>
            <a:p>
              <a:endParaRPr lang="vi-VN"/>
            </a:p>
          </p:txBody>
        </p:sp>
        <p:sp>
          <p:nvSpPr>
            <p:cNvPr id="1256" name="label"/>
            <p:cNvSpPr txBox="1"/>
            <p:nvPr/>
          </p:nvSpPr>
          <p:spPr>
            <a:xfrm>
              <a:off x="6389641" y="2624095"/>
              <a:ext cx="1264662" cy="182880"/>
            </a:xfrm>
            <a:prstGeom prst="rect">
              <a:avLst/>
            </a:prstGeom>
            <a:noFill/>
          </p:spPr>
          <p:txBody>
            <a:bodyPr wrap="none" lIns="0" tIns="0" rIns="0" bIns="0" anchor="b">
              <a:noAutofit/>
            </a:bodyPr>
            <a:lstStyle/>
            <a:p>
              <a:pPr algn="ctr">
                <a:spcBef>
                  <a:spcPts val="0"/>
                </a:spcBef>
                <a:spcAft>
                  <a:spcPts val="0"/>
                </a:spcAft>
              </a:pPr>
              <a:r>
                <a:rPr lang="vi-VN" sz="900" b="1" i="0" dirty="0">
                  <a:solidFill>
                    <a:srgbClr val="141824"/>
                  </a:solidFill>
                  <a:latin typeface="Aptos"/>
                </a:rPr>
                <a:t>Bộ vẽ ảnh</a:t>
              </a:r>
            </a:p>
          </p:txBody>
        </p:sp>
        <p:sp>
          <p:nvSpPr>
            <p:cNvPr id="1257" name="label"/>
            <p:cNvSpPr txBox="1"/>
            <p:nvPr/>
          </p:nvSpPr>
          <p:spPr>
            <a:xfrm>
              <a:off x="6389641" y="2743122"/>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U-Net · 3 khối GRM</a:t>
              </a:r>
            </a:p>
          </p:txBody>
        </p:sp>
        <p:sp>
          <p:nvSpPr>
            <p:cNvPr id="1258" name="bar"/>
            <p:cNvSpPr/>
            <p:nvPr/>
          </p:nvSpPr>
          <p:spPr>
            <a:xfrm>
              <a:off x="6233418" y="2974125"/>
              <a:ext cx="104149" cy="2157364"/>
            </a:xfrm>
            <a:prstGeom prst="roundRect">
              <a:avLst>
                <a:gd name="adj" fmla="val 20000"/>
              </a:avLst>
            </a:prstGeom>
            <a:solidFill>
              <a:srgbClr val="BABECA"/>
            </a:solidFill>
            <a:ln>
              <a:noFill/>
            </a:ln>
          </p:spPr>
          <p:txBody>
            <a:bodyPr/>
            <a:lstStyle/>
            <a:p>
              <a:endParaRPr lang="vi-VN"/>
            </a:p>
          </p:txBody>
        </p:sp>
        <p:sp>
          <p:nvSpPr>
            <p:cNvPr id="1259" name="bar"/>
            <p:cNvSpPr/>
            <p:nvPr/>
          </p:nvSpPr>
          <p:spPr>
            <a:xfrm>
              <a:off x="6411959" y="3234496"/>
              <a:ext cx="104149" cy="1636621"/>
            </a:xfrm>
            <a:prstGeom prst="roundRect">
              <a:avLst>
                <a:gd name="adj" fmla="val 20000"/>
              </a:avLst>
            </a:prstGeom>
            <a:solidFill>
              <a:srgbClr val="BABECA"/>
            </a:solidFill>
            <a:ln>
              <a:noFill/>
            </a:ln>
          </p:spPr>
          <p:txBody>
            <a:bodyPr/>
            <a:lstStyle/>
            <a:p>
              <a:endParaRPr lang="vi-VN"/>
            </a:p>
          </p:txBody>
        </p:sp>
        <p:sp>
          <p:nvSpPr>
            <p:cNvPr id="1260" name="bar"/>
            <p:cNvSpPr/>
            <p:nvPr/>
          </p:nvSpPr>
          <p:spPr>
            <a:xfrm>
              <a:off x="6590499" y="3494868"/>
              <a:ext cx="104149" cy="1115878"/>
            </a:xfrm>
            <a:prstGeom prst="roundRect">
              <a:avLst>
                <a:gd name="adj" fmla="val 20000"/>
              </a:avLst>
            </a:prstGeom>
            <a:solidFill>
              <a:srgbClr val="BABECA"/>
            </a:solidFill>
            <a:ln>
              <a:noFill/>
            </a:ln>
          </p:spPr>
          <p:txBody>
            <a:bodyPr/>
            <a:lstStyle/>
            <a:p>
              <a:endParaRPr lang="vi-VN"/>
            </a:p>
          </p:txBody>
        </p:sp>
        <p:sp>
          <p:nvSpPr>
            <p:cNvPr id="1261" name="bar"/>
            <p:cNvSpPr/>
            <p:nvPr/>
          </p:nvSpPr>
          <p:spPr>
            <a:xfrm>
              <a:off x="6769040" y="3680847"/>
              <a:ext cx="104149" cy="743919"/>
            </a:xfrm>
            <a:prstGeom prst="roundRect">
              <a:avLst>
                <a:gd name="adj" fmla="val 20000"/>
              </a:avLst>
            </a:prstGeom>
            <a:solidFill>
              <a:srgbClr val="BABECA"/>
            </a:solidFill>
            <a:ln>
              <a:noFill/>
            </a:ln>
          </p:spPr>
          <p:txBody>
            <a:bodyPr/>
            <a:lstStyle/>
            <a:p>
              <a:endParaRPr lang="vi-VN"/>
            </a:p>
          </p:txBody>
        </p:sp>
        <p:sp>
          <p:nvSpPr>
            <p:cNvPr id="1262" name="bar"/>
            <p:cNvSpPr/>
            <p:nvPr/>
          </p:nvSpPr>
          <p:spPr>
            <a:xfrm>
              <a:off x="6947580" y="3494868"/>
              <a:ext cx="104149" cy="1115878"/>
            </a:xfrm>
            <a:prstGeom prst="roundRect">
              <a:avLst>
                <a:gd name="adj" fmla="val 20000"/>
              </a:avLst>
            </a:prstGeom>
            <a:solidFill>
              <a:srgbClr val="BABECA"/>
            </a:solidFill>
            <a:ln>
              <a:noFill/>
            </a:ln>
          </p:spPr>
          <p:txBody>
            <a:bodyPr/>
            <a:lstStyle/>
            <a:p>
              <a:endParaRPr lang="vi-VN"/>
            </a:p>
          </p:txBody>
        </p:sp>
        <p:sp>
          <p:nvSpPr>
            <p:cNvPr id="1263" name="bar"/>
            <p:cNvSpPr/>
            <p:nvPr/>
          </p:nvSpPr>
          <p:spPr>
            <a:xfrm>
              <a:off x="7074046" y="3494868"/>
              <a:ext cx="74392" cy="1115878"/>
            </a:xfrm>
            <a:prstGeom prst="roundRect">
              <a:avLst>
                <a:gd name="adj" fmla="val 20000"/>
              </a:avLst>
            </a:prstGeom>
            <a:solidFill>
              <a:srgbClr val="0B8A82"/>
            </a:solidFill>
            <a:ln>
              <a:noFill/>
            </a:ln>
          </p:spPr>
          <p:txBody>
            <a:bodyPr/>
            <a:lstStyle/>
            <a:p>
              <a:endParaRPr lang="vi-VN"/>
            </a:p>
          </p:txBody>
        </p:sp>
        <p:sp>
          <p:nvSpPr>
            <p:cNvPr id="1264" name="bar"/>
            <p:cNvSpPr/>
            <p:nvPr/>
          </p:nvSpPr>
          <p:spPr>
            <a:xfrm>
              <a:off x="7193073" y="3234496"/>
              <a:ext cx="104149" cy="1636621"/>
            </a:xfrm>
            <a:prstGeom prst="roundRect">
              <a:avLst>
                <a:gd name="adj" fmla="val 20000"/>
              </a:avLst>
            </a:prstGeom>
            <a:solidFill>
              <a:srgbClr val="BABECA"/>
            </a:solidFill>
            <a:ln>
              <a:noFill/>
            </a:ln>
          </p:spPr>
          <p:txBody>
            <a:bodyPr/>
            <a:lstStyle/>
            <a:p>
              <a:endParaRPr lang="vi-VN"/>
            </a:p>
          </p:txBody>
        </p:sp>
        <p:sp>
          <p:nvSpPr>
            <p:cNvPr id="1265" name="bar"/>
            <p:cNvSpPr/>
            <p:nvPr/>
          </p:nvSpPr>
          <p:spPr>
            <a:xfrm>
              <a:off x="7319540" y="3234496"/>
              <a:ext cx="74392" cy="1636621"/>
            </a:xfrm>
            <a:prstGeom prst="roundRect">
              <a:avLst>
                <a:gd name="adj" fmla="val 20000"/>
              </a:avLst>
            </a:prstGeom>
            <a:solidFill>
              <a:srgbClr val="0B8A82"/>
            </a:solidFill>
            <a:ln>
              <a:noFill/>
            </a:ln>
          </p:spPr>
          <p:txBody>
            <a:bodyPr/>
            <a:lstStyle/>
            <a:p>
              <a:endParaRPr lang="vi-VN"/>
            </a:p>
          </p:txBody>
        </p:sp>
        <p:sp>
          <p:nvSpPr>
            <p:cNvPr id="1266" name="bar"/>
            <p:cNvSpPr/>
            <p:nvPr/>
          </p:nvSpPr>
          <p:spPr>
            <a:xfrm>
              <a:off x="7438567" y="2974125"/>
              <a:ext cx="104149" cy="2157364"/>
            </a:xfrm>
            <a:prstGeom prst="roundRect">
              <a:avLst>
                <a:gd name="adj" fmla="val 20000"/>
              </a:avLst>
            </a:prstGeom>
            <a:solidFill>
              <a:srgbClr val="BABECA"/>
            </a:solidFill>
            <a:ln>
              <a:noFill/>
            </a:ln>
          </p:spPr>
          <p:txBody>
            <a:bodyPr/>
            <a:lstStyle/>
            <a:p>
              <a:endParaRPr lang="vi-VN"/>
            </a:p>
          </p:txBody>
        </p:sp>
        <p:sp>
          <p:nvSpPr>
            <p:cNvPr id="1267" name="bar"/>
            <p:cNvSpPr/>
            <p:nvPr/>
          </p:nvSpPr>
          <p:spPr>
            <a:xfrm>
              <a:off x="7565033" y="2974125"/>
              <a:ext cx="74392" cy="2157364"/>
            </a:xfrm>
            <a:prstGeom prst="roundRect">
              <a:avLst>
                <a:gd name="adj" fmla="val 20000"/>
              </a:avLst>
            </a:prstGeom>
            <a:solidFill>
              <a:srgbClr val="0B8A82"/>
            </a:solidFill>
            <a:ln>
              <a:noFill/>
            </a:ln>
          </p:spPr>
          <p:txBody>
            <a:bodyPr/>
            <a:lstStyle/>
            <a:p>
              <a:endParaRPr lang="vi-VN"/>
            </a:p>
          </p:txBody>
        </p:sp>
        <p:sp>
          <p:nvSpPr>
            <p:cNvPr id="1268" name="label"/>
            <p:cNvSpPr txBox="1"/>
            <p:nvPr/>
          </p:nvSpPr>
          <p:spPr>
            <a:xfrm>
              <a:off x="5854020" y="5145979"/>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nén</a:t>
              </a:r>
            </a:p>
          </p:txBody>
        </p:sp>
        <p:sp>
          <p:nvSpPr>
            <p:cNvPr id="1269" name="label"/>
            <p:cNvSpPr txBox="1"/>
            <p:nvPr/>
          </p:nvSpPr>
          <p:spPr>
            <a:xfrm>
              <a:off x="6724405" y="5145979"/>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mở rộng</a:t>
              </a:r>
            </a:p>
          </p:txBody>
        </p:sp>
        <p:pic>
          <p:nvPicPr>
            <p:cNvPr id="1270" name="thumb Igen" descr="Ảnh vẽ ra I_{gen}"/>
            <p:cNvPicPr>
              <a:picLocks noChangeAspect="1"/>
            </p:cNvPicPr>
            <p:nvPr/>
          </p:nvPicPr>
          <p:blipFill>
            <a:blip r:embed="rId10"/>
            <a:stretch>
              <a:fillRect/>
            </a:stretch>
          </p:blipFill>
          <p:spPr>
            <a:xfrm>
              <a:off x="8137850" y="3420476"/>
              <a:ext cx="669527" cy="669527"/>
            </a:xfrm>
            <a:prstGeom prst="rect">
              <a:avLst/>
            </a:prstGeom>
          </p:spPr>
        </p:pic>
        <p:sp>
          <p:nvSpPr>
            <p:cNvPr id="1271" name="frame Igen"/>
            <p:cNvSpPr/>
            <p:nvPr/>
          </p:nvSpPr>
          <p:spPr>
            <a:xfrm>
              <a:off x="8137850" y="3420476"/>
              <a:ext cx="669527" cy="669527"/>
            </a:xfrm>
            <a:prstGeom prst="rect">
              <a:avLst/>
            </a:prstGeom>
            <a:noFill/>
            <a:ln w="20320">
              <a:solidFill>
                <a:srgbClr val="5658D2"/>
              </a:solidFill>
            </a:ln>
          </p:spPr>
          <p:txBody>
            <a:bodyPr/>
            <a:lstStyle/>
            <a:p>
              <a:endParaRPr lang="vi-VN"/>
            </a:p>
          </p:txBody>
        </p:sp>
        <p:sp>
          <p:nvSpPr>
            <p:cNvPr id="1272" name="label"/>
            <p:cNvSpPr txBox="1"/>
            <p:nvPr/>
          </p:nvSpPr>
          <p:spPr>
            <a:xfrm>
              <a:off x="7840283" y="406729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vẽ ra</a:t>
              </a:r>
            </a:p>
          </p:txBody>
        </p:sp>
        <p:sp>
          <p:nvSpPr>
            <p:cNvPr id="1273" name="label"/>
            <p:cNvSpPr txBox="1"/>
            <p:nvPr/>
          </p:nvSpPr>
          <p:spPr>
            <a:xfrm>
              <a:off x="7840283" y="417144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I</a:t>
              </a:r>
              <a:r>
                <a:rPr lang="vi-VN" sz="640" b="0" i="0" baseline="-25000" dirty="0">
                  <a:solidFill>
                    <a:srgbClr val="767D93"/>
                  </a:solidFill>
                  <a:latin typeface="Aptos"/>
                </a:rPr>
                <a:t>gen</a:t>
              </a:r>
            </a:p>
          </p:txBody>
        </p:sp>
        <p:sp>
          <p:nvSpPr>
            <p:cNvPr id="1274" name="step6 card"/>
            <p:cNvSpPr/>
            <p:nvPr/>
          </p:nvSpPr>
          <p:spPr>
            <a:xfrm>
              <a:off x="9418320" y="1188720"/>
              <a:ext cx="2331720" cy="3611880"/>
            </a:xfrm>
            <a:prstGeom prst="roundRect">
              <a:avLst>
                <a:gd name="adj" fmla="val 4000"/>
              </a:avLst>
            </a:prstGeom>
            <a:solidFill>
              <a:srgbClr val="FFFFFF"/>
            </a:solidFill>
            <a:ln w="9525">
              <a:solidFill>
                <a:srgbClr val="D7DAE4"/>
              </a:solidFill>
            </a:ln>
          </p:spPr>
          <p:txBody>
            <a:bodyPr/>
            <a:lstStyle/>
            <a:p>
              <a:endParaRPr lang="vi-VN"/>
            </a:p>
          </p:txBody>
        </p:sp>
        <p:sp>
          <p:nvSpPr>
            <p:cNvPr id="1275" name="step6 text"/>
            <p:cNvSpPr txBox="1"/>
            <p:nvPr/>
          </p:nvSpPr>
          <p:spPr>
            <a:xfrm>
              <a:off x="9564624" y="1335024"/>
              <a:ext cx="2039112" cy="3337560"/>
            </a:xfrm>
            <a:prstGeom prst="rect">
              <a:avLst/>
            </a:prstGeom>
            <a:noFill/>
          </p:spPr>
          <p:txBody>
            <a:bodyPr wrap="square" lIns="0" tIns="0" rIns="0" bIns="0" anchor="t">
              <a:noAutofit/>
            </a:bodyPr>
            <a:lstStyle/>
            <a:p>
              <a:pPr algn="l">
                <a:spcBef>
                  <a:spcPts val="0"/>
                </a:spcBef>
                <a:spcAft>
                  <a:spcPts val="300"/>
                </a:spcAft>
              </a:pPr>
              <a:r>
                <a:rPr lang="vi-VN" sz="900" b="1" i="0" dirty="0">
                  <a:solidFill>
                    <a:srgbClr val="5658D2"/>
                  </a:solidFill>
                  <a:latin typeface="Aptos"/>
                </a:rPr>
                <a:t>BƯỚC 6 / 7</a:t>
              </a:r>
            </a:p>
            <a:p>
              <a:pPr algn="l">
                <a:spcBef>
                  <a:spcPts val="0"/>
                </a:spcBef>
                <a:spcAft>
                  <a:spcPts val="600"/>
                </a:spcAft>
              </a:pPr>
              <a:r>
                <a:rPr lang="vi-VN" sz="1400" b="1" i="0" dirty="0">
                  <a:solidFill>
                    <a:srgbClr val="141824"/>
                  </a:solidFill>
                  <a:latin typeface="Aptos"/>
                </a:rPr>
                <a:t>Vẽ ảnh</a:t>
              </a:r>
            </a:p>
            <a:p>
              <a:pPr algn="l">
                <a:lnSpc>
                  <a:spcPct val="105000"/>
                </a:lnSpc>
                <a:spcBef>
                  <a:spcPts val="0"/>
                </a:spcBef>
                <a:spcAft>
                  <a:spcPts val="0"/>
                </a:spcAft>
              </a:pPr>
              <a:r>
                <a:rPr lang="vi-VN" sz="1100" b="0" i="0" dirty="0">
                  <a:solidFill>
                    <a:srgbClr val="4A5166"/>
                  </a:solidFill>
                  <a:latin typeface="Aptos"/>
                </a:rPr>
                <a:t>Bộ vẽ ảnh nhận ảnh đã kéo, bản đồ hướng mặt mới và khung gợi ý R, xếp chồng lên nhau. Nó nén thông tin nhỏ dần rồi mở rộng ra lại. Trên đường mở rộng, ba khối GRM dùng đường viền để làm sắc mặt và tay.</a:t>
              </a:r>
            </a:p>
          </p:txBody>
        </p:sp>
      </p:grpSp>
      <p:sp>
        <p:nvSpPr>
          <p:cNvPr id="1276" name="packet Ist_cat 0"/>
          <p:cNvSpPr/>
          <p:nvPr/>
        </p:nvSpPr>
        <p:spPr>
          <a:xfrm>
            <a:off x="6243833" y="2121594"/>
            <a:ext cx="68441" cy="68441"/>
          </a:xfrm>
          <a:prstGeom prst="ellipse">
            <a:avLst/>
          </a:prstGeom>
          <a:solidFill>
            <a:srgbClr val="BF6A12"/>
          </a:solidFill>
          <a:ln w="12700">
            <a:solidFill>
              <a:srgbClr val="FFFFFF"/>
            </a:solidFill>
          </a:ln>
        </p:spPr>
        <p:txBody>
          <a:bodyPr/>
          <a:lstStyle/>
          <a:p>
            <a:endParaRPr lang="vi-VN"/>
          </a:p>
        </p:txBody>
      </p:sp>
      <p:sp>
        <p:nvSpPr>
          <p:cNvPr id="1277" name="packet R_cat 0"/>
          <p:cNvSpPr/>
          <p:nvPr/>
        </p:nvSpPr>
        <p:spPr>
          <a:xfrm>
            <a:off x="3937685" y="2478675"/>
            <a:ext cx="68441" cy="68441"/>
          </a:xfrm>
          <a:prstGeom prst="ellipse">
            <a:avLst/>
          </a:prstGeom>
          <a:solidFill>
            <a:srgbClr val="0B8A82"/>
          </a:solidFill>
          <a:ln w="12700">
            <a:solidFill>
              <a:srgbClr val="FFFFFF"/>
            </a:solidFill>
          </a:ln>
        </p:spPr>
        <p:txBody>
          <a:bodyPr/>
          <a:lstStyle/>
          <a:p>
            <a:endParaRPr lang="vi-VN"/>
          </a:p>
        </p:txBody>
      </p:sp>
      <p:sp>
        <p:nvSpPr>
          <p:cNvPr id="1278" name="packet R_cat 1"/>
          <p:cNvSpPr/>
          <p:nvPr/>
        </p:nvSpPr>
        <p:spPr>
          <a:xfrm>
            <a:off x="3937685" y="2478675"/>
            <a:ext cx="68441" cy="68441"/>
          </a:xfrm>
          <a:prstGeom prst="ellipse">
            <a:avLst/>
          </a:prstGeom>
          <a:solidFill>
            <a:srgbClr val="0B8A82"/>
          </a:solidFill>
          <a:ln w="12700">
            <a:solidFill>
              <a:srgbClr val="FFFFFF"/>
            </a:solidFill>
          </a:ln>
        </p:spPr>
        <p:txBody>
          <a:bodyPr/>
          <a:lstStyle/>
          <a:p>
            <a:endParaRPr lang="vi-VN"/>
          </a:p>
        </p:txBody>
      </p:sp>
      <p:sp>
        <p:nvSpPr>
          <p:cNvPr id="1279" name="packet Nt_cat 0"/>
          <p:cNvSpPr/>
          <p:nvPr/>
        </p:nvSpPr>
        <p:spPr>
          <a:xfrm>
            <a:off x="1333970" y="3386256"/>
            <a:ext cx="68441" cy="68441"/>
          </a:xfrm>
          <a:prstGeom prst="ellipse">
            <a:avLst/>
          </a:prstGeom>
          <a:solidFill>
            <a:srgbClr val="5658D2"/>
          </a:solidFill>
          <a:ln w="12700">
            <a:solidFill>
              <a:srgbClr val="FFFFFF"/>
            </a:solidFill>
          </a:ln>
        </p:spPr>
        <p:txBody>
          <a:bodyPr/>
          <a:lstStyle/>
          <a:p>
            <a:endParaRPr lang="vi-VN"/>
          </a:p>
        </p:txBody>
      </p:sp>
      <p:sp>
        <p:nvSpPr>
          <p:cNvPr id="1280" name="packet Nt_cat 1"/>
          <p:cNvSpPr/>
          <p:nvPr/>
        </p:nvSpPr>
        <p:spPr>
          <a:xfrm>
            <a:off x="1333970" y="3386256"/>
            <a:ext cx="68441" cy="68441"/>
          </a:xfrm>
          <a:prstGeom prst="ellipse">
            <a:avLst/>
          </a:prstGeom>
          <a:solidFill>
            <a:srgbClr val="5658D2"/>
          </a:solidFill>
          <a:ln w="12700">
            <a:solidFill>
              <a:srgbClr val="FFFFFF"/>
            </a:solidFill>
          </a:ln>
        </p:spPr>
        <p:txBody>
          <a:bodyPr/>
          <a:lstStyle/>
          <a:p>
            <a:endParaRPr lang="vi-VN"/>
          </a:p>
        </p:txBody>
      </p:sp>
      <p:sp>
        <p:nvSpPr>
          <p:cNvPr id="1281" name="packet Nt_cat 2"/>
          <p:cNvSpPr/>
          <p:nvPr/>
        </p:nvSpPr>
        <p:spPr>
          <a:xfrm>
            <a:off x="1333970" y="3386256"/>
            <a:ext cx="68441" cy="68441"/>
          </a:xfrm>
          <a:prstGeom prst="ellipse">
            <a:avLst/>
          </a:prstGeom>
          <a:solidFill>
            <a:srgbClr val="5658D2"/>
          </a:solidFill>
          <a:ln w="12700">
            <a:solidFill>
              <a:srgbClr val="FFFFFF"/>
            </a:solidFill>
          </a:ln>
        </p:spPr>
        <p:txBody>
          <a:bodyPr/>
          <a:lstStyle/>
          <a:p>
            <a:endParaRPr lang="vi-VN"/>
          </a:p>
        </p:txBody>
      </p:sp>
      <p:sp>
        <p:nvSpPr>
          <p:cNvPr id="1282" name="packet cat_gen 0"/>
          <p:cNvSpPr/>
          <p:nvPr/>
        </p:nvSpPr>
        <p:spPr>
          <a:xfrm>
            <a:off x="5901631" y="3386256"/>
            <a:ext cx="68441" cy="68441"/>
          </a:xfrm>
          <a:prstGeom prst="ellipse">
            <a:avLst/>
          </a:prstGeom>
          <a:solidFill>
            <a:srgbClr val="4A5166"/>
          </a:solidFill>
          <a:ln w="12700">
            <a:solidFill>
              <a:srgbClr val="FFFFFF"/>
            </a:solidFill>
          </a:ln>
        </p:spPr>
        <p:txBody>
          <a:bodyPr/>
          <a:lstStyle/>
          <a:p>
            <a:endParaRPr lang="vi-VN"/>
          </a:p>
        </p:txBody>
      </p:sp>
      <p:sp>
        <p:nvSpPr>
          <p:cNvPr id="1283" name="packet gen_Igen 0"/>
          <p:cNvSpPr/>
          <p:nvPr/>
        </p:nvSpPr>
        <p:spPr>
          <a:xfrm>
            <a:off x="7880454" y="3721019"/>
            <a:ext cx="68441" cy="68441"/>
          </a:xfrm>
          <a:prstGeom prst="ellipse">
            <a:avLst/>
          </a:prstGeom>
          <a:solidFill>
            <a:srgbClr val="BF6A12"/>
          </a:solidFill>
          <a:ln w="12700">
            <a:solidFill>
              <a:srgbClr val="FFFFFF"/>
            </a:solidFill>
          </a:ln>
        </p:spPr>
        <p:txBody>
          <a:bodyPr/>
          <a:lstStyle/>
          <a:p>
            <a:endParaRPr lang="vi-VN"/>
          </a:p>
        </p:txBody>
      </p:sp>
      <p:sp>
        <p:nvSpPr>
          <p:cNvPr id="1284" name="packet enc_bus 0"/>
          <p:cNvSpPr/>
          <p:nvPr/>
        </p:nvSpPr>
        <p:spPr>
          <a:xfrm>
            <a:off x="5053563" y="3475526"/>
            <a:ext cx="68441" cy="68441"/>
          </a:xfrm>
          <a:prstGeom prst="ellipse">
            <a:avLst/>
          </a:prstGeom>
          <a:solidFill>
            <a:srgbClr val="0B8A82"/>
          </a:solidFill>
          <a:ln w="12700">
            <a:solidFill>
              <a:srgbClr val="FFFFFF"/>
            </a:solidFill>
          </a:ln>
        </p:spPr>
        <p:txBody>
          <a:bodyPr/>
          <a:lstStyle/>
          <a:p>
            <a:endParaRPr lang="vi-VN"/>
          </a:p>
        </p:txBody>
      </p:sp>
      <p:sp>
        <p:nvSpPr>
          <p:cNvPr id="1285" name="packet enc_bus 1"/>
          <p:cNvSpPr/>
          <p:nvPr/>
        </p:nvSpPr>
        <p:spPr>
          <a:xfrm>
            <a:off x="5053563" y="3475526"/>
            <a:ext cx="68441" cy="68441"/>
          </a:xfrm>
          <a:prstGeom prst="ellipse">
            <a:avLst/>
          </a:prstGeom>
          <a:solidFill>
            <a:srgbClr val="0B8A82"/>
          </a:solidFill>
          <a:ln w="12700">
            <a:solidFill>
              <a:srgbClr val="FFFFFF"/>
            </a:solidFill>
          </a:ln>
        </p:spPr>
        <p:txBody>
          <a:bodyPr/>
          <a:lstStyle/>
          <a:p>
            <a:endParaRPr lang="vi-VN"/>
          </a:p>
        </p:txBody>
      </p:sp>
      <p:sp>
        <p:nvSpPr>
          <p:cNvPr id="1286" name="packet enc_bus 2"/>
          <p:cNvSpPr/>
          <p:nvPr/>
        </p:nvSpPr>
        <p:spPr>
          <a:xfrm>
            <a:off x="5053563" y="3475526"/>
            <a:ext cx="68441" cy="68441"/>
          </a:xfrm>
          <a:prstGeom prst="ellipse">
            <a:avLst/>
          </a:prstGeom>
          <a:solidFill>
            <a:srgbClr val="0B8A82"/>
          </a:solidFill>
          <a:ln w="12700">
            <a:solidFill>
              <a:srgbClr val="FFFFFF"/>
            </a:solidFill>
          </a:ln>
        </p:spPr>
        <p:txBody>
          <a:bodyPr/>
          <a:lstStyle/>
          <a:p>
            <a:endParaRPr lang="vi-VN"/>
          </a:p>
        </p:txBody>
      </p:sp>
      <p:sp>
        <p:nvSpPr>
          <p:cNvPr id="1287" name="packet bus_g1 0"/>
          <p:cNvSpPr/>
          <p:nvPr/>
        </p:nvSpPr>
        <p:spPr>
          <a:xfrm>
            <a:off x="7077022" y="5454350"/>
            <a:ext cx="68441" cy="68441"/>
          </a:xfrm>
          <a:prstGeom prst="ellipse">
            <a:avLst/>
          </a:prstGeom>
          <a:solidFill>
            <a:srgbClr val="0B8A82"/>
          </a:solidFill>
          <a:ln w="12700">
            <a:solidFill>
              <a:srgbClr val="FFFFFF"/>
            </a:solidFill>
          </a:ln>
        </p:spPr>
        <p:txBody>
          <a:bodyPr/>
          <a:lstStyle/>
          <a:p>
            <a:endParaRPr lang="vi-VN"/>
          </a:p>
        </p:txBody>
      </p:sp>
      <p:sp>
        <p:nvSpPr>
          <p:cNvPr id="1288" name="packet bus_g2 0"/>
          <p:cNvSpPr/>
          <p:nvPr/>
        </p:nvSpPr>
        <p:spPr>
          <a:xfrm>
            <a:off x="7322515" y="5454350"/>
            <a:ext cx="68441" cy="68441"/>
          </a:xfrm>
          <a:prstGeom prst="ellipse">
            <a:avLst/>
          </a:prstGeom>
          <a:solidFill>
            <a:srgbClr val="0B8A82"/>
          </a:solidFill>
          <a:ln w="12700">
            <a:solidFill>
              <a:srgbClr val="FFFFFF"/>
            </a:solidFill>
          </a:ln>
        </p:spPr>
        <p:txBody>
          <a:bodyPr/>
          <a:lstStyle/>
          <a:p>
            <a:endParaRPr lang="vi-VN"/>
          </a:p>
        </p:txBody>
      </p:sp>
      <p:grpSp>
        <p:nvGrpSpPr>
          <p:cNvPr id="1289" name="Bước 7: Trộn"/>
          <p:cNvGrpSpPr/>
          <p:nvPr/>
        </p:nvGrpSpPr>
        <p:grpSpPr>
          <a:xfrm>
            <a:off x="0" y="0"/>
            <a:ext cx="12191695" cy="6858000"/>
            <a:chOff x="0" y="0"/>
            <a:chExt cx="12191695" cy="6858000"/>
          </a:xfrm>
        </p:grpSpPr>
        <p:sp>
          <p:nvSpPr>
            <p:cNvPr id="1290" name="dim"/>
            <p:cNvSpPr/>
            <p:nvPr/>
          </p:nvSpPr>
          <p:spPr>
            <a:xfrm>
              <a:off x="402336" y="1133856"/>
              <a:ext cx="8924544" cy="4573239"/>
            </a:xfrm>
            <a:prstGeom prst="roundRect">
              <a:avLst>
                <a:gd name="adj" fmla="val 2500"/>
              </a:avLst>
            </a:prstGeom>
            <a:solidFill>
              <a:srgbClr val="FFFFFF">
                <a:alpha val="70000"/>
              </a:srgbClr>
            </a:solidFill>
            <a:ln>
              <a:noFill/>
            </a:ln>
          </p:spPr>
          <p:txBody>
            <a:bodyPr/>
            <a:lstStyle/>
            <a:p>
              <a:endParaRPr lang="vi-VN"/>
            </a:p>
          </p:txBody>
        </p:sp>
        <p:sp>
          <p:nvSpPr>
            <p:cNvPr id="1291" name="wire Ist_mix"/>
            <p:cNvSpPr/>
            <p:nvPr/>
          </p:nvSpPr>
          <p:spPr>
            <a:xfrm>
              <a:off x="6605378" y="1888004"/>
              <a:ext cx="1502716" cy="654648"/>
            </a:xfrm>
            <a:custGeom>
              <a:avLst/>
              <a:gdLst/>
              <a:ahLst/>
              <a:cxnLst/>
              <a:rect l="0" t="0" r="r" b="b"/>
              <a:pathLst>
                <a:path w="1502716" h="654648" fill="none">
                  <a:moveTo>
                    <a:pt x="44635" y="44635"/>
                  </a:moveTo>
                  <a:lnTo>
                    <a:pt x="1242344" y="44635"/>
                  </a:lnTo>
                  <a:quadBezTo>
                    <a:pt x="1309297" y="44635"/>
                    <a:pt x="1309297" y="111588"/>
                  </a:quadBezTo>
                  <a:lnTo>
                    <a:pt x="1309297" y="543061"/>
                  </a:lnTo>
                  <a:quadBezTo>
                    <a:pt x="1309297" y="610013"/>
                    <a:pt x="1376249" y="610013"/>
                  </a:quadBezTo>
                  <a:lnTo>
                    <a:pt x="1458081" y="610013"/>
                  </a:lnTo>
                </a:path>
              </a:pathLst>
            </a:custGeom>
            <a:noFill/>
            <a:ln w="25400" cap="rnd">
              <a:solidFill>
                <a:srgbClr val="BF6A12"/>
              </a:solidFill>
              <a:round/>
              <a:tailEnd type="triangle" w="med" len="med"/>
            </a:ln>
          </p:spPr>
          <p:txBody>
            <a:bodyPr/>
            <a:lstStyle/>
            <a:p>
              <a:endParaRPr lang="vi-VN"/>
            </a:p>
          </p:txBody>
        </p:sp>
        <p:sp>
          <p:nvSpPr>
            <p:cNvPr id="1292" name="wire Igen_mix"/>
            <p:cNvSpPr/>
            <p:nvPr/>
          </p:nvSpPr>
          <p:spPr>
            <a:xfrm>
              <a:off x="8427978" y="2721192"/>
              <a:ext cx="89270" cy="743919"/>
            </a:xfrm>
            <a:custGeom>
              <a:avLst/>
              <a:gdLst/>
              <a:ahLst/>
              <a:cxnLst/>
              <a:rect l="0" t="0" r="r" b="b"/>
              <a:pathLst>
                <a:path w="89270" h="743919" fill="none">
                  <a:moveTo>
                    <a:pt x="44635" y="699284"/>
                  </a:moveTo>
                  <a:lnTo>
                    <a:pt x="44635" y="44635"/>
                  </a:lnTo>
                </a:path>
              </a:pathLst>
            </a:custGeom>
            <a:noFill/>
            <a:ln w="25400" cap="rnd">
              <a:solidFill>
                <a:srgbClr val="BF6A12"/>
              </a:solidFill>
              <a:round/>
              <a:tailEnd type="triangle" w="med" len="med"/>
            </a:ln>
          </p:spPr>
          <p:txBody>
            <a:bodyPr/>
            <a:lstStyle/>
            <a:p>
              <a:endParaRPr lang="vi-VN"/>
            </a:p>
          </p:txBody>
        </p:sp>
        <p:sp>
          <p:nvSpPr>
            <p:cNvPr id="1293" name="wire O_mix"/>
            <p:cNvSpPr/>
            <p:nvPr/>
          </p:nvSpPr>
          <p:spPr>
            <a:xfrm>
              <a:off x="3592507" y="2721192"/>
              <a:ext cx="5519876" cy="2916161"/>
            </a:xfrm>
            <a:custGeom>
              <a:avLst/>
              <a:gdLst/>
              <a:ahLst/>
              <a:cxnLst/>
              <a:rect l="0" t="0" r="r" b="b"/>
              <a:pathLst>
                <a:path w="5519876" h="2916161" fill="none">
                  <a:moveTo>
                    <a:pt x="44635" y="2767377"/>
                  </a:moveTo>
                  <a:lnTo>
                    <a:pt x="44635" y="2819452"/>
                  </a:lnTo>
                  <a:quadBezTo>
                    <a:pt x="44635" y="2871526"/>
                    <a:pt x="96709" y="2871526"/>
                  </a:quadBezTo>
                  <a:lnTo>
                    <a:pt x="5408289" y="2871526"/>
                  </a:lnTo>
                  <a:quadBezTo>
                    <a:pt x="5475241" y="2871526"/>
                    <a:pt x="5475241" y="2804573"/>
                  </a:quadBezTo>
                  <a:lnTo>
                    <a:pt x="5475241" y="44635"/>
                  </a:lnTo>
                </a:path>
              </a:pathLst>
            </a:custGeom>
            <a:noFill/>
            <a:ln w="25400" cap="rnd">
              <a:solidFill>
                <a:srgbClr val="687086"/>
              </a:solidFill>
              <a:round/>
              <a:tailEnd type="triangle" w="med" len="med"/>
            </a:ln>
          </p:spPr>
          <p:txBody>
            <a:bodyPr/>
            <a:lstStyle/>
            <a:p>
              <a:endParaRPr lang="vi-VN"/>
            </a:p>
          </p:txBody>
        </p:sp>
        <p:sp>
          <p:nvSpPr>
            <p:cNvPr id="1294" name="wire mix_out"/>
            <p:cNvSpPr/>
            <p:nvPr/>
          </p:nvSpPr>
          <p:spPr>
            <a:xfrm>
              <a:off x="8576762" y="2036787"/>
              <a:ext cx="89270" cy="386838"/>
            </a:xfrm>
            <a:custGeom>
              <a:avLst/>
              <a:gdLst/>
              <a:ahLst/>
              <a:cxnLst/>
              <a:rect l="0" t="0" r="r" b="b"/>
              <a:pathLst>
                <a:path w="89270" h="386838" fill="none">
                  <a:moveTo>
                    <a:pt x="44635" y="342203"/>
                  </a:moveTo>
                  <a:lnTo>
                    <a:pt x="44635" y="44635"/>
                  </a:lnTo>
                </a:path>
              </a:pathLst>
            </a:custGeom>
            <a:noFill/>
            <a:ln w="25400" cap="rnd">
              <a:solidFill>
                <a:srgbClr val="BF6A12"/>
              </a:solidFill>
              <a:round/>
              <a:tailEnd type="triangle" w="med" len="med"/>
            </a:ln>
          </p:spPr>
          <p:txBody>
            <a:bodyPr/>
            <a:lstStyle/>
            <a:p>
              <a:endParaRPr lang="vi-VN"/>
            </a:p>
          </p:txBody>
        </p:sp>
        <p:pic>
          <p:nvPicPr>
            <p:cNvPr id="1295" name="thumb Ist" descr="Ảnh đã kéo I_{s→t}"/>
            <p:cNvPicPr>
              <a:picLocks noChangeAspect="1"/>
            </p:cNvPicPr>
            <p:nvPr/>
          </p:nvPicPr>
          <p:blipFill>
            <a:blip r:embed="rId9"/>
            <a:stretch>
              <a:fillRect/>
            </a:stretch>
          </p:blipFill>
          <p:spPr>
            <a:xfrm>
              <a:off x="5906094" y="1411896"/>
              <a:ext cx="743919" cy="743919"/>
            </a:xfrm>
            <a:prstGeom prst="rect">
              <a:avLst/>
            </a:prstGeom>
          </p:spPr>
        </p:pic>
        <p:sp>
          <p:nvSpPr>
            <p:cNvPr id="1296" name="frame Ist"/>
            <p:cNvSpPr/>
            <p:nvPr/>
          </p:nvSpPr>
          <p:spPr>
            <a:xfrm>
              <a:off x="5906094" y="1411896"/>
              <a:ext cx="743919" cy="743919"/>
            </a:xfrm>
            <a:prstGeom prst="rect">
              <a:avLst/>
            </a:prstGeom>
            <a:noFill/>
            <a:ln w="20320">
              <a:solidFill>
                <a:srgbClr val="5658D2"/>
              </a:solidFill>
            </a:ln>
          </p:spPr>
          <p:txBody>
            <a:bodyPr/>
            <a:lstStyle/>
            <a:p>
              <a:endParaRPr lang="vi-VN"/>
            </a:p>
          </p:txBody>
        </p:sp>
        <p:sp>
          <p:nvSpPr>
            <p:cNvPr id="1297" name="label"/>
            <p:cNvSpPr txBox="1"/>
            <p:nvPr/>
          </p:nvSpPr>
          <p:spPr>
            <a:xfrm>
              <a:off x="5645723" y="1210650"/>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đã kéo  I</a:t>
              </a:r>
              <a:r>
                <a:rPr lang="vi-VN" sz="680" b="1" i="0" baseline="-25000" dirty="0">
                  <a:solidFill>
                    <a:srgbClr val="141824"/>
                  </a:solidFill>
                  <a:latin typeface="Aptos"/>
                </a:rPr>
                <a:t>s→t</a:t>
              </a:r>
            </a:p>
          </p:txBody>
        </p:sp>
        <p:pic>
          <p:nvPicPr>
            <p:cNvPr id="1298" name="thumb Igen" descr="Ảnh vẽ ra I_{gen}"/>
            <p:cNvPicPr>
              <a:picLocks noChangeAspect="1"/>
            </p:cNvPicPr>
            <p:nvPr/>
          </p:nvPicPr>
          <p:blipFill>
            <a:blip r:embed="rId10"/>
            <a:stretch>
              <a:fillRect/>
            </a:stretch>
          </p:blipFill>
          <p:spPr>
            <a:xfrm>
              <a:off x="8137850" y="3420476"/>
              <a:ext cx="669527" cy="669527"/>
            </a:xfrm>
            <a:prstGeom prst="rect">
              <a:avLst/>
            </a:prstGeom>
          </p:spPr>
        </p:pic>
        <p:sp>
          <p:nvSpPr>
            <p:cNvPr id="1299" name="frame Igen"/>
            <p:cNvSpPr/>
            <p:nvPr/>
          </p:nvSpPr>
          <p:spPr>
            <a:xfrm>
              <a:off x="8137850" y="3420476"/>
              <a:ext cx="669527" cy="669527"/>
            </a:xfrm>
            <a:prstGeom prst="rect">
              <a:avLst/>
            </a:prstGeom>
            <a:noFill/>
            <a:ln w="20320">
              <a:solidFill>
                <a:srgbClr val="5658D2"/>
              </a:solidFill>
            </a:ln>
          </p:spPr>
          <p:txBody>
            <a:bodyPr/>
            <a:lstStyle/>
            <a:p>
              <a:endParaRPr lang="vi-VN"/>
            </a:p>
          </p:txBody>
        </p:sp>
        <p:sp>
          <p:nvSpPr>
            <p:cNvPr id="1300" name="label"/>
            <p:cNvSpPr txBox="1"/>
            <p:nvPr/>
          </p:nvSpPr>
          <p:spPr>
            <a:xfrm>
              <a:off x="7840283" y="406729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Ảnh vẽ ra</a:t>
              </a:r>
            </a:p>
          </p:txBody>
        </p:sp>
        <p:sp>
          <p:nvSpPr>
            <p:cNvPr id="1301" name="label"/>
            <p:cNvSpPr txBox="1"/>
            <p:nvPr/>
          </p:nvSpPr>
          <p:spPr>
            <a:xfrm>
              <a:off x="7840283" y="4171446"/>
              <a:ext cx="1264662" cy="182880"/>
            </a:xfrm>
            <a:prstGeom prst="rect">
              <a:avLst/>
            </a:prstGeom>
            <a:noFill/>
          </p:spPr>
          <p:txBody>
            <a:bodyPr wrap="none" lIns="0" tIns="0" rIns="0" bIns="0" anchor="b">
              <a:noAutofit/>
            </a:bodyPr>
            <a:lstStyle/>
            <a:p>
              <a:pPr algn="ctr">
                <a:spcBef>
                  <a:spcPts val="0"/>
                </a:spcBef>
                <a:spcAft>
                  <a:spcPts val="0"/>
                </a:spcAft>
              </a:pPr>
              <a:r>
                <a:rPr lang="vi-VN" sz="800" b="0" i="0" dirty="0">
                  <a:solidFill>
                    <a:srgbClr val="767D93"/>
                  </a:solidFill>
                  <a:latin typeface="Aptos"/>
                </a:rPr>
                <a:t>I</a:t>
              </a:r>
              <a:r>
                <a:rPr lang="vi-VN" sz="640" b="0" i="0" baseline="-25000" dirty="0">
                  <a:solidFill>
                    <a:srgbClr val="767D93"/>
                  </a:solidFill>
                  <a:latin typeface="Aptos"/>
                </a:rPr>
                <a:t>gen</a:t>
              </a:r>
            </a:p>
          </p:txBody>
        </p:sp>
        <p:pic>
          <p:nvPicPr>
            <p:cNvPr id="1302" name="thumb O" descr="Mặt nạ O"/>
            <p:cNvPicPr>
              <a:picLocks noChangeAspect="1"/>
            </p:cNvPicPr>
            <p:nvPr/>
          </p:nvPicPr>
          <p:blipFill>
            <a:blip r:embed="rId8"/>
            <a:stretch>
              <a:fillRect/>
            </a:stretch>
          </p:blipFill>
          <p:spPr>
            <a:xfrm>
              <a:off x="3302379" y="4819043"/>
              <a:ext cx="669527" cy="669527"/>
            </a:xfrm>
            <a:prstGeom prst="rect">
              <a:avLst/>
            </a:prstGeom>
          </p:spPr>
        </p:pic>
        <p:sp>
          <p:nvSpPr>
            <p:cNvPr id="1303" name="frame O"/>
            <p:cNvSpPr/>
            <p:nvPr/>
          </p:nvSpPr>
          <p:spPr>
            <a:xfrm>
              <a:off x="3302379" y="4819043"/>
              <a:ext cx="669527" cy="669527"/>
            </a:xfrm>
            <a:prstGeom prst="rect">
              <a:avLst/>
            </a:prstGeom>
            <a:noFill/>
            <a:ln w="20320">
              <a:solidFill>
                <a:srgbClr val="5658D2"/>
              </a:solidFill>
            </a:ln>
          </p:spPr>
          <p:txBody>
            <a:bodyPr/>
            <a:lstStyle/>
            <a:p>
              <a:endParaRPr lang="vi-VN"/>
            </a:p>
          </p:txBody>
        </p:sp>
        <p:sp>
          <p:nvSpPr>
            <p:cNvPr id="1304" name="label"/>
            <p:cNvSpPr txBox="1"/>
            <p:nvPr/>
          </p:nvSpPr>
          <p:spPr>
            <a:xfrm>
              <a:off x="3004811" y="4617797"/>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Mặt nạ  O</a:t>
              </a:r>
            </a:p>
          </p:txBody>
        </p:sp>
        <p:sp>
          <p:nvSpPr>
            <p:cNvPr id="1305" name="box mix"/>
            <p:cNvSpPr/>
            <p:nvPr/>
          </p:nvSpPr>
          <p:spPr>
            <a:xfrm>
              <a:off x="8063458" y="2378990"/>
              <a:ext cx="1115878" cy="386838"/>
            </a:xfrm>
            <a:prstGeom prst="roundRect">
              <a:avLst>
                <a:gd name="adj" fmla="val 14000"/>
              </a:avLst>
            </a:prstGeom>
            <a:solidFill>
              <a:srgbClr val="FFFFFF"/>
            </a:solidFill>
            <a:ln w="20320">
              <a:solidFill>
                <a:srgbClr val="5658D2"/>
              </a:solidFill>
            </a:ln>
          </p:spPr>
          <p:txBody>
            <a:bodyPr wrap="none" lIns="0" tIns="0" rIns="0" bIns="0" anchor="ctr">
              <a:noAutofit/>
            </a:bodyPr>
            <a:lstStyle/>
            <a:p>
              <a:pPr algn="ctr">
                <a:spcBef>
                  <a:spcPts val="0"/>
                </a:spcBef>
                <a:spcAft>
                  <a:spcPts val="100"/>
                </a:spcAft>
              </a:pPr>
              <a:r>
                <a:rPr lang="vi-VN" sz="900" b="1" i="0" dirty="0">
                  <a:solidFill>
                    <a:srgbClr val="141824"/>
                  </a:solidFill>
                  <a:latin typeface="Aptos"/>
                </a:rPr>
                <a:t>Trộn theo O</a:t>
              </a:r>
            </a:p>
            <a:p>
              <a:pPr algn="ctr">
                <a:spcBef>
                  <a:spcPts val="0"/>
                </a:spcBef>
                <a:spcAft>
                  <a:spcPts val="0"/>
                </a:spcAft>
              </a:pPr>
              <a:r>
                <a:rPr lang="vi-VN" sz="750" b="0" i="0" dirty="0">
                  <a:solidFill>
                    <a:srgbClr val="767D93"/>
                  </a:solidFill>
                  <a:latin typeface="Aptos"/>
                </a:rPr>
                <a:t>O·I</a:t>
              </a:r>
              <a:r>
                <a:rPr lang="vi-VN" sz="600" b="0" i="0" baseline="-25000" dirty="0">
                  <a:solidFill>
                    <a:srgbClr val="767D93"/>
                  </a:solidFill>
                  <a:latin typeface="Aptos"/>
                </a:rPr>
                <a:t>s→t</a:t>
              </a:r>
              <a:r>
                <a:rPr lang="vi-VN" sz="750" b="0" i="0" dirty="0">
                  <a:solidFill>
                    <a:srgbClr val="767D93"/>
                  </a:solidFill>
                  <a:latin typeface="Aptos"/>
                </a:rPr>
                <a:t> + (1−O)·I</a:t>
              </a:r>
              <a:r>
                <a:rPr lang="vi-VN" sz="600" b="0" i="0" baseline="-25000" dirty="0">
                  <a:solidFill>
                    <a:srgbClr val="767D93"/>
                  </a:solidFill>
                  <a:latin typeface="Aptos"/>
                </a:rPr>
                <a:t>gen</a:t>
              </a:r>
            </a:p>
          </p:txBody>
        </p:sp>
        <p:pic>
          <p:nvPicPr>
            <p:cNvPr id="1306" name="thumb out" descr="Kết quả Î_{t}"/>
            <p:cNvPicPr>
              <a:picLocks noChangeAspect="1"/>
            </p:cNvPicPr>
            <p:nvPr/>
          </p:nvPicPr>
          <p:blipFill>
            <a:blip r:embed="rId11"/>
            <a:stretch>
              <a:fillRect/>
            </a:stretch>
          </p:blipFill>
          <p:spPr>
            <a:xfrm>
              <a:off x="8249438" y="1337504"/>
              <a:ext cx="743919" cy="743919"/>
            </a:xfrm>
            <a:prstGeom prst="rect">
              <a:avLst/>
            </a:prstGeom>
          </p:spPr>
        </p:pic>
        <p:sp>
          <p:nvSpPr>
            <p:cNvPr id="1307" name="frame out"/>
            <p:cNvSpPr/>
            <p:nvPr/>
          </p:nvSpPr>
          <p:spPr>
            <a:xfrm>
              <a:off x="8249438" y="1337504"/>
              <a:ext cx="743919" cy="743919"/>
            </a:xfrm>
            <a:prstGeom prst="rect">
              <a:avLst/>
            </a:prstGeom>
            <a:noFill/>
            <a:ln w="20320">
              <a:solidFill>
                <a:srgbClr val="5658D2"/>
              </a:solidFill>
            </a:ln>
          </p:spPr>
          <p:txBody>
            <a:bodyPr/>
            <a:lstStyle/>
            <a:p>
              <a:endParaRPr lang="vi-VN"/>
            </a:p>
          </p:txBody>
        </p:sp>
        <p:sp>
          <p:nvSpPr>
            <p:cNvPr id="1308" name="label"/>
            <p:cNvSpPr txBox="1"/>
            <p:nvPr/>
          </p:nvSpPr>
          <p:spPr>
            <a:xfrm>
              <a:off x="7989066" y="1136258"/>
              <a:ext cx="1264662" cy="182880"/>
            </a:xfrm>
            <a:prstGeom prst="rect">
              <a:avLst/>
            </a:prstGeom>
            <a:noFill/>
          </p:spPr>
          <p:txBody>
            <a:bodyPr wrap="none" lIns="0" tIns="0" rIns="0" bIns="0" anchor="b">
              <a:noAutofit/>
            </a:bodyPr>
            <a:lstStyle/>
            <a:p>
              <a:pPr algn="ctr">
                <a:spcBef>
                  <a:spcPts val="0"/>
                </a:spcBef>
                <a:spcAft>
                  <a:spcPts val="0"/>
                </a:spcAft>
              </a:pPr>
              <a:r>
                <a:rPr lang="vi-VN" sz="850" b="1" i="0" dirty="0">
                  <a:solidFill>
                    <a:srgbClr val="141824"/>
                  </a:solidFill>
                  <a:latin typeface="Aptos"/>
                </a:rPr>
                <a:t>Kết quả  Î</a:t>
              </a:r>
              <a:r>
                <a:rPr lang="vi-VN" sz="680" b="1" i="0" baseline="-25000" dirty="0">
                  <a:solidFill>
                    <a:srgbClr val="141824"/>
                  </a:solidFill>
                  <a:latin typeface="Aptos"/>
                </a:rPr>
                <a:t>t</a:t>
              </a:r>
            </a:p>
          </p:txBody>
        </p:sp>
        <p:sp>
          <p:nvSpPr>
            <p:cNvPr id="1309" name="step7 card"/>
            <p:cNvSpPr/>
            <p:nvPr/>
          </p:nvSpPr>
          <p:spPr>
            <a:xfrm>
              <a:off x="9418320" y="1188720"/>
              <a:ext cx="2331720" cy="3611880"/>
            </a:xfrm>
            <a:prstGeom prst="roundRect">
              <a:avLst>
                <a:gd name="adj" fmla="val 4000"/>
              </a:avLst>
            </a:prstGeom>
            <a:solidFill>
              <a:srgbClr val="FFFFFF"/>
            </a:solidFill>
            <a:ln w="9525">
              <a:solidFill>
                <a:srgbClr val="D7DAE4"/>
              </a:solidFill>
            </a:ln>
          </p:spPr>
          <p:txBody>
            <a:bodyPr/>
            <a:lstStyle/>
            <a:p>
              <a:endParaRPr lang="vi-VN"/>
            </a:p>
          </p:txBody>
        </p:sp>
        <p:sp>
          <p:nvSpPr>
            <p:cNvPr id="1310" name="step7 text"/>
            <p:cNvSpPr txBox="1"/>
            <p:nvPr/>
          </p:nvSpPr>
          <p:spPr>
            <a:xfrm>
              <a:off x="9564624" y="1335024"/>
              <a:ext cx="2039112" cy="3337560"/>
            </a:xfrm>
            <a:prstGeom prst="rect">
              <a:avLst/>
            </a:prstGeom>
            <a:noFill/>
          </p:spPr>
          <p:txBody>
            <a:bodyPr wrap="square" lIns="0" tIns="0" rIns="0" bIns="0" anchor="t">
              <a:noAutofit/>
            </a:bodyPr>
            <a:lstStyle/>
            <a:p>
              <a:pPr algn="l">
                <a:spcBef>
                  <a:spcPts val="0"/>
                </a:spcBef>
                <a:spcAft>
                  <a:spcPts val="300"/>
                </a:spcAft>
              </a:pPr>
              <a:r>
                <a:rPr lang="vi-VN" sz="900" b="1" i="0" dirty="0">
                  <a:solidFill>
                    <a:srgbClr val="5658D2"/>
                  </a:solidFill>
                  <a:latin typeface="Aptos"/>
                </a:rPr>
                <a:t>BƯỚC 7 / 7</a:t>
              </a:r>
            </a:p>
            <a:p>
              <a:pPr algn="l">
                <a:spcBef>
                  <a:spcPts val="0"/>
                </a:spcBef>
                <a:spcAft>
                  <a:spcPts val="600"/>
                </a:spcAft>
              </a:pPr>
              <a:r>
                <a:rPr lang="vi-VN" sz="1400" b="1" i="0" dirty="0">
                  <a:solidFill>
                    <a:srgbClr val="141824"/>
                  </a:solidFill>
                  <a:latin typeface="Aptos"/>
                </a:rPr>
                <a:t>Trộn</a:t>
              </a:r>
            </a:p>
            <a:p>
              <a:pPr algn="l">
                <a:lnSpc>
                  <a:spcPct val="105000"/>
                </a:lnSpc>
                <a:spcBef>
                  <a:spcPts val="0"/>
                </a:spcBef>
                <a:spcAft>
                  <a:spcPts val="0"/>
                </a:spcAft>
              </a:pPr>
              <a:r>
                <a:rPr lang="vi-VN" sz="1100" b="0" i="0" dirty="0">
                  <a:solidFill>
                    <a:srgbClr val="4A5166"/>
                  </a:solidFill>
                  <a:latin typeface="Aptos"/>
                </a:rPr>
                <a:t>Chỗ nào mặt nạ O nói ảnh cũ còn dùng được, GReg giữ ảnh đã kéo. Chỗ nào bị che, GReg dùng ảnh vừa vẽ. Ghép lại được một khung hình. Làm lại cho mọi tư thế trong chuỗi là có video.</a:t>
              </a:r>
            </a:p>
          </p:txBody>
        </p:sp>
      </p:grpSp>
      <p:sp>
        <p:nvSpPr>
          <p:cNvPr id="1311" name="packet Ist_mix 0"/>
          <p:cNvSpPr/>
          <p:nvPr/>
        </p:nvSpPr>
        <p:spPr>
          <a:xfrm>
            <a:off x="6615792" y="1898418"/>
            <a:ext cx="68441" cy="68441"/>
          </a:xfrm>
          <a:prstGeom prst="ellipse">
            <a:avLst/>
          </a:prstGeom>
          <a:solidFill>
            <a:srgbClr val="BF6A12"/>
          </a:solidFill>
          <a:ln w="12700">
            <a:solidFill>
              <a:srgbClr val="FFFFFF"/>
            </a:solidFill>
          </a:ln>
        </p:spPr>
        <p:txBody>
          <a:bodyPr/>
          <a:lstStyle/>
          <a:p>
            <a:endParaRPr lang="vi-VN"/>
          </a:p>
        </p:txBody>
      </p:sp>
      <p:sp>
        <p:nvSpPr>
          <p:cNvPr id="1312" name="packet Igen_mix 0"/>
          <p:cNvSpPr/>
          <p:nvPr/>
        </p:nvSpPr>
        <p:spPr>
          <a:xfrm>
            <a:off x="8438393" y="3386256"/>
            <a:ext cx="68441" cy="68441"/>
          </a:xfrm>
          <a:prstGeom prst="ellipse">
            <a:avLst/>
          </a:prstGeom>
          <a:solidFill>
            <a:srgbClr val="BF6A12"/>
          </a:solidFill>
          <a:ln w="12700">
            <a:solidFill>
              <a:srgbClr val="FFFFFF"/>
            </a:solidFill>
          </a:ln>
        </p:spPr>
        <p:txBody>
          <a:bodyPr/>
          <a:lstStyle/>
          <a:p>
            <a:endParaRPr lang="vi-VN"/>
          </a:p>
        </p:txBody>
      </p:sp>
      <p:sp>
        <p:nvSpPr>
          <p:cNvPr id="1313" name="packet O_mix 0"/>
          <p:cNvSpPr/>
          <p:nvPr/>
        </p:nvSpPr>
        <p:spPr>
          <a:xfrm>
            <a:off x="3602922" y="5454350"/>
            <a:ext cx="68441" cy="68441"/>
          </a:xfrm>
          <a:prstGeom prst="ellipse">
            <a:avLst/>
          </a:prstGeom>
          <a:solidFill>
            <a:srgbClr val="687086"/>
          </a:solidFill>
          <a:ln w="12700">
            <a:solidFill>
              <a:srgbClr val="FFFFFF"/>
            </a:solidFill>
          </a:ln>
        </p:spPr>
        <p:txBody>
          <a:bodyPr/>
          <a:lstStyle/>
          <a:p>
            <a:endParaRPr lang="vi-VN"/>
          </a:p>
        </p:txBody>
      </p:sp>
      <p:sp>
        <p:nvSpPr>
          <p:cNvPr id="1314" name="packet O_mix 1"/>
          <p:cNvSpPr/>
          <p:nvPr/>
        </p:nvSpPr>
        <p:spPr>
          <a:xfrm>
            <a:off x="3602922" y="5454350"/>
            <a:ext cx="68441" cy="68441"/>
          </a:xfrm>
          <a:prstGeom prst="ellipse">
            <a:avLst/>
          </a:prstGeom>
          <a:solidFill>
            <a:srgbClr val="687086"/>
          </a:solidFill>
          <a:ln w="12700">
            <a:solidFill>
              <a:srgbClr val="FFFFFF"/>
            </a:solidFill>
          </a:ln>
        </p:spPr>
        <p:txBody>
          <a:bodyPr/>
          <a:lstStyle/>
          <a:p>
            <a:endParaRPr lang="vi-VN"/>
          </a:p>
        </p:txBody>
      </p:sp>
      <p:sp>
        <p:nvSpPr>
          <p:cNvPr id="1315" name="packet O_mix 2"/>
          <p:cNvSpPr/>
          <p:nvPr/>
        </p:nvSpPr>
        <p:spPr>
          <a:xfrm>
            <a:off x="3602922" y="5454350"/>
            <a:ext cx="68441" cy="68441"/>
          </a:xfrm>
          <a:prstGeom prst="ellipse">
            <a:avLst/>
          </a:prstGeom>
          <a:solidFill>
            <a:srgbClr val="687086"/>
          </a:solidFill>
          <a:ln w="12700">
            <a:solidFill>
              <a:srgbClr val="FFFFFF"/>
            </a:solidFill>
          </a:ln>
        </p:spPr>
        <p:txBody>
          <a:bodyPr/>
          <a:lstStyle/>
          <a:p>
            <a:endParaRPr lang="vi-VN"/>
          </a:p>
        </p:txBody>
      </p:sp>
      <p:sp>
        <p:nvSpPr>
          <p:cNvPr id="1316" name="packet mix_out 0"/>
          <p:cNvSpPr/>
          <p:nvPr/>
        </p:nvSpPr>
        <p:spPr>
          <a:xfrm>
            <a:off x="8587177" y="2344770"/>
            <a:ext cx="68441" cy="68441"/>
          </a:xfrm>
          <a:prstGeom prst="ellipse">
            <a:avLst/>
          </a:prstGeom>
          <a:solidFill>
            <a:srgbClr val="BF6A12"/>
          </a:solidFill>
          <a:ln w="12700">
            <a:solidFill>
              <a:srgbClr val="FFFFFF"/>
            </a:solidFill>
          </a:ln>
        </p:spPr>
        <p:txBody>
          <a:bodyPr/>
          <a:lstStyle/>
          <a:p>
            <a:endParaRPr lang="vi-VN"/>
          </a:p>
        </p:txBody>
      </p:sp>
    </p:spTree>
  </p:cSld>
  <p:clrMapOvr>
    <a:masterClrMapping/>
  </p:clrMapOvr>
  <p:timing>
    <p:tnLst>
      <p:par>
        <p:cTn id="1" dur="indefinite" restart="never" nodeType="tmRoot">
          <p:childTnLst>
            <p:seq concurrent="1" nextAc="seek">
              <p:cTn id="2" dur="indefinite" nodeType="mainSeq">
                <p:childTnLst>
                  <p:par>
                    <p:cTn id="287" fill="hold">
                      <p:stCondLst>
                        <p:cond delay="indefinite"/>
                        <p:cond evt="onBegin" delay="0">
                          <p:tn val="2"/>
                        </p:cond>
                      </p:stCondLst>
                      <p:childTnLst>
                        <p:par>
                          <p:cTn id="279" fill="hold">
                            <p:stCondLst>
                              <p:cond delay="800"/>
                            </p:stCondLst>
                            <p:childTnLst>
                              <p:par>
                                <p:cTn id="5" presetID="10" presetClass="entr" presetSubtype="0" fill="hold" nodeType="afterEffect">
                                  <p:stCondLst>
                                    <p:cond delay="0"/>
                                  </p:stCondLst>
                                  <p:childTnLst>
                                    <p:set>
                                      <p:cBhvr>
                                        <p:cTn id="3" dur="1" fill="hold">
                                          <p:stCondLst>
                                            <p:cond delay="0"/>
                                          </p:stCondLst>
                                        </p:cTn>
                                        <p:tgtEl>
                                          <p:spTgt spid="1100"/>
                                        </p:tgtEl>
                                        <p:attrNameLst>
                                          <p:attrName>style.visibility</p:attrName>
                                        </p:attrNameLst>
                                      </p:cBhvr>
                                      <p:to>
                                        <p:strVal val="visible"/>
                                      </p:to>
                                    </p:set>
                                    <p:animEffect transition="in" filter="fade">
                                      <p:cBhvr>
                                        <p:cTn id="4" dur="500"/>
                                        <p:tgtEl>
                                          <p:spTgt spid="1100"/>
                                        </p:tgtEl>
                                      </p:cBhvr>
                                    </p:animEffect>
                                  </p:childTnLst>
                                </p:cTn>
                              </p:par>
                            </p:childTnLst>
                          </p:cTn>
                        </p:par>
                        <p:par>
                          <p:cTn id="280" fill="hold">
                            <p:stCondLst>
                              <p:cond delay="6000"/>
                            </p:stCondLst>
                            <p:childTnLst>
                              <p:par>
                                <p:cTn id="8" presetID="10" presetClass="entr" presetSubtype="0" fill="hold" nodeType="afterEffect">
                                  <p:stCondLst>
                                    <p:cond delay="0"/>
                                  </p:stCondLst>
                                  <p:childTnLst>
                                    <p:set>
                                      <p:cBhvr>
                                        <p:cTn id="6" dur="1" fill="hold">
                                          <p:stCondLst>
                                            <p:cond delay="0"/>
                                          </p:stCondLst>
                                        </p:cTn>
                                        <p:tgtEl>
                                          <p:spTgt spid="1116"/>
                                        </p:tgtEl>
                                        <p:attrNameLst>
                                          <p:attrName>style.visibility</p:attrName>
                                        </p:attrNameLst>
                                      </p:cBhvr>
                                      <p:to>
                                        <p:strVal val="visible"/>
                                      </p:to>
                                    </p:set>
                                    <p:animEffect transition="in" filter="fade">
                                      <p:cBhvr>
                                        <p:cTn id="7" dur="500"/>
                                        <p:tgtEl>
                                          <p:spTgt spid="1116"/>
                                        </p:tgtEl>
                                      </p:cBhvr>
                                    </p:animEffect>
                                  </p:childTnLst>
                                </p:cTn>
                              </p:par>
                              <p:par>
                                <p:cTn id="11" presetID="10" presetClass="exit" presetSubtype="0" fill="hold" nodeType="withEffect">
                                  <p:stCondLst>
                                    <p:cond delay="0"/>
                                  </p:stCondLst>
                                  <p:childTnLst>
                                    <p:animEffect transition="out" filter="fade">
                                      <p:cBhvr>
                                        <p:cTn id="9" dur="500"/>
                                        <p:tgtEl>
                                          <p:spTgt spid="1100"/>
                                        </p:tgtEl>
                                      </p:cBhvr>
                                    </p:animEffect>
                                    <p:set>
                                      <p:cBhvr>
                                        <p:cTn id="10" dur="1" fill="hold">
                                          <p:stCondLst>
                                            <p:cond delay="499"/>
                                          </p:stCondLst>
                                        </p:cTn>
                                        <p:tgtEl>
                                          <p:spTgt spid="110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2" dur="1" fill="hold">
                                          <p:stCondLst>
                                            <p:cond delay="0"/>
                                          </p:stCondLst>
                                        </p:cTn>
                                        <p:tgtEl>
                                          <p:spTgt spid="1139"/>
                                        </p:tgtEl>
                                        <p:attrNameLst>
                                          <p:attrName>style.visibility</p:attrName>
                                        </p:attrNameLst>
                                      </p:cBhvr>
                                      <p:to>
                                        <p:strVal val="visible"/>
                                      </p:to>
                                    </p:set>
                                  </p:childTnLst>
                                </p:cTn>
                              </p:par>
                              <p:par>
                                <p:cTn id="15" presetID="0" presetClass="path" presetSubtype="0" fill="hold" nodeType="withEffect">
                                  <p:stCondLst>
                                    <p:cond delay="0"/>
                                  </p:stCondLst>
                                  <p:childTnLst>
                                    <p:animMotion origin="layout" path="M 0 0 L 0.01220 0.00000 L 0.01220 0.13234 L 0.03356 0.13234 E" pathEditMode="relative" ptsTypes="">
                                      <p:cBhvr>
                                        <p:cTn id="14" dur="1609" fill="hold" repeatCount="4000"/>
                                        <p:tgtEl>
                                          <p:spTgt spid="1139"/>
                                        </p:tgtEl>
                                        <p:attrNameLst>
                                          <p:attrName>ppt_x</p:attrName>
                                          <p:attrName>ppt_y</p:attrName>
                                        </p:attrNameLst>
                                      </p:cBhvr>
                                    </p:animMotion>
                                  </p:childTnLst>
                                </p:cTn>
                              </p:par>
                              <p:par>
                                <p:cTn id="17" presetID="1" presetClass="entr" presetSubtype="0" fill="hold" nodeType="withEffect">
                                  <p:stCondLst>
                                    <p:cond delay="0"/>
                                  </p:stCondLst>
                                  <p:childTnLst>
                                    <p:set>
                                      <p:cBhvr>
                                        <p:cTn id="16" dur="1" fill="hold">
                                          <p:stCondLst>
                                            <p:cond delay="0"/>
                                          </p:stCondLst>
                                        </p:cTn>
                                        <p:tgtEl>
                                          <p:spTgt spid="1140"/>
                                        </p:tgtEl>
                                        <p:attrNameLst>
                                          <p:attrName>style.visibility</p:attrName>
                                        </p:attrNameLst>
                                      </p:cBhvr>
                                      <p:to>
                                        <p:strVal val="visible"/>
                                      </p:to>
                                    </p:set>
                                  </p:childTnLst>
                                </p:cTn>
                              </p:par>
                              <p:par>
                                <p:cTn id="19" presetID="0" presetClass="path" presetSubtype="0" fill="hold" nodeType="withEffect">
                                  <p:stCondLst>
                                    <p:cond delay="0"/>
                                  </p:stCondLst>
                                  <p:childTnLst>
                                    <p:animMotion origin="layout" path="M 0 0 L 0.01831 0.00000 L 0.01831 -0.04773 L 0.03356 -0.04773 E" pathEditMode="relative" ptsTypes="">
                                      <p:cBhvr>
                                        <p:cTn id="18" dur="900" fill="hold" repeatCount="6000"/>
                                        <p:tgtEl>
                                          <p:spTgt spid="1140"/>
                                        </p:tgtEl>
                                        <p:attrNameLst>
                                          <p:attrName>ppt_x</p:attrName>
                                          <p:attrName>ppt_y</p:attrName>
                                        </p:attrNameLst>
                                      </p:cBhvr>
                                    </p:animMotion>
                                  </p:childTnLst>
                                </p:cTn>
                              </p:par>
                              <p:par>
                                <p:cTn id="21" presetID="1" presetClass="entr" presetSubtype="0" fill="hold" nodeType="withEffect">
                                  <p:stCondLst>
                                    <p:cond delay="0"/>
                                  </p:stCondLst>
                                  <p:childTnLst>
                                    <p:set>
                                      <p:cBhvr>
                                        <p:cTn id="20" dur="1" fill="hold">
                                          <p:stCondLst>
                                            <p:cond delay="0"/>
                                          </p:stCondLst>
                                        </p:cTn>
                                        <p:tgtEl>
                                          <p:spTgt spid="1141"/>
                                        </p:tgtEl>
                                        <p:attrNameLst>
                                          <p:attrName>style.visibility</p:attrName>
                                        </p:attrNameLst>
                                      </p:cBhvr>
                                      <p:to>
                                        <p:strVal val="visible"/>
                                      </p:to>
                                    </p:set>
                                  </p:childTnLst>
                                </p:cTn>
                              </p:par>
                              <p:par>
                                <p:cTn id="23" presetID="0" presetClass="path" presetSubtype="0" fill="hold" nodeType="withEffect">
                                  <p:stCondLst>
                                    <p:cond delay="0"/>
                                  </p:stCondLst>
                                  <p:childTnLst>
                                    <p:animMotion origin="layout" path="M 0 0 L 0.01220 0.00000 L 0.01220 -0.01627 L 0.03356 -0.01627 E" pathEditMode="relative" ptsTypes="">
                                      <p:cBhvr>
                                        <p:cTn id="22" dur="636" fill="hold" repeatCount="9000"/>
                                        <p:tgtEl>
                                          <p:spTgt spid="1141"/>
                                        </p:tgtEl>
                                        <p:attrNameLst>
                                          <p:attrName>ppt_x</p:attrName>
                                          <p:attrName>ppt_y</p:attrName>
                                        </p:attrNameLst>
                                      </p:cBhvr>
                                    </p:animMotion>
                                  </p:childTnLst>
                                </p:cTn>
                              </p:par>
                              <p:par>
                                <p:cTn id="25" presetID="1" presetClass="entr" presetSubtype="0" fill="hold" nodeType="withEffect">
                                  <p:stCondLst>
                                    <p:cond delay="0"/>
                                  </p:stCondLst>
                                  <p:childTnLst>
                                    <p:set>
                                      <p:cBhvr>
                                        <p:cTn id="24" dur="1" fill="hold">
                                          <p:stCondLst>
                                            <p:cond delay="0"/>
                                          </p:stCondLst>
                                        </p:cTn>
                                        <p:tgtEl>
                                          <p:spTgt spid="1142"/>
                                        </p:tgtEl>
                                        <p:attrNameLst>
                                          <p:attrName>style.visibility</p:attrName>
                                        </p:attrNameLst>
                                      </p:cBhvr>
                                      <p:to>
                                        <p:strVal val="visible"/>
                                      </p:to>
                                    </p:set>
                                  </p:childTnLst>
                                </p:cTn>
                              </p:par>
                              <p:par>
                                <p:cTn id="27" presetID="0" presetClass="path" presetSubtype="0" fill="hold" nodeType="withEffect">
                                  <p:stCondLst>
                                    <p:cond delay="0"/>
                                  </p:stCondLst>
                                  <p:childTnLst>
                                    <p:animMotion origin="layout" path="M 0 0 L 0.02136 0.00000 L 0.02136 0.08353 L 0.03356 0.08353 E" pathEditMode="relative" ptsTypes="">
                                      <p:cBhvr>
                                        <p:cTn id="26" dur="1200" fill="hold" repeatCount="5000"/>
                                        <p:tgtEl>
                                          <p:spTgt spid="1142"/>
                                        </p:tgtEl>
                                        <p:attrNameLst>
                                          <p:attrName>ppt_x</p:attrName>
                                          <p:attrName>ppt_y</p:attrName>
                                        </p:attrNameLst>
                                      </p:cBhvr>
                                    </p:animMotion>
                                  </p:childTnLst>
                                </p:cTn>
                              </p:par>
                            </p:childTnLst>
                          </p:cTn>
                        </p:par>
                        <p:par>
                          <p:cTn id="281" fill="hold">
                            <p:stCondLst>
                              <p:cond delay="11200"/>
                            </p:stCondLst>
                            <p:childTnLst>
                              <p:par>
                                <p:cTn id="30" presetID="10" presetClass="entr" presetSubtype="0" fill="hold" nodeType="afterEffect">
                                  <p:stCondLst>
                                    <p:cond delay="0"/>
                                  </p:stCondLst>
                                  <p:childTnLst>
                                    <p:set>
                                      <p:cBhvr>
                                        <p:cTn id="28" dur="1" fill="hold">
                                          <p:stCondLst>
                                            <p:cond delay="0"/>
                                          </p:stCondLst>
                                        </p:cTn>
                                        <p:tgtEl>
                                          <p:spTgt spid="1143"/>
                                        </p:tgtEl>
                                        <p:attrNameLst>
                                          <p:attrName>style.visibility</p:attrName>
                                        </p:attrNameLst>
                                      </p:cBhvr>
                                      <p:to>
                                        <p:strVal val="visible"/>
                                      </p:to>
                                    </p:set>
                                    <p:animEffect transition="in" filter="fade">
                                      <p:cBhvr>
                                        <p:cTn id="29" dur="500"/>
                                        <p:tgtEl>
                                          <p:spTgt spid="1143"/>
                                        </p:tgtEl>
                                      </p:cBhvr>
                                    </p:animEffect>
                                  </p:childTnLst>
                                </p:cTn>
                              </p:par>
                              <p:par>
                                <p:cTn id="33" presetID="10" presetClass="exit" presetSubtype="0" fill="hold" nodeType="withEffect">
                                  <p:stCondLst>
                                    <p:cond delay="0"/>
                                  </p:stCondLst>
                                  <p:childTnLst>
                                    <p:animEffect transition="out" filter="fade">
                                      <p:cBhvr>
                                        <p:cTn id="31" dur="500"/>
                                        <p:tgtEl>
                                          <p:spTgt spid="1116"/>
                                        </p:tgtEl>
                                      </p:cBhvr>
                                    </p:animEffect>
                                    <p:set>
                                      <p:cBhvr>
                                        <p:cTn id="32" dur="1" fill="hold">
                                          <p:stCondLst>
                                            <p:cond delay="499"/>
                                          </p:stCondLst>
                                        </p:cTn>
                                        <p:tgtEl>
                                          <p:spTgt spid="1116"/>
                                        </p:tgtEl>
                                        <p:attrNameLst>
                                          <p:attrName>style.visibility</p:attrName>
                                        </p:attrNameLst>
                                      </p:cBhvr>
                                      <p:to>
                                        <p:strVal val="hidden"/>
                                      </p:to>
                                    </p:set>
                                  </p:childTnLst>
                                </p:cTn>
                              </p:par>
                              <p:par>
                                <p:cTn id="35" presetID="1" presetClass="exit" presetSubtype="0" fill="hold" nodeType="withEffect">
                                  <p:stCondLst>
                                    <p:cond delay="0"/>
                                  </p:stCondLst>
                                  <p:childTnLst>
                                    <p:set>
                                      <p:cBhvr>
                                        <p:cTn id="34" dur="1" fill="hold">
                                          <p:stCondLst>
                                            <p:cond delay="0"/>
                                          </p:stCondLst>
                                        </p:cTn>
                                        <p:tgtEl>
                                          <p:spTgt spid="1139"/>
                                        </p:tgtEl>
                                        <p:attrNameLst>
                                          <p:attrName>style.visibility</p:attrName>
                                        </p:attrNameLst>
                                      </p:cBhvr>
                                      <p:to>
                                        <p:strVal val="hidden"/>
                                      </p:to>
                                    </p:set>
                                  </p:childTnLst>
                                </p:cTn>
                              </p:par>
                              <p:par>
                                <p:cTn id="37" presetID="1" presetClass="exit" presetSubtype="0" fill="hold" nodeType="withEffect">
                                  <p:stCondLst>
                                    <p:cond delay="0"/>
                                  </p:stCondLst>
                                  <p:childTnLst>
                                    <p:set>
                                      <p:cBhvr>
                                        <p:cTn id="36" dur="1" fill="hold">
                                          <p:stCondLst>
                                            <p:cond delay="0"/>
                                          </p:stCondLst>
                                        </p:cTn>
                                        <p:tgtEl>
                                          <p:spTgt spid="1140"/>
                                        </p:tgtEl>
                                        <p:attrNameLst>
                                          <p:attrName>style.visibility</p:attrName>
                                        </p:attrNameLst>
                                      </p:cBhvr>
                                      <p:to>
                                        <p:strVal val="hidden"/>
                                      </p:to>
                                    </p:set>
                                  </p:childTnLst>
                                </p:cTn>
                              </p:par>
                              <p:par>
                                <p:cTn id="39" presetID="1" presetClass="exit" presetSubtype="0" fill="hold" nodeType="withEffect">
                                  <p:stCondLst>
                                    <p:cond delay="0"/>
                                  </p:stCondLst>
                                  <p:childTnLst>
                                    <p:set>
                                      <p:cBhvr>
                                        <p:cTn id="38" dur="1" fill="hold">
                                          <p:stCondLst>
                                            <p:cond delay="0"/>
                                          </p:stCondLst>
                                        </p:cTn>
                                        <p:tgtEl>
                                          <p:spTgt spid="114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0" dur="1" fill="hold">
                                          <p:stCondLst>
                                            <p:cond delay="0"/>
                                          </p:stCondLst>
                                        </p:cTn>
                                        <p:tgtEl>
                                          <p:spTgt spid="1142"/>
                                        </p:tgtEl>
                                        <p:attrNameLst>
                                          <p:attrName>style.visibility</p:attrName>
                                        </p:attrNameLst>
                                      </p:cBhvr>
                                      <p:to>
                                        <p:strVal val="hidden"/>
                                      </p:to>
                                    </p:set>
                                  </p:childTnLst>
                                </p:cTn>
                              </p:par>
                              <p:par>
                                <p:cTn id="43" presetID="1" presetClass="entr" presetSubtype="0" fill="hold" nodeType="withEffect">
                                  <p:stCondLst>
                                    <p:cond delay="0"/>
                                  </p:stCondLst>
                                  <p:childTnLst>
                                    <p:set>
                                      <p:cBhvr>
                                        <p:cTn id="42" dur="1" fill="hold">
                                          <p:stCondLst>
                                            <p:cond delay="0"/>
                                          </p:stCondLst>
                                        </p:cTn>
                                        <p:tgtEl>
                                          <p:spTgt spid="1161"/>
                                        </p:tgtEl>
                                        <p:attrNameLst>
                                          <p:attrName>style.visibility</p:attrName>
                                        </p:attrNameLst>
                                      </p:cBhvr>
                                      <p:to>
                                        <p:strVal val="visible"/>
                                      </p:to>
                                    </p:set>
                                  </p:childTnLst>
                                </p:cTn>
                              </p:par>
                              <p:par>
                                <p:cTn id="45" presetID="0" presetClass="path" presetSubtype="0" fill="hold" nodeType="withEffect">
                                  <p:stCondLst>
                                    <p:cond delay="0"/>
                                  </p:stCondLst>
                                  <p:childTnLst>
                                    <p:animMotion origin="layout" path="M 0 0 L 0.26848 0.00000 E" pathEditMode="relative" ptsTypes="">
                                      <p:cBhvr>
                                        <p:cTn id="44" dur="4000" fill="hold" repeatCount="2000"/>
                                        <p:tgtEl>
                                          <p:spTgt spid="1161"/>
                                        </p:tgtEl>
                                        <p:attrNameLst>
                                          <p:attrName>ppt_x</p:attrName>
                                          <p:attrName>ppt_y</p:attrName>
                                        </p:attrNameLst>
                                      </p:cBhvr>
                                    </p:animMotion>
                                  </p:childTnLst>
                                </p:cTn>
                              </p:par>
                              <p:par>
                                <p:cTn id="47" presetID="1" presetClass="entr" presetSubtype="0" fill="hold" nodeType="withEffect">
                                  <p:stCondLst>
                                    <p:cond delay="2000"/>
                                  </p:stCondLst>
                                  <p:childTnLst>
                                    <p:set>
                                      <p:cBhvr>
                                        <p:cTn id="46" dur="1" fill="hold">
                                          <p:stCondLst>
                                            <p:cond delay="0"/>
                                          </p:stCondLst>
                                        </p:cTn>
                                        <p:tgtEl>
                                          <p:spTgt spid="1162"/>
                                        </p:tgtEl>
                                        <p:attrNameLst>
                                          <p:attrName>style.visibility</p:attrName>
                                        </p:attrNameLst>
                                      </p:cBhvr>
                                      <p:to>
                                        <p:strVal val="visible"/>
                                      </p:to>
                                    </p:set>
                                  </p:childTnLst>
                                </p:cTn>
                              </p:par>
                              <p:par>
                                <p:cTn id="49" presetID="0" presetClass="path" presetSubtype="0" fill="hold" nodeType="withEffect">
                                  <p:stCondLst>
                                    <p:cond delay="2000"/>
                                  </p:stCondLst>
                                  <p:childTnLst>
                                    <p:animMotion origin="layout" path="M 0 0 L 0.26848 0.00000 E" pathEditMode="relative" ptsTypes="">
                                      <p:cBhvr>
                                        <p:cTn id="48" dur="4000" fill="hold" repeatCount="1000"/>
                                        <p:tgtEl>
                                          <p:spTgt spid="1162"/>
                                        </p:tgtEl>
                                        <p:attrNameLst>
                                          <p:attrName>ppt_x</p:attrName>
                                          <p:attrName>ppt_y</p:attrName>
                                        </p:attrNameLst>
                                      </p:cBhvr>
                                    </p:animMotion>
                                  </p:childTnLst>
                                </p:cTn>
                              </p:par>
                              <p:par>
                                <p:cTn id="51" presetID="1" presetClass="entr" presetSubtype="0" fill="hold" nodeType="withEffect">
                                  <p:stCondLst>
                                    <p:cond delay="0"/>
                                  </p:stCondLst>
                                  <p:childTnLst>
                                    <p:set>
                                      <p:cBhvr>
                                        <p:cTn id="50" dur="1" fill="hold">
                                          <p:stCondLst>
                                            <p:cond delay="0"/>
                                          </p:stCondLst>
                                        </p:cTn>
                                        <p:tgtEl>
                                          <p:spTgt spid="1163"/>
                                        </p:tgtEl>
                                        <p:attrNameLst>
                                          <p:attrName>style.visibility</p:attrName>
                                        </p:attrNameLst>
                                      </p:cBhvr>
                                      <p:to>
                                        <p:strVal val="visible"/>
                                      </p:to>
                                    </p:set>
                                  </p:childTnLst>
                                </p:cTn>
                              </p:par>
                              <p:par>
                                <p:cTn id="53" presetID="0" presetClass="path" presetSubtype="0" fill="hold" nodeType="withEffect">
                                  <p:stCondLst>
                                    <p:cond delay="0"/>
                                  </p:stCondLst>
                                  <p:childTnLst>
                                    <p:animMotion origin="layout" path="M 0 0 L 0.03661 0.00000 L 0.03661 -0.35688 L 0.05492 -0.35688 E" pathEditMode="relative" ptsTypes="">
                                      <p:cBhvr>
                                        <p:cTn id="52" dur="3809" fill="hold" repeatCount="2000"/>
                                        <p:tgtEl>
                                          <p:spTgt spid="1163"/>
                                        </p:tgtEl>
                                        <p:attrNameLst>
                                          <p:attrName>ppt_x</p:attrName>
                                          <p:attrName>ppt_y</p:attrName>
                                        </p:attrNameLst>
                                      </p:cBhvr>
                                    </p:animMotion>
                                  </p:childTnLst>
                                </p:cTn>
                              </p:par>
                              <p:par>
                                <p:cTn id="55" presetID="1" presetClass="entr" presetSubtype="0" fill="hold" nodeType="withEffect">
                                  <p:stCondLst>
                                    <p:cond delay="1904"/>
                                  </p:stCondLst>
                                  <p:childTnLst>
                                    <p:set>
                                      <p:cBhvr>
                                        <p:cTn id="54" dur="1" fill="hold">
                                          <p:stCondLst>
                                            <p:cond delay="0"/>
                                          </p:stCondLst>
                                        </p:cTn>
                                        <p:tgtEl>
                                          <p:spTgt spid="1164"/>
                                        </p:tgtEl>
                                        <p:attrNameLst>
                                          <p:attrName>style.visibility</p:attrName>
                                        </p:attrNameLst>
                                      </p:cBhvr>
                                      <p:to>
                                        <p:strVal val="visible"/>
                                      </p:to>
                                    </p:set>
                                  </p:childTnLst>
                                </p:cTn>
                              </p:par>
                              <p:par>
                                <p:cTn id="57" presetID="0" presetClass="path" presetSubtype="0" fill="hold" nodeType="withEffect">
                                  <p:stCondLst>
                                    <p:cond delay="1904"/>
                                  </p:stCondLst>
                                  <p:childTnLst>
                                    <p:animMotion origin="layout" path="M 0 0 L 0.03661 0.00000 L 0.03661 -0.35688 L 0.05492 -0.35688 E" pathEditMode="relative" ptsTypes="">
                                      <p:cBhvr>
                                        <p:cTn id="56" dur="3809" fill="hold" repeatCount="1000"/>
                                        <p:tgtEl>
                                          <p:spTgt spid="1164"/>
                                        </p:tgtEl>
                                        <p:attrNameLst>
                                          <p:attrName>ppt_x</p:attrName>
                                          <p:attrName>ppt_y</p:attrName>
                                        </p:attrNameLst>
                                      </p:cBhvr>
                                    </p:animMotion>
                                  </p:childTnLst>
                                </p:cTn>
                              </p:par>
                              <p:par>
                                <p:cTn id="59" presetID="1" presetClass="entr" presetSubtype="0" fill="hold" nodeType="withEffect">
                                  <p:stCondLst>
                                    <p:cond delay="0"/>
                                  </p:stCondLst>
                                  <p:childTnLst>
                                    <p:set>
                                      <p:cBhvr>
                                        <p:cTn id="58" dur="1" fill="hold">
                                          <p:stCondLst>
                                            <p:cond delay="0"/>
                                          </p:stCondLst>
                                        </p:cTn>
                                        <p:tgtEl>
                                          <p:spTgt spid="1165"/>
                                        </p:tgtEl>
                                        <p:attrNameLst>
                                          <p:attrName>style.visibility</p:attrName>
                                        </p:attrNameLst>
                                      </p:cBhvr>
                                      <p:to>
                                        <p:strVal val="visible"/>
                                      </p:to>
                                    </p:set>
                                  </p:childTnLst>
                                </p:cTn>
                              </p:par>
                              <p:par>
                                <p:cTn id="61" presetID="0" presetClass="path" presetSubtype="0" fill="hold" nodeType="withEffect">
                                  <p:stCondLst>
                                    <p:cond delay="0"/>
                                  </p:stCondLst>
                                  <p:childTnLst>
                                    <p:animMotion origin="layout" path="M 0 0 L 0.02441 0.00000 E" pathEditMode="relative" ptsTypes="">
                                      <p:cBhvr>
                                        <p:cTn id="60" dur="363" fill="hold" repeatCount="15000"/>
                                        <p:tgtEl>
                                          <p:spTgt spid="1165"/>
                                        </p:tgtEl>
                                        <p:attrNameLst>
                                          <p:attrName>ppt_x</p:attrName>
                                          <p:attrName>ppt_y</p:attrName>
                                        </p:attrNameLst>
                                      </p:cBhvr>
                                    </p:animMotion>
                                  </p:childTnLst>
                                </p:cTn>
                              </p:par>
                            </p:childTnLst>
                          </p:cTn>
                        </p:par>
                        <p:par>
                          <p:cTn id="282" fill="hold">
                            <p:stCondLst>
                              <p:cond delay="16400"/>
                            </p:stCondLst>
                            <p:childTnLst>
                              <p:par>
                                <p:cTn id="64" presetID="10" presetClass="entr" presetSubtype="0" fill="hold" nodeType="afterEffect">
                                  <p:stCondLst>
                                    <p:cond delay="0"/>
                                  </p:stCondLst>
                                  <p:childTnLst>
                                    <p:set>
                                      <p:cBhvr>
                                        <p:cTn id="62" dur="1" fill="hold">
                                          <p:stCondLst>
                                            <p:cond delay="0"/>
                                          </p:stCondLst>
                                        </p:cTn>
                                        <p:tgtEl>
                                          <p:spTgt spid="1166"/>
                                        </p:tgtEl>
                                        <p:attrNameLst>
                                          <p:attrName>style.visibility</p:attrName>
                                        </p:attrNameLst>
                                      </p:cBhvr>
                                      <p:to>
                                        <p:strVal val="visible"/>
                                      </p:to>
                                    </p:set>
                                    <p:animEffect transition="in" filter="fade">
                                      <p:cBhvr>
                                        <p:cTn id="63" dur="500"/>
                                        <p:tgtEl>
                                          <p:spTgt spid="1166"/>
                                        </p:tgtEl>
                                      </p:cBhvr>
                                    </p:animEffect>
                                  </p:childTnLst>
                                </p:cTn>
                              </p:par>
                              <p:par>
                                <p:cTn id="67" presetID="10" presetClass="exit" presetSubtype="0" fill="hold" nodeType="withEffect">
                                  <p:stCondLst>
                                    <p:cond delay="0"/>
                                  </p:stCondLst>
                                  <p:childTnLst>
                                    <p:animEffect transition="out" filter="fade">
                                      <p:cBhvr>
                                        <p:cTn id="65" dur="500"/>
                                        <p:tgtEl>
                                          <p:spTgt spid="1143"/>
                                        </p:tgtEl>
                                      </p:cBhvr>
                                    </p:animEffect>
                                    <p:set>
                                      <p:cBhvr>
                                        <p:cTn id="66" dur="1" fill="hold">
                                          <p:stCondLst>
                                            <p:cond delay="499"/>
                                          </p:stCondLst>
                                        </p:cTn>
                                        <p:tgtEl>
                                          <p:spTgt spid="1143"/>
                                        </p:tgtEl>
                                        <p:attrNameLst>
                                          <p:attrName>style.visibility</p:attrName>
                                        </p:attrNameLst>
                                      </p:cBhvr>
                                      <p:to>
                                        <p:strVal val="hidden"/>
                                      </p:to>
                                    </p:set>
                                  </p:childTnLst>
                                </p:cTn>
                              </p:par>
                              <p:par>
                                <p:cTn id="69" presetID="1" presetClass="exit" presetSubtype="0" fill="hold" nodeType="withEffect">
                                  <p:stCondLst>
                                    <p:cond delay="0"/>
                                  </p:stCondLst>
                                  <p:childTnLst>
                                    <p:set>
                                      <p:cBhvr>
                                        <p:cTn id="68" dur="1" fill="hold">
                                          <p:stCondLst>
                                            <p:cond delay="0"/>
                                          </p:stCondLst>
                                        </p:cTn>
                                        <p:tgtEl>
                                          <p:spTgt spid="1161"/>
                                        </p:tgtEl>
                                        <p:attrNameLst>
                                          <p:attrName>style.visibility</p:attrName>
                                        </p:attrNameLst>
                                      </p:cBhvr>
                                      <p:to>
                                        <p:strVal val="hidden"/>
                                      </p:to>
                                    </p:set>
                                  </p:childTnLst>
                                </p:cTn>
                              </p:par>
                              <p:par>
                                <p:cTn id="71" presetID="1" presetClass="exit" presetSubtype="0" fill="hold" nodeType="withEffect">
                                  <p:stCondLst>
                                    <p:cond delay="0"/>
                                  </p:stCondLst>
                                  <p:childTnLst>
                                    <p:set>
                                      <p:cBhvr>
                                        <p:cTn id="70" dur="1" fill="hold">
                                          <p:stCondLst>
                                            <p:cond delay="0"/>
                                          </p:stCondLst>
                                        </p:cTn>
                                        <p:tgtEl>
                                          <p:spTgt spid="1162"/>
                                        </p:tgtEl>
                                        <p:attrNameLst>
                                          <p:attrName>style.visibility</p:attrName>
                                        </p:attrNameLst>
                                      </p:cBhvr>
                                      <p:to>
                                        <p:strVal val="hidden"/>
                                      </p:to>
                                    </p:set>
                                  </p:childTnLst>
                                </p:cTn>
                              </p:par>
                              <p:par>
                                <p:cTn id="73" presetID="1" presetClass="exit" presetSubtype="0" fill="hold" nodeType="withEffect">
                                  <p:stCondLst>
                                    <p:cond delay="0"/>
                                  </p:stCondLst>
                                  <p:childTnLst>
                                    <p:set>
                                      <p:cBhvr>
                                        <p:cTn id="72" dur="1" fill="hold">
                                          <p:stCondLst>
                                            <p:cond delay="0"/>
                                          </p:stCondLst>
                                        </p:cTn>
                                        <p:tgtEl>
                                          <p:spTgt spid="1163"/>
                                        </p:tgtEl>
                                        <p:attrNameLst>
                                          <p:attrName>style.visibility</p:attrName>
                                        </p:attrNameLst>
                                      </p:cBhvr>
                                      <p:to>
                                        <p:strVal val="hidden"/>
                                      </p:to>
                                    </p:set>
                                  </p:childTnLst>
                                </p:cTn>
                              </p:par>
                              <p:par>
                                <p:cTn id="75" presetID="1" presetClass="exit" presetSubtype="0" fill="hold" nodeType="withEffect">
                                  <p:stCondLst>
                                    <p:cond delay="0"/>
                                  </p:stCondLst>
                                  <p:childTnLst>
                                    <p:set>
                                      <p:cBhvr>
                                        <p:cTn id="74" dur="1" fill="hold">
                                          <p:stCondLst>
                                            <p:cond delay="0"/>
                                          </p:stCondLst>
                                        </p:cTn>
                                        <p:tgtEl>
                                          <p:spTgt spid="1164"/>
                                        </p:tgtEl>
                                        <p:attrNameLst>
                                          <p:attrName>style.visibility</p:attrName>
                                        </p:attrNameLst>
                                      </p:cBhvr>
                                      <p:to>
                                        <p:strVal val="hidden"/>
                                      </p:to>
                                    </p:set>
                                  </p:childTnLst>
                                </p:cTn>
                              </p:par>
                              <p:par>
                                <p:cTn id="77" presetID="1" presetClass="exit" presetSubtype="0" fill="hold" nodeType="withEffect">
                                  <p:stCondLst>
                                    <p:cond delay="0"/>
                                  </p:stCondLst>
                                  <p:childTnLst>
                                    <p:set>
                                      <p:cBhvr>
                                        <p:cTn id="76" dur="1" fill="hold">
                                          <p:stCondLst>
                                            <p:cond delay="0"/>
                                          </p:stCondLst>
                                        </p:cTn>
                                        <p:tgtEl>
                                          <p:spTgt spid="1165"/>
                                        </p:tgtEl>
                                        <p:attrNameLst>
                                          <p:attrName>style.visibility</p:attrName>
                                        </p:attrNameLst>
                                      </p:cBhvr>
                                      <p:to>
                                        <p:strVal val="hidden"/>
                                      </p:to>
                                    </p:set>
                                  </p:childTnLst>
                                </p:cTn>
                              </p:par>
                              <p:par>
                                <p:cTn id="79" presetID="1" presetClass="entr" presetSubtype="0" fill="hold" nodeType="withEffect">
                                  <p:stCondLst>
                                    <p:cond delay="0"/>
                                  </p:stCondLst>
                                  <p:childTnLst>
                                    <p:set>
                                      <p:cBhvr>
                                        <p:cTn id="78" dur="1" fill="hold">
                                          <p:stCondLst>
                                            <p:cond delay="0"/>
                                          </p:stCondLst>
                                        </p:cTn>
                                        <p:tgtEl>
                                          <p:spTgt spid="1185"/>
                                        </p:tgtEl>
                                        <p:attrNameLst>
                                          <p:attrName>style.visibility</p:attrName>
                                        </p:attrNameLst>
                                      </p:cBhvr>
                                      <p:to>
                                        <p:strVal val="visible"/>
                                      </p:to>
                                    </p:set>
                                  </p:childTnLst>
                                </p:cTn>
                              </p:par>
                              <p:par>
                                <p:cTn id="81" presetID="0" presetClass="path" presetSubtype="0" fill="hold" nodeType="withEffect">
                                  <p:stCondLst>
                                    <p:cond delay="0"/>
                                  </p:stCondLst>
                                  <p:childTnLst>
                                    <p:animMotion origin="layout" path="M 0 0 L 0.01525 0.00000 L 0.01525 0.06292 L 0.03356 0.06292 E" pathEditMode="relative" ptsTypes="">
                                      <p:cBhvr>
                                        <p:cTn id="80" dur="1027" fill="hold" repeatCount="6000"/>
                                        <p:tgtEl>
                                          <p:spTgt spid="1185"/>
                                        </p:tgtEl>
                                        <p:attrNameLst>
                                          <p:attrName>ppt_x</p:attrName>
                                          <p:attrName>ppt_y</p:attrName>
                                        </p:attrNameLst>
                                      </p:cBhvr>
                                    </p:animMotion>
                                  </p:childTnLst>
                                </p:cTn>
                              </p:par>
                              <p:par>
                                <p:cTn id="83" presetID="1" presetClass="entr" presetSubtype="0" fill="hold" nodeType="withEffect">
                                  <p:stCondLst>
                                    <p:cond delay="0"/>
                                  </p:stCondLst>
                                  <p:childTnLst>
                                    <p:set>
                                      <p:cBhvr>
                                        <p:cTn id="82" dur="1" fill="hold">
                                          <p:stCondLst>
                                            <p:cond delay="0"/>
                                          </p:stCondLst>
                                        </p:cTn>
                                        <p:tgtEl>
                                          <p:spTgt spid="1186"/>
                                        </p:tgtEl>
                                        <p:attrNameLst>
                                          <p:attrName>style.visibility</p:attrName>
                                        </p:attrNameLst>
                                      </p:cBhvr>
                                      <p:to>
                                        <p:strVal val="visible"/>
                                      </p:to>
                                    </p:set>
                                  </p:childTnLst>
                                </p:cTn>
                              </p:par>
                              <p:par>
                                <p:cTn id="85" presetID="0" presetClass="path" presetSubtype="0" fill="hold" nodeType="withEffect">
                                  <p:stCondLst>
                                    <p:cond delay="0"/>
                                  </p:stCondLst>
                                  <p:childTnLst>
                                    <p:animMotion origin="layout" path="M 0 0 L 0.02441 0.00000 L 0.02441 -0.08244 L 0.03356 -0.08244 E" pathEditMode="relative" ptsTypes="">
                                      <p:cBhvr>
                                        <p:cTn id="84" dur="1190" fill="hold" repeatCount="5000"/>
                                        <p:tgtEl>
                                          <p:spTgt spid="1186"/>
                                        </p:tgtEl>
                                        <p:attrNameLst>
                                          <p:attrName>ppt_x</p:attrName>
                                          <p:attrName>ppt_y</p:attrName>
                                        </p:attrNameLst>
                                      </p:cBhvr>
                                    </p:animMotion>
                                  </p:childTnLst>
                                </p:cTn>
                              </p:par>
                              <p:par>
                                <p:cTn id="87" presetID="1" presetClass="entr" presetSubtype="0" fill="hold" nodeType="withEffect">
                                  <p:stCondLst>
                                    <p:cond delay="0"/>
                                  </p:stCondLst>
                                  <p:childTnLst>
                                    <p:set>
                                      <p:cBhvr>
                                        <p:cTn id="86" dur="1" fill="hold">
                                          <p:stCondLst>
                                            <p:cond delay="0"/>
                                          </p:stCondLst>
                                        </p:cTn>
                                        <p:tgtEl>
                                          <p:spTgt spid="1187"/>
                                        </p:tgtEl>
                                        <p:attrNameLst>
                                          <p:attrName>style.visibility</p:attrName>
                                        </p:attrNameLst>
                                      </p:cBhvr>
                                      <p:to>
                                        <p:strVal val="visible"/>
                                      </p:to>
                                    </p:set>
                                  </p:childTnLst>
                                </p:cTn>
                              </p:par>
                              <p:par>
                                <p:cTn id="89" presetID="0" presetClass="path" presetSubtype="0" fill="hold" nodeType="withEffect">
                                  <p:stCondLst>
                                    <p:cond delay="0"/>
                                  </p:stCondLst>
                                  <p:childTnLst>
                                    <p:animMotion origin="layout" path="M 0 0 L 0.03356 0.00000 E" pathEditMode="relative" ptsTypes="">
                                      <p:cBhvr>
                                        <p:cTn id="88" dur="500" fill="hold" repeatCount="11000"/>
                                        <p:tgtEl>
                                          <p:spTgt spid="1187"/>
                                        </p:tgtEl>
                                        <p:attrNameLst>
                                          <p:attrName>ppt_x</p:attrName>
                                          <p:attrName>ppt_y</p:attrName>
                                        </p:attrNameLst>
                                      </p:cBhvr>
                                    </p:animMotion>
                                  </p:childTnLst>
                                </p:cTn>
                              </p:par>
                            </p:childTnLst>
                          </p:cTn>
                        </p:par>
                        <p:par>
                          <p:cTn id="283" fill="hold">
                            <p:stCondLst>
                              <p:cond delay="21600"/>
                            </p:stCondLst>
                            <p:childTnLst>
                              <p:par>
                                <p:cTn id="92" presetID="10" presetClass="entr" presetSubtype="0" fill="hold" nodeType="afterEffect">
                                  <p:stCondLst>
                                    <p:cond delay="0"/>
                                  </p:stCondLst>
                                  <p:childTnLst>
                                    <p:set>
                                      <p:cBhvr>
                                        <p:cTn id="90" dur="1" fill="hold">
                                          <p:stCondLst>
                                            <p:cond delay="0"/>
                                          </p:stCondLst>
                                        </p:cTn>
                                        <p:tgtEl>
                                          <p:spTgt spid="1188"/>
                                        </p:tgtEl>
                                        <p:attrNameLst>
                                          <p:attrName>style.visibility</p:attrName>
                                        </p:attrNameLst>
                                      </p:cBhvr>
                                      <p:to>
                                        <p:strVal val="visible"/>
                                      </p:to>
                                    </p:set>
                                    <p:animEffect transition="in" filter="fade">
                                      <p:cBhvr>
                                        <p:cTn id="91" dur="500"/>
                                        <p:tgtEl>
                                          <p:spTgt spid="1188"/>
                                        </p:tgtEl>
                                      </p:cBhvr>
                                    </p:animEffect>
                                  </p:childTnLst>
                                </p:cTn>
                              </p:par>
                              <p:par>
                                <p:cTn id="95" presetID="10" presetClass="exit" presetSubtype="0" fill="hold" nodeType="withEffect">
                                  <p:stCondLst>
                                    <p:cond delay="0"/>
                                  </p:stCondLst>
                                  <p:childTnLst>
                                    <p:animEffect transition="out" filter="fade">
                                      <p:cBhvr>
                                        <p:cTn id="93" dur="500"/>
                                        <p:tgtEl>
                                          <p:spTgt spid="1166"/>
                                        </p:tgtEl>
                                      </p:cBhvr>
                                    </p:animEffect>
                                    <p:set>
                                      <p:cBhvr>
                                        <p:cTn id="94" dur="1" fill="hold">
                                          <p:stCondLst>
                                            <p:cond delay="499"/>
                                          </p:stCondLst>
                                        </p:cTn>
                                        <p:tgtEl>
                                          <p:spTgt spid="1166"/>
                                        </p:tgtEl>
                                        <p:attrNameLst>
                                          <p:attrName>style.visibility</p:attrName>
                                        </p:attrNameLst>
                                      </p:cBhvr>
                                      <p:to>
                                        <p:strVal val="hidden"/>
                                      </p:to>
                                    </p:set>
                                  </p:childTnLst>
                                </p:cTn>
                              </p:par>
                              <p:par>
                                <p:cTn id="97" presetID="1" presetClass="exit" presetSubtype="0" fill="hold" nodeType="withEffect">
                                  <p:stCondLst>
                                    <p:cond delay="0"/>
                                  </p:stCondLst>
                                  <p:childTnLst>
                                    <p:set>
                                      <p:cBhvr>
                                        <p:cTn id="96" dur="1" fill="hold">
                                          <p:stCondLst>
                                            <p:cond delay="0"/>
                                          </p:stCondLst>
                                        </p:cTn>
                                        <p:tgtEl>
                                          <p:spTgt spid="1185"/>
                                        </p:tgtEl>
                                        <p:attrNameLst>
                                          <p:attrName>style.visibility</p:attrName>
                                        </p:attrNameLst>
                                      </p:cBhvr>
                                      <p:to>
                                        <p:strVal val="hidden"/>
                                      </p:to>
                                    </p:set>
                                  </p:childTnLst>
                                </p:cTn>
                              </p:par>
                              <p:par>
                                <p:cTn id="99" presetID="1" presetClass="exit" presetSubtype="0" fill="hold" nodeType="withEffect">
                                  <p:stCondLst>
                                    <p:cond delay="0"/>
                                  </p:stCondLst>
                                  <p:childTnLst>
                                    <p:set>
                                      <p:cBhvr>
                                        <p:cTn id="98" dur="1" fill="hold">
                                          <p:stCondLst>
                                            <p:cond delay="0"/>
                                          </p:stCondLst>
                                        </p:cTn>
                                        <p:tgtEl>
                                          <p:spTgt spid="1186"/>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0" dur="1" fill="hold">
                                          <p:stCondLst>
                                            <p:cond delay="0"/>
                                          </p:stCondLst>
                                        </p:cTn>
                                        <p:tgtEl>
                                          <p:spTgt spid="1187"/>
                                        </p:tgtEl>
                                        <p:attrNameLst>
                                          <p:attrName>style.visibility</p:attrName>
                                        </p:attrNameLst>
                                      </p:cBhvr>
                                      <p:to>
                                        <p:strVal val="hidden"/>
                                      </p:to>
                                    </p:set>
                                  </p:childTnLst>
                                </p:cTn>
                              </p:par>
                              <p:par>
                                <p:cTn id="103" presetID="1" presetClass="entr" presetSubtype="0" fill="hold" nodeType="withEffect">
                                  <p:stCondLst>
                                    <p:cond delay="0"/>
                                  </p:stCondLst>
                                  <p:childTnLst>
                                    <p:set>
                                      <p:cBhvr>
                                        <p:cTn id="102" dur="1" fill="hold">
                                          <p:stCondLst>
                                            <p:cond delay="0"/>
                                          </p:stCondLst>
                                        </p:cTn>
                                        <p:tgtEl>
                                          <p:spTgt spid="1222"/>
                                        </p:tgtEl>
                                        <p:attrNameLst>
                                          <p:attrName>style.visibility</p:attrName>
                                        </p:attrNameLst>
                                      </p:cBhvr>
                                      <p:to>
                                        <p:strVal val="visible"/>
                                      </p:to>
                                    </p:set>
                                  </p:childTnLst>
                                </p:cTn>
                              </p:par>
                              <p:par>
                                <p:cTn id="105" presetID="0" presetClass="path" presetSubtype="0" fill="hold" nodeType="withEffect">
                                  <p:stCondLst>
                                    <p:cond delay="0"/>
                                  </p:stCondLst>
                                  <p:childTnLst>
                                    <p:animMotion origin="layout" path="M 0 0 L 0.03356 0.00000 E" pathEditMode="relative" ptsTypes="">
                                      <p:cBhvr>
                                        <p:cTn id="104" dur="500" fill="hold" repeatCount="11000"/>
                                        <p:tgtEl>
                                          <p:spTgt spid="1222"/>
                                        </p:tgtEl>
                                        <p:attrNameLst>
                                          <p:attrName>ppt_x</p:attrName>
                                          <p:attrName>ppt_y</p:attrName>
                                        </p:attrNameLst>
                                      </p:cBhvr>
                                    </p:animMotion>
                                  </p:childTnLst>
                                </p:cTn>
                              </p:par>
                              <p:par>
                                <p:cTn id="107" presetID="1" presetClass="entr" presetSubtype="0" fill="hold" nodeType="withEffect">
                                  <p:stCondLst>
                                    <p:cond delay="0"/>
                                  </p:stCondLst>
                                  <p:childTnLst>
                                    <p:set>
                                      <p:cBhvr>
                                        <p:cTn id="106" dur="1" fill="hold">
                                          <p:stCondLst>
                                            <p:cond delay="0"/>
                                          </p:stCondLst>
                                        </p:cTn>
                                        <p:tgtEl>
                                          <p:spTgt spid="1223"/>
                                        </p:tgtEl>
                                        <p:attrNameLst>
                                          <p:attrName>style.visibility</p:attrName>
                                        </p:attrNameLst>
                                      </p:cBhvr>
                                      <p:to>
                                        <p:strVal val="visible"/>
                                      </p:to>
                                    </p:set>
                                  </p:childTnLst>
                                </p:cTn>
                              </p:par>
                              <p:par>
                                <p:cTn id="109" presetID="0" presetClass="path" presetSubtype="0" fill="hold" nodeType="withEffect">
                                  <p:stCondLst>
                                    <p:cond delay="0"/>
                                  </p:stCondLst>
                                  <p:childTnLst>
                                    <p:animMotion origin="layout" path="M 0 0 L 0.03356 0.00000 E" pathEditMode="relative" ptsTypes="">
                                      <p:cBhvr>
                                        <p:cTn id="108" dur="500" fill="hold" repeatCount="11000"/>
                                        <p:tgtEl>
                                          <p:spTgt spid="1223"/>
                                        </p:tgtEl>
                                        <p:attrNameLst>
                                          <p:attrName>ppt_x</p:attrName>
                                          <p:attrName>ppt_y</p:attrName>
                                        </p:attrNameLst>
                                      </p:cBhvr>
                                    </p:animMotion>
                                  </p:childTnLst>
                                </p:cTn>
                              </p:par>
                              <p:par>
                                <p:cTn id="111" presetID="1" presetClass="entr" presetSubtype="0" fill="hold" nodeType="withEffect">
                                  <p:stCondLst>
                                    <p:cond delay="0"/>
                                  </p:stCondLst>
                                  <p:childTnLst>
                                    <p:set>
                                      <p:cBhvr>
                                        <p:cTn id="110" dur="1" fill="hold">
                                          <p:stCondLst>
                                            <p:cond delay="0"/>
                                          </p:stCondLst>
                                        </p:cTn>
                                        <p:tgtEl>
                                          <p:spTgt spid="1224"/>
                                        </p:tgtEl>
                                        <p:attrNameLst>
                                          <p:attrName>style.visibility</p:attrName>
                                        </p:attrNameLst>
                                      </p:cBhvr>
                                      <p:to>
                                        <p:strVal val="visible"/>
                                      </p:to>
                                    </p:set>
                                  </p:childTnLst>
                                </p:cTn>
                              </p:par>
                              <p:par>
                                <p:cTn id="113" presetID="0" presetClass="path" presetSubtype="0" fill="hold" nodeType="withEffect">
                                  <p:stCondLst>
                                    <p:cond delay="0"/>
                                  </p:stCondLst>
                                  <p:childTnLst>
                                    <p:animMotion origin="layout" path="M 0 0 L 0.05492 0.00000 E" pathEditMode="relative" ptsTypes="">
                                      <p:cBhvr>
                                        <p:cTn id="112" dur="818" fill="hold" repeatCount="7000"/>
                                        <p:tgtEl>
                                          <p:spTgt spid="1224"/>
                                        </p:tgtEl>
                                        <p:attrNameLst>
                                          <p:attrName>ppt_x</p:attrName>
                                          <p:attrName>ppt_y</p:attrName>
                                        </p:attrNameLst>
                                      </p:cBhvr>
                                    </p:animMotion>
                                  </p:childTnLst>
                                </p:cTn>
                              </p:par>
                              <p:par>
                                <p:cTn id="115" presetID="1" presetClass="entr" presetSubtype="0" fill="hold" nodeType="withEffect">
                                  <p:stCondLst>
                                    <p:cond delay="0"/>
                                  </p:stCondLst>
                                  <p:childTnLst>
                                    <p:set>
                                      <p:cBhvr>
                                        <p:cTn id="114" dur="1" fill="hold">
                                          <p:stCondLst>
                                            <p:cond delay="0"/>
                                          </p:stCondLst>
                                        </p:cTn>
                                        <p:tgtEl>
                                          <p:spTgt spid="1225"/>
                                        </p:tgtEl>
                                        <p:attrNameLst>
                                          <p:attrName>style.visibility</p:attrName>
                                        </p:attrNameLst>
                                      </p:cBhvr>
                                      <p:to>
                                        <p:strVal val="visible"/>
                                      </p:to>
                                    </p:set>
                                  </p:childTnLst>
                                </p:cTn>
                              </p:par>
                              <p:par>
                                <p:cTn id="117" presetID="0" presetClass="path" presetSubtype="0" fill="hold" nodeType="withEffect">
                                  <p:stCondLst>
                                    <p:cond delay="0"/>
                                  </p:stCondLst>
                                  <p:childTnLst>
                                    <p:animMotion origin="layout" path="M 0 0 L 0.00000 0.28854 L 0.20624 0.28854 L 0.20624 0.23756 E" pathEditMode="relative" ptsTypes="">
                                      <p:cBhvr>
                                        <p:cTn id="116" dur="5918" fill="hold" repeatCount="1000"/>
                                        <p:tgtEl>
                                          <p:spTgt spid="1225"/>
                                        </p:tgtEl>
                                        <p:attrNameLst>
                                          <p:attrName>ppt_x</p:attrName>
                                          <p:attrName>ppt_y</p:attrName>
                                        </p:attrNameLst>
                                      </p:cBhvr>
                                    </p:animMotion>
                                  </p:childTnLst>
                                </p:cTn>
                              </p:par>
                              <p:par>
                                <p:cTn id="119" presetID="1" presetClass="entr" presetSubtype="0" fill="hold" nodeType="withEffect">
                                  <p:stCondLst>
                                    <p:cond delay="1972"/>
                                  </p:stCondLst>
                                  <p:childTnLst>
                                    <p:set>
                                      <p:cBhvr>
                                        <p:cTn id="118" dur="1" fill="hold">
                                          <p:stCondLst>
                                            <p:cond delay="0"/>
                                          </p:stCondLst>
                                        </p:cTn>
                                        <p:tgtEl>
                                          <p:spTgt spid="1226"/>
                                        </p:tgtEl>
                                        <p:attrNameLst>
                                          <p:attrName>style.visibility</p:attrName>
                                        </p:attrNameLst>
                                      </p:cBhvr>
                                      <p:to>
                                        <p:strVal val="visible"/>
                                      </p:to>
                                    </p:set>
                                  </p:childTnLst>
                                </p:cTn>
                              </p:par>
                              <p:par>
                                <p:cTn id="121" presetID="0" presetClass="path" presetSubtype="0" fill="hold" nodeType="withEffect">
                                  <p:stCondLst>
                                    <p:cond delay="1972"/>
                                  </p:stCondLst>
                                  <p:childTnLst>
                                    <p:animMotion origin="layout" path="M 0 0 L 0.00000 0.28854 L 0.20624 0.28854 L 0.20624 0.23756 E" pathEditMode="relative" ptsTypes="">
                                      <p:cBhvr>
                                        <p:cTn id="120" dur="5918" fill="hold" repeatCount="1000"/>
                                        <p:tgtEl>
                                          <p:spTgt spid="1226"/>
                                        </p:tgtEl>
                                        <p:attrNameLst>
                                          <p:attrName>ppt_x</p:attrName>
                                          <p:attrName>ppt_y</p:attrName>
                                        </p:attrNameLst>
                                      </p:cBhvr>
                                    </p:animMotion>
                                  </p:childTnLst>
                                </p:cTn>
                              </p:par>
                              <p:par>
                                <p:cTn id="123" presetID="1" presetClass="entr" presetSubtype="0" fill="hold" nodeType="withEffect">
                                  <p:stCondLst>
                                    <p:cond delay="3945"/>
                                  </p:stCondLst>
                                  <p:childTnLst>
                                    <p:set>
                                      <p:cBhvr>
                                        <p:cTn id="122" dur="1" fill="hold">
                                          <p:stCondLst>
                                            <p:cond delay="0"/>
                                          </p:stCondLst>
                                        </p:cTn>
                                        <p:tgtEl>
                                          <p:spTgt spid="1227"/>
                                        </p:tgtEl>
                                        <p:attrNameLst>
                                          <p:attrName>style.visibility</p:attrName>
                                        </p:attrNameLst>
                                      </p:cBhvr>
                                      <p:to>
                                        <p:strVal val="visible"/>
                                      </p:to>
                                    </p:set>
                                  </p:childTnLst>
                                </p:cTn>
                              </p:par>
                              <p:par>
                                <p:cTn id="125" presetID="0" presetClass="path" presetSubtype="0" fill="hold" nodeType="withEffect">
                                  <p:stCondLst>
                                    <p:cond delay="3945"/>
                                  </p:stCondLst>
                                  <p:childTnLst>
                                    <p:animMotion origin="layout" path="M 0 0 L 0.00000 0.28854 L 0.20624 0.28854 L 0.20624 0.23756 E" pathEditMode="relative" ptsTypes="">
                                      <p:cBhvr>
                                        <p:cTn id="124" dur="5918" fill="hold" repeatCount="1000"/>
                                        <p:tgtEl>
                                          <p:spTgt spid="1227"/>
                                        </p:tgtEl>
                                        <p:attrNameLst>
                                          <p:attrName>ppt_x</p:attrName>
                                          <p:attrName>ppt_y</p:attrName>
                                        </p:attrNameLst>
                                      </p:cBhvr>
                                    </p:animMotion>
                                  </p:childTnLst>
                                </p:cTn>
                              </p:par>
                              <p:par>
                                <p:cTn id="127" presetID="1" presetClass="entr" presetSubtype="0" fill="hold" nodeType="withEffect">
                                  <p:stCondLst>
                                    <p:cond delay="0"/>
                                  </p:stCondLst>
                                  <p:childTnLst>
                                    <p:set>
                                      <p:cBhvr>
                                        <p:cTn id="126" dur="1" fill="hold">
                                          <p:stCondLst>
                                            <p:cond delay="0"/>
                                          </p:stCondLst>
                                        </p:cTn>
                                        <p:tgtEl>
                                          <p:spTgt spid="1228"/>
                                        </p:tgtEl>
                                        <p:attrNameLst>
                                          <p:attrName>style.visibility</p:attrName>
                                        </p:attrNameLst>
                                      </p:cBhvr>
                                      <p:to>
                                        <p:strVal val="visible"/>
                                      </p:to>
                                    </p:set>
                                  </p:childTnLst>
                                </p:cTn>
                              </p:par>
                              <p:par>
                                <p:cTn id="129" presetID="0" presetClass="path" presetSubtype="0" fill="hold" nodeType="withEffect">
                                  <p:stCondLst>
                                    <p:cond delay="0"/>
                                  </p:stCondLst>
                                  <p:childTnLst>
                                    <p:animMotion origin="layout" path="M 0 0 L 0.00000 -0.12692 E" pathEditMode="relative" ptsTypes="">
                                      <p:cBhvr>
                                        <p:cTn id="128" dur="1063" fill="hold" repeatCount="5000"/>
                                        <p:tgtEl>
                                          <p:spTgt spid="1228"/>
                                        </p:tgtEl>
                                        <p:attrNameLst>
                                          <p:attrName>ppt_x</p:attrName>
                                          <p:attrName>ppt_y</p:attrName>
                                        </p:attrNameLst>
                                      </p:cBhvr>
                                    </p:animMotion>
                                  </p:childTnLst>
                                </p:cTn>
                              </p:par>
                              <p:par>
                                <p:cTn id="131" presetID="1" presetClass="entr" presetSubtype="0" fill="hold" nodeType="withEffect">
                                  <p:stCondLst>
                                    <p:cond delay="0"/>
                                  </p:stCondLst>
                                  <p:childTnLst>
                                    <p:set>
                                      <p:cBhvr>
                                        <p:cTn id="130" dur="1" fill="hold">
                                          <p:stCondLst>
                                            <p:cond delay="0"/>
                                          </p:stCondLst>
                                        </p:cTn>
                                        <p:tgtEl>
                                          <p:spTgt spid="1229"/>
                                        </p:tgtEl>
                                        <p:attrNameLst>
                                          <p:attrName>style.visibility</p:attrName>
                                        </p:attrNameLst>
                                      </p:cBhvr>
                                      <p:to>
                                        <p:strVal val="visible"/>
                                      </p:to>
                                    </p:set>
                                  </p:childTnLst>
                                </p:cTn>
                              </p:par>
                              <p:par>
                                <p:cTn id="133" presetID="0" presetClass="path" presetSubtype="0" fill="hold" nodeType="withEffect">
                                  <p:stCondLst>
                                    <p:cond delay="0"/>
                                  </p:stCondLst>
                                  <p:childTnLst>
                                    <p:animMotion origin="layout" path="M 0 0 L 0.00000 -0.08895 E" pathEditMode="relative" ptsTypes="">
                                      <p:cBhvr>
                                        <p:cTn id="132" dur="745" fill="hold" repeatCount="7000"/>
                                        <p:tgtEl>
                                          <p:spTgt spid="1229"/>
                                        </p:tgtEl>
                                        <p:attrNameLst>
                                          <p:attrName>ppt_x</p:attrName>
                                          <p:attrName>ppt_y</p:attrName>
                                        </p:attrNameLst>
                                      </p:cBhvr>
                                    </p:animMotion>
                                  </p:childTnLst>
                                </p:cTn>
                              </p:par>
                            </p:childTnLst>
                          </p:cTn>
                        </p:par>
                        <p:par>
                          <p:cTn id="284" fill="hold">
                            <p:stCondLst>
                              <p:cond delay="26800"/>
                            </p:stCondLst>
                            <p:childTnLst>
                              <p:par>
                                <p:cTn id="136" presetID="10" presetClass="entr" presetSubtype="0" fill="hold" nodeType="afterEffect">
                                  <p:stCondLst>
                                    <p:cond delay="0"/>
                                  </p:stCondLst>
                                  <p:childTnLst>
                                    <p:set>
                                      <p:cBhvr>
                                        <p:cTn id="134" dur="1" fill="hold">
                                          <p:stCondLst>
                                            <p:cond delay="0"/>
                                          </p:stCondLst>
                                        </p:cTn>
                                        <p:tgtEl>
                                          <p:spTgt spid="1230"/>
                                        </p:tgtEl>
                                        <p:attrNameLst>
                                          <p:attrName>style.visibility</p:attrName>
                                        </p:attrNameLst>
                                      </p:cBhvr>
                                      <p:to>
                                        <p:strVal val="visible"/>
                                      </p:to>
                                    </p:set>
                                    <p:animEffect transition="in" filter="fade">
                                      <p:cBhvr>
                                        <p:cTn id="135" dur="500"/>
                                        <p:tgtEl>
                                          <p:spTgt spid="1230"/>
                                        </p:tgtEl>
                                      </p:cBhvr>
                                    </p:animEffect>
                                  </p:childTnLst>
                                </p:cTn>
                              </p:par>
                              <p:par>
                                <p:cTn id="139" presetID="10" presetClass="exit" presetSubtype="0" fill="hold" nodeType="withEffect">
                                  <p:stCondLst>
                                    <p:cond delay="0"/>
                                  </p:stCondLst>
                                  <p:childTnLst>
                                    <p:animEffect transition="out" filter="fade">
                                      <p:cBhvr>
                                        <p:cTn id="137" dur="500"/>
                                        <p:tgtEl>
                                          <p:spTgt spid="1188"/>
                                        </p:tgtEl>
                                      </p:cBhvr>
                                    </p:animEffect>
                                    <p:set>
                                      <p:cBhvr>
                                        <p:cTn id="138" dur="1" fill="hold">
                                          <p:stCondLst>
                                            <p:cond delay="499"/>
                                          </p:stCondLst>
                                        </p:cTn>
                                        <p:tgtEl>
                                          <p:spTgt spid="1188"/>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0" dur="1" fill="hold">
                                          <p:stCondLst>
                                            <p:cond delay="0"/>
                                          </p:stCondLst>
                                        </p:cTn>
                                        <p:tgtEl>
                                          <p:spTgt spid="1222"/>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2" dur="1" fill="hold">
                                          <p:stCondLst>
                                            <p:cond delay="0"/>
                                          </p:stCondLst>
                                        </p:cTn>
                                        <p:tgtEl>
                                          <p:spTgt spid="1223"/>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4" dur="1" fill="hold">
                                          <p:stCondLst>
                                            <p:cond delay="0"/>
                                          </p:stCondLst>
                                        </p:cTn>
                                        <p:tgtEl>
                                          <p:spTgt spid="1224"/>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6" dur="1" fill="hold">
                                          <p:stCondLst>
                                            <p:cond delay="0"/>
                                          </p:stCondLst>
                                        </p:cTn>
                                        <p:tgtEl>
                                          <p:spTgt spid="1225"/>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48" dur="1" fill="hold">
                                          <p:stCondLst>
                                            <p:cond delay="0"/>
                                          </p:stCondLst>
                                        </p:cTn>
                                        <p:tgtEl>
                                          <p:spTgt spid="1226"/>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0" dur="1" fill="hold">
                                          <p:stCondLst>
                                            <p:cond delay="0"/>
                                          </p:stCondLst>
                                        </p:cTn>
                                        <p:tgtEl>
                                          <p:spTgt spid="1227"/>
                                        </p:tgtEl>
                                        <p:attrNameLst>
                                          <p:attrName>style.visibility</p:attrName>
                                        </p:attrNameLst>
                                      </p:cBhvr>
                                      <p:to>
                                        <p:strVal val="hidden"/>
                                      </p:to>
                                    </p:set>
                                  </p:childTnLst>
                                </p:cTn>
                              </p:par>
                              <p:par>
                                <p:cTn id="153" presetID="1" presetClass="exit" presetSubtype="0" fill="hold" nodeType="withEffect">
                                  <p:stCondLst>
                                    <p:cond delay="0"/>
                                  </p:stCondLst>
                                  <p:childTnLst>
                                    <p:set>
                                      <p:cBhvr>
                                        <p:cTn id="152" dur="1" fill="hold">
                                          <p:stCondLst>
                                            <p:cond delay="0"/>
                                          </p:stCondLst>
                                        </p:cTn>
                                        <p:tgtEl>
                                          <p:spTgt spid="1228"/>
                                        </p:tgtEl>
                                        <p:attrNameLst>
                                          <p:attrName>style.visibility</p:attrName>
                                        </p:attrNameLst>
                                      </p:cBhvr>
                                      <p:to>
                                        <p:strVal val="hidden"/>
                                      </p:to>
                                    </p:set>
                                  </p:childTnLst>
                                </p:cTn>
                              </p:par>
                              <p:par>
                                <p:cTn id="155" presetID="1" presetClass="exit" presetSubtype="0" fill="hold" nodeType="withEffect">
                                  <p:stCondLst>
                                    <p:cond delay="0"/>
                                  </p:stCondLst>
                                  <p:childTnLst>
                                    <p:set>
                                      <p:cBhvr>
                                        <p:cTn id="154" dur="1" fill="hold">
                                          <p:stCondLst>
                                            <p:cond delay="0"/>
                                          </p:stCondLst>
                                        </p:cTn>
                                        <p:tgtEl>
                                          <p:spTgt spid="1229"/>
                                        </p:tgtEl>
                                        <p:attrNameLst>
                                          <p:attrName>style.visibility</p:attrName>
                                        </p:attrNameLst>
                                      </p:cBhvr>
                                      <p:to>
                                        <p:strVal val="hidden"/>
                                      </p:to>
                                    </p:set>
                                  </p:childTnLst>
                                </p:cTn>
                              </p:par>
                              <p:par>
                                <p:cTn id="157" presetID="1" presetClass="entr" presetSubtype="0" fill="hold" nodeType="withEffect">
                                  <p:stCondLst>
                                    <p:cond delay="0"/>
                                  </p:stCondLst>
                                  <p:childTnLst>
                                    <p:set>
                                      <p:cBhvr>
                                        <p:cTn id="156" dur="1" fill="hold">
                                          <p:stCondLst>
                                            <p:cond delay="0"/>
                                          </p:stCondLst>
                                        </p:cTn>
                                        <p:tgtEl>
                                          <p:spTgt spid="1276"/>
                                        </p:tgtEl>
                                        <p:attrNameLst>
                                          <p:attrName>style.visibility</p:attrName>
                                        </p:attrNameLst>
                                      </p:cBhvr>
                                      <p:to>
                                        <p:strVal val="visible"/>
                                      </p:to>
                                    </p:set>
                                  </p:childTnLst>
                                </p:cTn>
                              </p:par>
                              <p:par>
                                <p:cTn id="159" presetID="0" presetClass="path" presetSubtype="0" fill="hold" nodeType="withEffect">
                                  <p:stCondLst>
                                    <p:cond delay="0"/>
                                  </p:stCondLst>
                                  <p:childTnLst>
                                    <p:animMotion origin="layout" path="M 0 0 L 0.00000 0.03254 L -0.03661 0.03254 L -0.03661 0.16922 E" pathEditMode="relative" ptsTypes="">
                                      <p:cBhvr>
                                        <p:cTn id="158" dur="1963" fill="hold" repeatCount="3000"/>
                                        <p:tgtEl>
                                          <p:spTgt spid="1276"/>
                                        </p:tgtEl>
                                        <p:attrNameLst>
                                          <p:attrName>ppt_x</p:attrName>
                                          <p:attrName>ppt_y</p:attrName>
                                        </p:attrNameLst>
                                      </p:cBhvr>
                                    </p:animMotion>
                                  </p:childTnLst>
                                </p:cTn>
                              </p:par>
                              <p:par>
                                <p:cTn id="161" presetID="1" presetClass="entr" presetSubtype="0" fill="hold" nodeType="withEffect">
                                  <p:stCondLst>
                                    <p:cond delay="0"/>
                                  </p:stCondLst>
                                  <p:childTnLst>
                                    <p:set>
                                      <p:cBhvr>
                                        <p:cTn id="160" dur="1" fill="hold">
                                          <p:stCondLst>
                                            <p:cond delay="0"/>
                                          </p:stCondLst>
                                        </p:cTn>
                                        <p:tgtEl>
                                          <p:spTgt spid="1277"/>
                                        </p:tgtEl>
                                        <p:attrNameLst>
                                          <p:attrName>style.visibility</p:attrName>
                                        </p:attrNameLst>
                                      </p:cBhvr>
                                      <p:to>
                                        <p:strVal val="visible"/>
                                      </p:to>
                                    </p:set>
                                  </p:childTnLst>
                                </p:cTn>
                              </p:par>
                              <p:par>
                                <p:cTn id="163" presetID="0" presetClass="path" presetSubtype="0" fill="hold" nodeType="withEffect">
                                  <p:stCondLst>
                                    <p:cond delay="0"/>
                                  </p:stCondLst>
                                  <p:childTnLst>
                                    <p:animMotion origin="layout" path="M 0 0 L 0.13424 0.00000 L 0.13424 0.13234 L 0.14400 0.13234 E" pathEditMode="relative" ptsTypes="">
                                      <p:cBhvr>
                                        <p:cTn id="162" dur="3254" fill="hold" repeatCount="2000"/>
                                        <p:tgtEl>
                                          <p:spTgt spid="1277"/>
                                        </p:tgtEl>
                                        <p:attrNameLst>
                                          <p:attrName>ppt_x</p:attrName>
                                          <p:attrName>ppt_y</p:attrName>
                                        </p:attrNameLst>
                                      </p:cBhvr>
                                    </p:animMotion>
                                  </p:childTnLst>
                                </p:cTn>
                              </p:par>
                              <p:par>
                                <p:cTn id="165" presetID="1" presetClass="entr" presetSubtype="0" fill="hold" nodeType="withEffect">
                                  <p:stCondLst>
                                    <p:cond delay="1627"/>
                                  </p:stCondLst>
                                  <p:childTnLst>
                                    <p:set>
                                      <p:cBhvr>
                                        <p:cTn id="164" dur="1" fill="hold">
                                          <p:stCondLst>
                                            <p:cond delay="0"/>
                                          </p:stCondLst>
                                        </p:cTn>
                                        <p:tgtEl>
                                          <p:spTgt spid="1278"/>
                                        </p:tgtEl>
                                        <p:attrNameLst>
                                          <p:attrName>style.visibility</p:attrName>
                                        </p:attrNameLst>
                                      </p:cBhvr>
                                      <p:to>
                                        <p:strVal val="visible"/>
                                      </p:to>
                                    </p:set>
                                  </p:childTnLst>
                                </p:cTn>
                              </p:par>
                              <p:par>
                                <p:cTn id="167" presetID="0" presetClass="path" presetSubtype="0" fill="hold" nodeType="withEffect">
                                  <p:stCondLst>
                                    <p:cond delay="1627"/>
                                  </p:stCondLst>
                                  <p:childTnLst>
                                    <p:animMotion origin="layout" path="M 0 0 L 0.13424 0.00000 L 0.13424 0.13234 L 0.14400 0.13234 E" pathEditMode="relative" ptsTypes="">
                                      <p:cBhvr>
                                        <p:cTn id="166" dur="3254" fill="hold" repeatCount="2000"/>
                                        <p:tgtEl>
                                          <p:spTgt spid="1278"/>
                                        </p:tgtEl>
                                        <p:attrNameLst>
                                          <p:attrName>ppt_x</p:attrName>
                                          <p:attrName>ppt_y</p:attrName>
                                        </p:attrNameLst>
                                      </p:cBhvr>
                                    </p:animMotion>
                                  </p:childTnLst>
                                </p:cTn>
                              </p:par>
                              <p:par>
                                <p:cTn id="169" presetID="1" presetClass="entr" presetSubtype="0" fill="hold" nodeType="withEffect">
                                  <p:stCondLst>
                                    <p:cond delay="0"/>
                                  </p:stCondLst>
                                  <p:childTnLst>
                                    <p:set>
                                      <p:cBhvr>
                                        <p:cTn id="168" dur="1" fill="hold">
                                          <p:stCondLst>
                                            <p:cond delay="0"/>
                                          </p:stCondLst>
                                        </p:cTn>
                                        <p:tgtEl>
                                          <p:spTgt spid="1279"/>
                                        </p:tgtEl>
                                        <p:attrNameLst>
                                          <p:attrName>style.visibility</p:attrName>
                                        </p:attrNameLst>
                                      </p:cBhvr>
                                      <p:to>
                                        <p:strVal val="visible"/>
                                      </p:to>
                                    </p:set>
                                  </p:childTnLst>
                                </p:cTn>
                              </p:par>
                              <p:par>
                                <p:cTn id="171" presetID="0" presetClass="path" presetSubtype="0" fill="hold" nodeType="withEffect">
                                  <p:stCondLst>
                                    <p:cond delay="0"/>
                                  </p:stCondLst>
                                  <p:childTnLst>
                                    <p:animMotion origin="layout" path="M 0 0 L 0.02136 0.00000 L 0.02136 0.05641 L 0.36611 0.05641 L 0.36611 0.01519 E" pathEditMode="relative" ptsTypes="">
                                      <p:cBhvr>
                                        <p:cTn id="170" dur="6272" fill="hold" repeatCount="1000"/>
                                        <p:tgtEl>
                                          <p:spTgt spid="1279"/>
                                        </p:tgtEl>
                                        <p:attrNameLst>
                                          <p:attrName>ppt_x</p:attrName>
                                          <p:attrName>ppt_y</p:attrName>
                                        </p:attrNameLst>
                                      </p:cBhvr>
                                    </p:animMotion>
                                  </p:childTnLst>
                                </p:cTn>
                              </p:par>
                              <p:par>
                                <p:cTn id="173" presetID="1" presetClass="entr" presetSubtype="0" fill="hold" nodeType="withEffect">
                                  <p:stCondLst>
                                    <p:cond delay="2090"/>
                                  </p:stCondLst>
                                  <p:childTnLst>
                                    <p:set>
                                      <p:cBhvr>
                                        <p:cTn id="172" dur="1" fill="hold">
                                          <p:stCondLst>
                                            <p:cond delay="0"/>
                                          </p:stCondLst>
                                        </p:cTn>
                                        <p:tgtEl>
                                          <p:spTgt spid="1280"/>
                                        </p:tgtEl>
                                        <p:attrNameLst>
                                          <p:attrName>style.visibility</p:attrName>
                                        </p:attrNameLst>
                                      </p:cBhvr>
                                      <p:to>
                                        <p:strVal val="visible"/>
                                      </p:to>
                                    </p:set>
                                  </p:childTnLst>
                                </p:cTn>
                              </p:par>
                              <p:par>
                                <p:cTn id="175" presetID="0" presetClass="path" presetSubtype="0" fill="hold" nodeType="withEffect">
                                  <p:stCondLst>
                                    <p:cond delay="2090"/>
                                  </p:stCondLst>
                                  <p:childTnLst>
                                    <p:animMotion origin="layout" path="M 0 0 L 0.02136 0.00000 L 0.02136 0.05641 L 0.36611 0.05641 L 0.36611 0.01519 E" pathEditMode="relative" ptsTypes="">
                                      <p:cBhvr>
                                        <p:cTn id="174" dur="6272" fill="hold" repeatCount="1000"/>
                                        <p:tgtEl>
                                          <p:spTgt spid="1280"/>
                                        </p:tgtEl>
                                        <p:attrNameLst>
                                          <p:attrName>ppt_x</p:attrName>
                                          <p:attrName>ppt_y</p:attrName>
                                        </p:attrNameLst>
                                      </p:cBhvr>
                                    </p:animMotion>
                                  </p:childTnLst>
                                </p:cTn>
                              </p:par>
                              <p:par>
                                <p:cTn id="177" presetID="1" presetClass="entr" presetSubtype="0" fill="hold" nodeType="withEffect">
                                  <p:stCondLst>
                                    <p:cond delay="4181"/>
                                  </p:stCondLst>
                                  <p:childTnLst>
                                    <p:set>
                                      <p:cBhvr>
                                        <p:cTn id="176" dur="1" fill="hold">
                                          <p:stCondLst>
                                            <p:cond delay="0"/>
                                          </p:stCondLst>
                                        </p:cTn>
                                        <p:tgtEl>
                                          <p:spTgt spid="1281"/>
                                        </p:tgtEl>
                                        <p:attrNameLst>
                                          <p:attrName>style.visibility</p:attrName>
                                        </p:attrNameLst>
                                      </p:cBhvr>
                                      <p:to>
                                        <p:strVal val="visible"/>
                                      </p:to>
                                    </p:set>
                                  </p:childTnLst>
                                </p:cTn>
                              </p:par>
                              <p:par>
                                <p:cTn id="179" presetID="0" presetClass="path" presetSubtype="0" fill="hold" nodeType="withEffect">
                                  <p:stCondLst>
                                    <p:cond delay="4181"/>
                                  </p:stCondLst>
                                  <p:childTnLst>
                                    <p:animMotion origin="layout" path="M 0 0 L 0.02136 0.00000 L 0.02136 0.05641 L 0.36611 0.05641 L 0.36611 0.01519 E" pathEditMode="relative" ptsTypes="">
                                      <p:cBhvr>
                                        <p:cTn id="178" dur="6272" fill="hold" repeatCount="1000"/>
                                        <p:tgtEl>
                                          <p:spTgt spid="1281"/>
                                        </p:tgtEl>
                                        <p:attrNameLst>
                                          <p:attrName>ppt_x</p:attrName>
                                          <p:attrName>ppt_y</p:attrName>
                                        </p:attrNameLst>
                                      </p:cBhvr>
                                    </p:animMotion>
                                  </p:childTnLst>
                                </p:cTn>
                              </p:par>
                              <p:par>
                                <p:cTn id="181" presetID="1" presetClass="entr" presetSubtype="0" fill="hold" nodeType="withEffect">
                                  <p:stCondLst>
                                    <p:cond delay="0"/>
                                  </p:stCondLst>
                                  <p:childTnLst>
                                    <p:set>
                                      <p:cBhvr>
                                        <p:cTn id="180" dur="1" fill="hold">
                                          <p:stCondLst>
                                            <p:cond delay="0"/>
                                          </p:stCondLst>
                                        </p:cTn>
                                        <p:tgtEl>
                                          <p:spTgt spid="1282"/>
                                        </p:tgtEl>
                                        <p:attrNameLst>
                                          <p:attrName>style.visibility</p:attrName>
                                        </p:attrNameLst>
                                      </p:cBhvr>
                                      <p:to>
                                        <p:strVal val="visible"/>
                                      </p:to>
                                    </p:set>
                                  </p:childTnLst>
                                </p:cTn>
                              </p:par>
                              <p:par>
                                <p:cTn id="183" presetID="0" presetClass="path" presetSubtype="0" fill="hold" nodeType="withEffect">
                                  <p:stCondLst>
                                    <p:cond delay="0"/>
                                  </p:stCondLst>
                                  <p:childTnLst>
                                    <p:animMotion origin="layout" path="M 0 0 L 0.01586 0.00000 E" pathEditMode="relative" ptsTypes="">
                                      <p:cBhvr>
                                        <p:cTn id="182" dur="236" fill="hold" repeatCount="23000"/>
                                        <p:tgtEl>
                                          <p:spTgt spid="1282"/>
                                        </p:tgtEl>
                                        <p:attrNameLst>
                                          <p:attrName>ppt_x</p:attrName>
                                          <p:attrName>ppt_y</p:attrName>
                                        </p:attrNameLst>
                                      </p:cBhvr>
                                    </p:animMotion>
                                  </p:childTnLst>
                                </p:cTn>
                              </p:par>
                              <p:par>
                                <p:cTn id="185" presetID="1" presetClass="entr" presetSubtype="0" fill="hold" nodeType="withEffect">
                                  <p:stCondLst>
                                    <p:cond delay="0"/>
                                  </p:stCondLst>
                                  <p:childTnLst>
                                    <p:set>
                                      <p:cBhvr>
                                        <p:cTn id="184" dur="1" fill="hold">
                                          <p:stCondLst>
                                            <p:cond delay="0"/>
                                          </p:stCondLst>
                                        </p:cTn>
                                        <p:tgtEl>
                                          <p:spTgt spid="1283"/>
                                        </p:tgtEl>
                                        <p:attrNameLst>
                                          <p:attrName>style.visibility</p:attrName>
                                        </p:attrNameLst>
                                      </p:cBhvr>
                                      <p:to>
                                        <p:strVal val="visible"/>
                                      </p:to>
                                    </p:set>
                                  </p:childTnLst>
                                </p:cTn>
                              </p:par>
                              <p:par>
                                <p:cTn id="187" presetID="0" presetClass="path" presetSubtype="0" fill="hold" nodeType="withEffect">
                                  <p:stCondLst>
                                    <p:cond delay="0"/>
                                  </p:stCondLst>
                                  <p:childTnLst>
                                    <p:animMotion origin="layout" path="M 0 0 L 0.01831 0.00000 E" pathEditMode="relative" ptsTypes="">
                                      <p:cBhvr>
                                        <p:cTn id="186" dur="272" fill="hold" repeatCount="20000"/>
                                        <p:tgtEl>
                                          <p:spTgt spid="1283"/>
                                        </p:tgtEl>
                                        <p:attrNameLst>
                                          <p:attrName>ppt_x</p:attrName>
                                          <p:attrName>ppt_y</p:attrName>
                                        </p:attrNameLst>
                                      </p:cBhvr>
                                    </p:animMotion>
                                  </p:childTnLst>
                                </p:cTn>
                              </p:par>
                              <p:par>
                                <p:cTn id="189" presetID="1" presetClass="entr" presetSubtype="0" fill="hold" nodeType="withEffect">
                                  <p:stCondLst>
                                    <p:cond delay="0"/>
                                  </p:stCondLst>
                                  <p:childTnLst>
                                    <p:set>
                                      <p:cBhvr>
                                        <p:cTn id="188" dur="1" fill="hold">
                                          <p:stCondLst>
                                            <p:cond delay="0"/>
                                          </p:stCondLst>
                                        </p:cTn>
                                        <p:tgtEl>
                                          <p:spTgt spid="1284"/>
                                        </p:tgtEl>
                                        <p:attrNameLst>
                                          <p:attrName>style.visibility</p:attrName>
                                        </p:attrNameLst>
                                      </p:cBhvr>
                                      <p:to>
                                        <p:strVal val="visible"/>
                                      </p:to>
                                    </p:set>
                                  </p:childTnLst>
                                </p:cTn>
                              </p:par>
                              <p:par>
                                <p:cTn id="191" presetID="0" presetClass="path" presetSubtype="0" fill="hold" nodeType="withEffect">
                                  <p:stCondLst>
                                    <p:cond delay="0"/>
                                  </p:stCondLst>
                                  <p:childTnLst>
                                    <p:animMotion origin="layout" path="M 0 0 L 0.00000 0.28854 L 0.20624 0.28854 L 0.20624 0.23756 E" pathEditMode="relative" ptsTypes="">
                                      <p:cBhvr>
                                        <p:cTn id="190" dur="5918" fill="hold" repeatCount="1000"/>
                                        <p:tgtEl>
                                          <p:spTgt spid="1284"/>
                                        </p:tgtEl>
                                        <p:attrNameLst>
                                          <p:attrName>ppt_x</p:attrName>
                                          <p:attrName>ppt_y</p:attrName>
                                        </p:attrNameLst>
                                      </p:cBhvr>
                                    </p:animMotion>
                                  </p:childTnLst>
                                </p:cTn>
                              </p:par>
                              <p:par>
                                <p:cTn id="193" presetID="1" presetClass="entr" presetSubtype="0" fill="hold" nodeType="withEffect">
                                  <p:stCondLst>
                                    <p:cond delay="1972"/>
                                  </p:stCondLst>
                                  <p:childTnLst>
                                    <p:set>
                                      <p:cBhvr>
                                        <p:cTn id="192" dur="1" fill="hold">
                                          <p:stCondLst>
                                            <p:cond delay="0"/>
                                          </p:stCondLst>
                                        </p:cTn>
                                        <p:tgtEl>
                                          <p:spTgt spid="1285"/>
                                        </p:tgtEl>
                                        <p:attrNameLst>
                                          <p:attrName>style.visibility</p:attrName>
                                        </p:attrNameLst>
                                      </p:cBhvr>
                                      <p:to>
                                        <p:strVal val="visible"/>
                                      </p:to>
                                    </p:set>
                                  </p:childTnLst>
                                </p:cTn>
                              </p:par>
                              <p:par>
                                <p:cTn id="195" presetID="0" presetClass="path" presetSubtype="0" fill="hold" nodeType="withEffect">
                                  <p:stCondLst>
                                    <p:cond delay="1972"/>
                                  </p:stCondLst>
                                  <p:childTnLst>
                                    <p:animMotion origin="layout" path="M 0 0 L 0.00000 0.28854 L 0.20624 0.28854 L 0.20624 0.23756 E" pathEditMode="relative" ptsTypes="">
                                      <p:cBhvr>
                                        <p:cTn id="194" dur="5918" fill="hold" repeatCount="1000"/>
                                        <p:tgtEl>
                                          <p:spTgt spid="1285"/>
                                        </p:tgtEl>
                                        <p:attrNameLst>
                                          <p:attrName>ppt_x</p:attrName>
                                          <p:attrName>ppt_y</p:attrName>
                                        </p:attrNameLst>
                                      </p:cBhvr>
                                    </p:animMotion>
                                  </p:childTnLst>
                                </p:cTn>
                              </p:par>
                              <p:par>
                                <p:cTn id="197" presetID="1" presetClass="entr" presetSubtype="0" fill="hold" nodeType="withEffect">
                                  <p:stCondLst>
                                    <p:cond delay="3945"/>
                                  </p:stCondLst>
                                  <p:childTnLst>
                                    <p:set>
                                      <p:cBhvr>
                                        <p:cTn id="196" dur="1" fill="hold">
                                          <p:stCondLst>
                                            <p:cond delay="0"/>
                                          </p:stCondLst>
                                        </p:cTn>
                                        <p:tgtEl>
                                          <p:spTgt spid="1286"/>
                                        </p:tgtEl>
                                        <p:attrNameLst>
                                          <p:attrName>style.visibility</p:attrName>
                                        </p:attrNameLst>
                                      </p:cBhvr>
                                      <p:to>
                                        <p:strVal val="visible"/>
                                      </p:to>
                                    </p:set>
                                  </p:childTnLst>
                                </p:cTn>
                              </p:par>
                              <p:par>
                                <p:cTn id="199" presetID="0" presetClass="path" presetSubtype="0" fill="hold" nodeType="withEffect">
                                  <p:stCondLst>
                                    <p:cond delay="3945"/>
                                  </p:stCondLst>
                                  <p:childTnLst>
                                    <p:animMotion origin="layout" path="M 0 0 L 0.00000 0.28854 L 0.20624 0.28854 L 0.20624 0.23756 E" pathEditMode="relative" ptsTypes="">
                                      <p:cBhvr>
                                        <p:cTn id="198" dur="5918" fill="hold" repeatCount="1000"/>
                                        <p:tgtEl>
                                          <p:spTgt spid="1286"/>
                                        </p:tgtEl>
                                        <p:attrNameLst>
                                          <p:attrName>ppt_x</p:attrName>
                                          <p:attrName>ppt_y</p:attrName>
                                        </p:attrNameLst>
                                      </p:cBhvr>
                                    </p:animMotion>
                                  </p:childTnLst>
                                </p:cTn>
                              </p:par>
                              <p:par>
                                <p:cTn id="201" presetID="1" presetClass="entr" presetSubtype="0" fill="hold" nodeType="withEffect">
                                  <p:stCondLst>
                                    <p:cond delay="0"/>
                                  </p:stCondLst>
                                  <p:childTnLst>
                                    <p:set>
                                      <p:cBhvr>
                                        <p:cTn id="200" dur="1" fill="hold">
                                          <p:stCondLst>
                                            <p:cond delay="0"/>
                                          </p:stCondLst>
                                        </p:cTn>
                                        <p:tgtEl>
                                          <p:spTgt spid="1287"/>
                                        </p:tgtEl>
                                        <p:attrNameLst>
                                          <p:attrName>style.visibility</p:attrName>
                                        </p:attrNameLst>
                                      </p:cBhvr>
                                      <p:to>
                                        <p:strVal val="visible"/>
                                      </p:to>
                                    </p:set>
                                  </p:childTnLst>
                                </p:cTn>
                              </p:par>
                              <p:par>
                                <p:cTn id="203" presetID="0" presetClass="path" presetSubtype="0" fill="hold" nodeType="withEffect">
                                  <p:stCondLst>
                                    <p:cond delay="0"/>
                                  </p:stCondLst>
                                  <p:childTnLst>
                                    <p:animMotion origin="layout" path="M 0 0 L 0.00000 -0.12692 E" pathEditMode="relative" ptsTypes="">
                                      <p:cBhvr>
                                        <p:cTn id="202" dur="1063" fill="hold" repeatCount="5000"/>
                                        <p:tgtEl>
                                          <p:spTgt spid="1287"/>
                                        </p:tgtEl>
                                        <p:attrNameLst>
                                          <p:attrName>ppt_x</p:attrName>
                                          <p:attrName>ppt_y</p:attrName>
                                        </p:attrNameLst>
                                      </p:cBhvr>
                                    </p:animMotion>
                                  </p:childTnLst>
                                </p:cTn>
                              </p:par>
                              <p:par>
                                <p:cTn id="205" presetID="1" presetClass="entr" presetSubtype="0" fill="hold" nodeType="withEffect">
                                  <p:stCondLst>
                                    <p:cond delay="0"/>
                                  </p:stCondLst>
                                  <p:childTnLst>
                                    <p:set>
                                      <p:cBhvr>
                                        <p:cTn id="204" dur="1" fill="hold">
                                          <p:stCondLst>
                                            <p:cond delay="0"/>
                                          </p:stCondLst>
                                        </p:cTn>
                                        <p:tgtEl>
                                          <p:spTgt spid="1288"/>
                                        </p:tgtEl>
                                        <p:attrNameLst>
                                          <p:attrName>style.visibility</p:attrName>
                                        </p:attrNameLst>
                                      </p:cBhvr>
                                      <p:to>
                                        <p:strVal val="visible"/>
                                      </p:to>
                                    </p:set>
                                  </p:childTnLst>
                                </p:cTn>
                              </p:par>
                              <p:par>
                                <p:cTn id="207" presetID="0" presetClass="path" presetSubtype="0" fill="hold" nodeType="withEffect">
                                  <p:stCondLst>
                                    <p:cond delay="0"/>
                                  </p:stCondLst>
                                  <p:childTnLst>
                                    <p:animMotion origin="layout" path="M 0 0 L 0.00000 -0.08895 E" pathEditMode="relative" ptsTypes="">
                                      <p:cBhvr>
                                        <p:cTn id="206" dur="745" fill="hold" repeatCount="7000"/>
                                        <p:tgtEl>
                                          <p:spTgt spid="1288"/>
                                        </p:tgtEl>
                                        <p:attrNameLst>
                                          <p:attrName>ppt_x</p:attrName>
                                          <p:attrName>ppt_y</p:attrName>
                                        </p:attrNameLst>
                                      </p:cBhvr>
                                    </p:animMotion>
                                  </p:childTnLst>
                                </p:cTn>
                              </p:par>
                            </p:childTnLst>
                          </p:cTn>
                        </p:par>
                        <p:par>
                          <p:cTn id="285" fill="hold">
                            <p:stCondLst>
                              <p:cond delay="32000"/>
                            </p:stCondLst>
                            <p:childTnLst>
                              <p:par>
                                <p:cTn id="210" presetID="10" presetClass="entr" presetSubtype="0" fill="hold" nodeType="afterEffect">
                                  <p:stCondLst>
                                    <p:cond delay="0"/>
                                  </p:stCondLst>
                                  <p:childTnLst>
                                    <p:set>
                                      <p:cBhvr>
                                        <p:cTn id="208" dur="1" fill="hold">
                                          <p:stCondLst>
                                            <p:cond delay="0"/>
                                          </p:stCondLst>
                                        </p:cTn>
                                        <p:tgtEl>
                                          <p:spTgt spid="1289"/>
                                        </p:tgtEl>
                                        <p:attrNameLst>
                                          <p:attrName>style.visibility</p:attrName>
                                        </p:attrNameLst>
                                      </p:cBhvr>
                                      <p:to>
                                        <p:strVal val="visible"/>
                                      </p:to>
                                    </p:set>
                                    <p:animEffect transition="in" filter="fade">
                                      <p:cBhvr>
                                        <p:cTn id="209" dur="500"/>
                                        <p:tgtEl>
                                          <p:spTgt spid="1289"/>
                                        </p:tgtEl>
                                      </p:cBhvr>
                                    </p:animEffect>
                                  </p:childTnLst>
                                </p:cTn>
                              </p:par>
                              <p:par>
                                <p:cTn id="213" presetID="10" presetClass="exit" presetSubtype="0" fill="hold" nodeType="withEffect">
                                  <p:stCondLst>
                                    <p:cond delay="0"/>
                                  </p:stCondLst>
                                  <p:childTnLst>
                                    <p:animEffect transition="out" filter="fade">
                                      <p:cBhvr>
                                        <p:cTn id="211" dur="500"/>
                                        <p:tgtEl>
                                          <p:spTgt spid="1230"/>
                                        </p:tgtEl>
                                      </p:cBhvr>
                                    </p:animEffect>
                                    <p:set>
                                      <p:cBhvr>
                                        <p:cTn id="212" dur="1" fill="hold">
                                          <p:stCondLst>
                                            <p:cond delay="499"/>
                                          </p:stCondLst>
                                        </p:cTn>
                                        <p:tgtEl>
                                          <p:spTgt spid="1230"/>
                                        </p:tgtEl>
                                        <p:attrNameLst>
                                          <p:attrName>style.visibility</p:attrName>
                                        </p:attrNameLst>
                                      </p:cBhvr>
                                      <p:to>
                                        <p:strVal val="hidden"/>
                                      </p:to>
                                    </p:set>
                                  </p:childTnLst>
                                </p:cTn>
                              </p:par>
                              <p:par>
                                <p:cTn id="215" presetID="1" presetClass="exit" presetSubtype="0" fill="hold" nodeType="withEffect">
                                  <p:stCondLst>
                                    <p:cond delay="0"/>
                                  </p:stCondLst>
                                  <p:childTnLst>
                                    <p:set>
                                      <p:cBhvr>
                                        <p:cTn id="214" dur="1" fill="hold">
                                          <p:stCondLst>
                                            <p:cond delay="0"/>
                                          </p:stCondLst>
                                        </p:cTn>
                                        <p:tgtEl>
                                          <p:spTgt spid="1276"/>
                                        </p:tgtEl>
                                        <p:attrNameLst>
                                          <p:attrName>style.visibility</p:attrName>
                                        </p:attrNameLst>
                                      </p:cBhvr>
                                      <p:to>
                                        <p:strVal val="hidden"/>
                                      </p:to>
                                    </p:set>
                                  </p:childTnLst>
                                </p:cTn>
                              </p:par>
                              <p:par>
                                <p:cTn id="217" presetID="1" presetClass="exit" presetSubtype="0" fill="hold" nodeType="withEffect">
                                  <p:stCondLst>
                                    <p:cond delay="0"/>
                                  </p:stCondLst>
                                  <p:childTnLst>
                                    <p:set>
                                      <p:cBhvr>
                                        <p:cTn id="216" dur="1" fill="hold">
                                          <p:stCondLst>
                                            <p:cond delay="0"/>
                                          </p:stCondLst>
                                        </p:cTn>
                                        <p:tgtEl>
                                          <p:spTgt spid="1277"/>
                                        </p:tgtEl>
                                        <p:attrNameLst>
                                          <p:attrName>style.visibility</p:attrName>
                                        </p:attrNameLst>
                                      </p:cBhvr>
                                      <p:to>
                                        <p:strVal val="hidden"/>
                                      </p:to>
                                    </p:set>
                                  </p:childTnLst>
                                </p:cTn>
                              </p:par>
                              <p:par>
                                <p:cTn id="219" presetID="1" presetClass="exit" presetSubtype="0" fill="hold" nodeType="withEffect">
                                  <p:stCondLst>
                                    <p:cond delay="0"/>
                                  </p:stCondLst>
                                  <p:childTnLst>
                                    <p:set>
                                      <p:cBhvr>
                                        <p:cTn id="218" dur="1" fill="hold">
                                          <p:stCondLst>
                                            <p:cond delay="0"/>
                                          </p:stCondLst>
                                        </p:cTn>
                                        <p:tgtEl>
                                          <p:spTgt spid="1278"/>
                                        </p:tgtEl>
                                        <p:attrNameLst>
                                          <p:attrName>style.visibility</p:attrName>
                                        </p:attrNameLst>
                                      </p:cBhvr>
                                      <p:to>
                                        <p:strVal val="hidden"/>
                                      </p:to>
                                    </p:set>
                                  </p:childTnLst>
                                </p:cTn>
                              </p:par>
                              <p:par>
                                <p:cTn id="221" presetID="1" presetClass="exit" presetSubtype="0" fill="hold" nodeType="withEffect">
                                  <p:stCondLst>
                                    <p:cond delay="0"/>
                                  </p:stCondLst>
                                  <p:childTnLst>
                                    <p:set>
                                      <p:cBhvr>
                                        <p:cTn id="220" dur="1" fill="hold">
                                          <p:stCondLst>
                                            <p:cond delay="0"/>
                                          </p:stCondLst>
                                        </p:cTn>
                                        <p:tgtEl>
                                          <p:spTgt spid="1279"/>
                                        </p:tgtEl>
                                        <p:attrNameLst>
                                          <p:attrName>style.visibility</p:attrName>
                                        </p:attrNameLst>
                                      </p:cBhvr>
                                      <p:to>
                                        <p:strVal val="hidden"/>
                                      </p:to>
                                    </p:set>
                                  </p:childTnLst>
                                </p:cTn>
                              </p:par>
                              <p:par>
                                <p:cTn id="223" presetID="1" presetClass="exit" presetSubtype="0" fill="hold" nodeType="withEffect">
                                  <p:stCondLst>
                                    <p:cond delay="0"/>
                                  </p:stCondLst>
                                  <p:childTnLst>
                                    <p:set>
                                      <p:cBhvr>
                                        <p:cTn id="222" dur="1" fill="hold">
                                          <p:stCondLst>
                                            <p:cond delay="0"/>
                                          </p:stCondLst>
                                        </p:cTn>
                                        <p:tgtEl>
                                          <p:spTgt spid="1280"/>
                                        </p:tgtEl>
                                        <p:attrNameLst>
                                          <p:attrName>style.visibility</p:attrName>
                                        </p:attrNameLst>
                                      </p:cBhvr>
                                      <p:to>
                                        <p:strVal val="hidden"/>
                                      </p:to>
                                    </p:set>
                                  </p:childTnLst>
                                </p:cTn>
                              </p:par>
                              <p:par>
                                <p:cTn id="225" presetID="1" presetClass="exit" presetSubtype="0" fill="hold" nodeType="withEffect">
                                  <p:stCondLst>
                                    <p:cond delay="0"/>
                                  </p:stCondLst>
                                  <p:childTnLst>
                                    <p:set>
                                      <p:cBhvr>
                                        <p:cTn id="224" dur="1" fill="hold">
                                          <p:stCondLst>
                                            <p:cond delay="0"/>
                                          </p:stCondLst>
                                        </p:cTn>
                                        <p:tgtEl>
                                          <p:spTgt spid="1281"/>
                                        </p:tgtEl>
                                        <p:attrNameLst>
                                          <p:attrName>style.visibility</p:attrName>
                                        </p:attrNameLst>
                                      </p:cBhvr>
                                      <p:to>
                                        <p:strVal val="hidden"/>
                                      </p:to>
                                    </p:set>
                                  </p:childTnLst>
                                </p:cTn>
                              </p:par>
                              <p:par>
                                <p:cTn id="227" presetID="1" presetClass="exit" presetSubtype="0" fill="hold" nodeType="withEffect">
                                  <p:stCondLst>
                                    <p:cond delay="0"/>
                                  </p:stCondLst>
                                  <p:childTnLst>
                                    <p:set>
                                      <p:cBhvr>
                                        <p:cTn id="226" dur="1" fill="hold">
                                          <p:stCondLst>
                                            <p:cond delay="0"/>
                                          </p:stCondLst>
                                        </p:cTn>
                                        <p:tgtEl>
                                          <p:spTgt spid="1282"/>
                                        </p:tgtEl>
                                        <p:attrNameLst>
                                          <p:attrName>style.visibility</p:attrName>
                                        </p:attrNameLst>
                                      </p:cBhvr>
                                      <p:to>
                                        <p:strVal val="hidden"/>
                                      </p:to>
                                    </p:set>
                                  </p:childTnLst>
                                </p:cTn>
                              </p:par>
                              <p:par>
                                <p:cTn id="229" presetID="1" presetClass="exit" presetSubtype="0" fill="hold" nodeType="withEffect">
                                  <p:stCondLst>
                                    <p:cond delay="0"/>
                                  </p:stCondLst>
                                  <p:childTnLst>
                                    <p:set>
                                      <p:cBhvr>
                                        <p:cTn id="228" dur="1" fill="hold">
                                          <p:stCondLst>
                                            <p:cond delay="0"/>
                                          </p:stCondLst>
                                        </p:cTn>
                                        <p:tgtEl>
                                          <p:spTgt spid="1283"/>
                                        </p:tgtEl>
                                        <p:attrNameLst>
                                          <p:attrName>style.visibility</p:attrName>
                                        </p:attrNameLst>
                                      </p:cBhvr>
                                      <p:to>
                                        <p:strVal val="hidden"/>
                                      </p:to>
                                    </p:set>
                                  </p:childTnLst>
                                </p:cTn>
                              </p:par>
                              <p:par>
                                <p:cTn id="231" presetID="1" presetClass="exit" presetSubtype="0" fill="hold" nodeType="withEffect">
                                  <p:stCondLst>
                                    <p:cond delay="0"/>
                                  </p:stCondLst>
                                  <p:childTnLst>
                                    <p:set>
                                      <p:cBhvr>
                                        <p:cTn id="230" dur="1" fill="hold">
                                          <p:stCondLst>
                                            <p:cond delay="0"/>
                                          </p:stCondLst>
                                        </p:cTn>
                                        <p:tgtEl>
                                          <p:spTgt spid="1284"/>
                                        </p:tgtEl>
                                        <p:attrNameLst>
                                          <p:attrName>style.visibility</p:attrName>
                                        </p:attrNameLst>
                                      </p:cBhvr>
                                      <p:to>
                                        <p:strVal val="hidden"/>
                                      </p:to>
                                    </p:set>
                                  </p:childTnLst>
                                </p:cTn>
                              </p:par>
                              <p:par>
                                <p:cTn id="233" presetID="1" presetClass="exit" presetSubtype="0" fill="hold" nodeType="withEffect">
                                  <p:stCondLst>
                                    <p:cond delay="0"/>
                                  </p:stCondLst>
                                  <p:childTnLst>
                                    <p:set>
                                      <p:cBhvr>
                                        <p:cTn id="232" dur="1" fill="hold">
                                          <p:stCondLst>
                                            <p:cond delay="0"/>
                                          </p:stCondLst>
                                        </p:cTn>
                                        <p:tgtEl>
                                          <p:spTgt spid="1285"/>
                                        </p:tgtEl>
                                        <p:attrNameLst>
                                          <p:attrName>style.visibility</p:attrName>
                                        </p:attrNameLst>
                                      </p:cBhvr>
                                      <p:to>
                                        <p:strVal val="hidden"/>
                                      </p:to>
                                    </p:set>
                                  </p:childTnLst>
                                </p:cTn>
                              </p:par>
                              <p:par>
                                <p:cTn id="235" presetID="1" presetClass="exit" presetSubtype="0" fill="hold" nodeType="withEffect">
                                  <p:stCondLst>
                                    <p:cond delay="0"/>
                                  </p:stCondLst>
                                  <p:childTnLst>
                                    <p:set>
                                      <p:cBhvr>
                                        <p:cTn id="234" dur="1" fill="hold">
                                          <p:stCondLst>
                                            <p:cond delay="0"/>
                                          </p:stCondLst>
                                        </p:cTn>
                                        <p:tgtEl>
                                          <p:spTgt spid="1286"/>
                                        </p:tgtEl>
                                        <p:attrNameLst>
                                          <p:attrName>style.visibility</p:attrName>
                                        </p:attrNameLst>
                                      </p:cBhvr>
                                      <p:to>
                                        <p:strVal val="hidden"/>
                                      </p:to>
                                    </p:set>
                                  </p:childTnLst>
                                </p:cTn>
                              </p:par>
                              <p:par>
                                <p:cTn id="237" presetID="1" presetClass="exit" presetSubtype="0" fill="hold" nodeType="withEffect">
                                  <p:stCondLst>
                                    <p:cond delay="0"/>
                                  </p:stCondLst>
                                  <p:childTnLst>
                                    <p:set>
                                      <p:cBhvr>
                                        <p:cTn id="236" dur="1" fill="hold">
                                          <p:stCondLst>
                                            <p:cond delay="0"/>
                                          </p:stCondLst>
                                        </p:cTn>
                                        <p:tgtEl>
                                          <p:spTgt spid="1287"/>
                                        </p:tgtEl>
                                        <p:attrNameLst>
                                          <p:attrName>style.visibility</p:attrName>
                                        </p:attrNameLst>
                                      </p:cBhvr>
                                      <p:to>
                                        <p:strVal val="hidden"/>
                                      </p:to>
                                    </p:set>
                                  </p:childTnLst>
                                </p:cTn>
                              </p:par>
                              <p:par>
                                <p:cTn id="239" presetID="1" presetClass="exit" presetSubtype="0" fill="hold" nodeType="withEffect">
                                  <p:stCondLst>
                                    <p:cond delay="0"/>
                                  </p:stCondLst>
                                  <p:childTnLst>
                                    <p:set>
                                      <p:cBhvr>
                                        <p:cTn id="238" dur="1" fill="hold">
                                          <p:stCondLst>
                                            <p:cond delay="0"/>
                                          </p:stCondLst>
                                        </p:cTn>
                                        <p:tgtEl>
                                          <p:spTgt spid="1288"/>
                                        </p:tgtEl>
                                        <p:attrNameLst>
                                          <p:attrName>style.visibility</p:attrName>
                                        </p:attrNameLst>
                                      </p:cBhvr>
                                      <p:to>
                                        <p:strVal val="hidden"/>
                                      </p:to>
                                    </p:set>
                                  </p:childTnLst>
                                </p:cTn>
                              </p:par>
                              <p:par>
                                <p:cTn id="241" presetID="1" presetClass="entr" presetSubtype="0" fill="hold" nodeType="withEffect">
                                  <p:stCondLst>
                                    <p:cond delay="0"/>
                                  </p:stCondLst>
                                  <p:childTnLst>
                                    <p:set>
                                      <p:cBhvr>
                                        <p:cTn id="240" dur="1" fill="hold">
                                          <p:stCondLst>
                                            <p:cond delay="0"/>
                                          </p:stCondLst>
                                        </p:cTn>
                                        <p:tgtEl>
                                          <p:spTgt spid="1311"/>
                                        </p:tgtEl>
                                        <p:attrNameLst>
                                          <p:attrName>style.visibility</p:attrName>
                                        </p:attrNameLst>
                                      </p:cBhvr>
                                      <p:to>
                                        <p:strVal val="visible"/>
                                      </p:to>
                                    </p:set>
                                  </p:childTnLst>
                                </p:cTn>
                              </p:par>
                              <p:par>
                                <p:cTn id="243" presetID="0" presetClass="path" presetSubtype="0" fill="hold" nodeType="withEffect">
                                  <p:stCondLst>
                                    <p:cond delay="0"/>
                                  </p:stCondLst>
                                  <p:childTnLst>
                                    <p:animMotion origin="layout" path="M 0 0 L 0.10373 0.00000 L 0.10373 0.08244 L 0.11594 0.08244 E" pathEditMode="relative" ptsTypes="">
                                      <p:cBhvr>
                                        <p:cTn id="242" dur="2418" fill="hold" repeatCount="3000"/>
                                        <p:tgtEl>
                                          <p:spTgt spid="1311"/>
                                        </p:tgtEl>
                                        <p:attrNameLst>
                                          <p:attrName>ppt_x</p:attrName>
                                          <p:attrName>ppt_y</p:attrName>
                                        </p:attrNameLst>
                                      </p:cBhvr>
                                    </p:animMotion>
                                  </p:childTnLst>
                                </p:cTn>
                              </p:par>
                              <p:par>
                                <p:cTn id="245" presetID="1" presetClass="entr" presetSubtype="0" fill="hold" nodeType="withEffect">
                                  <p:stCondLst>
                                    <p:cond delay="0"/>
                                  </p:stCondLst>
                                  <p:childTnLst>
                                    <p:set>
                                      <p:cBhvr>
                                        <p:cTn id="244" dur="1" fill="hold">
                                          <p:stCondLst>
                                            <p:cond delay="0"/>
                                          </p:stCondLst>
                                        </p:cTn>
                                        <p:tgtEl>
                                          <p:spTgt spid="1312"/>
                                        </p:tgtEl>
                                        <p:attrNameLst>
                                          <p:attrName>style.visibility</p:attrName>
                                        </p:attrNameLst>
                                      </p:cBhvr>
                                      <p:to>
                                        <p:strVal val="visible"/>
                                      </p:to>
                                    </p:set>
                                  </p:childTnLst>
                                </p:cTn>
                              </p:par>
                              <p:par>
                                <p:cTn id="247" presetID="0" presetClass="path" presetSubtype="0" fill="hold" nodeType="withEffect">
                                  <p:stCondLst>
                                    <p:cond delay="0"/>
                                  </p:stCondLst>
                                  <p:childTnLst>
                                    <p:animMotion origin="layout" path="M 0 0 L 0.00000 -0.09546 E" pathEditMode="relative" ptsTypes="">
                                      <p:cBhvr>
                                        <p:cTn id="246" dur="800" fill="hold" repeatCount="7000"/>
                                        <p:tgtEl>
                                          <p:spTgt spid="1312"/>
                                        </p:tgtEl>
                                        <p:attrNameLst>
                                          <p:attrName>ppt_x</p:attrName>
                                          <p:attrName>ppt_y</p:attrName>
                                        </p:attrNameLst>
                                      </p:cBhvr>
                                    </p:animMotion>
                                  </p:childTnLst>
                                </p:cTn>
                              </p:par>
                              <p:par>
                                <p:cTn id="249" presetID="1" presetClass="entr" presetSubtype="0" fill="hold" nodeType="withEffect">
                                  <p:stCondLst>
                                    <p:cond delay="0"/>
                                  </p:stCondLst>
                                  <p:childTnLst>
                                    <p:set>
                                      <p:cBhvr>
                                        <p:cTn id="248" dur="1" fill="hold">
                                          <p:stCondLst>
                                            <p:cond delay="0"/>
                                          </p:stCondLst>
                                        </p:cTn>
                                        <p:tgtEl>
                                          <p:spTgt spid="1313"/>
                                        </p:tgtEl>
                                        <p:attrNameLst>
                                          <p:attrName>style.visibility</p:attrName>
                                        </p:attrNameLst>
                                      </p:cBhvr>
                                      <p:to>
                                        <p:strVal val="visible"/>
                                      </p:to>
                                    </p:set>
                                  </p:childTnLst>
                                </p:cTn>
                              </p:par>
                              <p:par>
                                <p:cTn id="251" presetID="0" presetClass="path" presetSubtype="0" fill="hold" nodeType="withEffect">
                                  <p:stCondLst>
                                    <p:cond delay="0"/>
                                  </p:stCondLst>
                                  <p:childTnLst>
                                    <p:animMotion origin="layout" path="M 0 0 L 0.00000 0.01519 L 0.44543 0.01519 L 0.44543 -0.39702 E" pathEditMode="relative" ptsTypes="">
                                      <p:cBhvr>
                                        <p:cTn id="250" dur="10218" fill="hold" repeatCount="1000"/>
                                        <p:tgtEl>
                                          <p:spTgt spid="1313"/>
                                        </p:tgtEl>
                                        <p:attrNameLst>
                                          <p:attrName>ppt_x</p:attrName>
                                          <p:attrName>ppt_y</p:attrName>
                                        </p:attrNameLst>
                                      </p:cBhvr>
                                    </p:animMotion>
                                  </p:childTnLst>
                                </p:cTn>
                              </p:par>
                              <p:par>
                                <p:cTn id="253" presetID="1" presetClass="entr" presetSubtype="0" fill="hold" nodeType="withEffect">
                                  <p:stCondLst>
                                    <p:cond delay="3406"/>
                                  </p:stCondLst>
                                  <p:childTnLst>
                                    <p:set>
                                      <p:cBhvr>
                                        <p:cTn id="252" dur="1" fill="hold">
                                          <p:stCondLst>
                                            <p:cond delay="0"/>
                                          </p:stCondLst>
                                        </p:cTn>
                                        <p:tgtEl>
                                          <p:spTgt spid="1314"/>
                                        </p:tgtEl>
                                        <p:attrNameLst>
                                          <p:attrName>style.visibility</p:attrName>
                                        </p:attrNameLst>
                                      </p:cBhvr>
                                      <p:to>
                                        <p:strVal val="visible"/>
                                      </p:to>
                                    </p:set>
                                  </p:childTnLst>
                                </p:cTn>
                              </p:par>
                              <p:par>
                                <p:cTn id="255" presetID="0" presetClass="path" presetSubtype="0" fill="hold" nodeType="withEffect">
                                  <p:stCondLst>
                                    <p:cond delay="3406"/>
                                  </p:stCondLst>
                                  <p:childTnLst>
                                    <p:animMotion origin="layout" path="M 0 0 L 0.00000 0.01519 L 0.44543 0.01519 L 0.44543 -0.39702 E" pathEditMode="relative" ptsTypes="">
                                      <p:cBhvr>
                                        <p:cTn id="254" dur="10218" fill="hold" repeatCount="1000"/>
                                        <p:tgtEl>
                                          <p:spTgt spid="1314"/>
                                        </p:tgtEl>
                                        <p:attrNameLst>
                                          <p:attrName>ppt_x</p:attrName>
                                          <p:attrName>ppt_y</p:attrName>
                                        </p:attrNameLst>
                                      </p:cBhvr>
                                    </p:animMotion>
                                  </p:childTnLst>
                                </p:cTn>
                              </p:par>
                              <p:par>
                                <p:cTn id="257" presetID="1" presetClass="entr" presetSubtype="0" fill="hold" nodeType="withEffect">
                                  <p:stCondLst>
                                    <p:cond delay="6812"/>
                                  </p:stCondLst>
                                  <p:childTnLst>
                                    <p:set>
                                      <p:cBhvr>
                                        <p:cTn id="256" dur="1" fill="hold">
                                          <p:stCondLst>
                                            <p:cond delay="0"/>
                                          </p:stCondLst>
                                        </p:cTn>
                                        <p:tgtEl>
                                          <p:spTgt spid="1315"/>
                                        </p:tgtEl>
                                        <p:attrNameLst>
                                          <p:attrName>style.visibility</p:attrName>
                                        </p:attrNameLst>
                                      </p:cBhvr>
                                      <p:to>
                                        <p:strVal val="visible"/>
                                      </p:to>
                                    </p:set>
                                  </p:childTnLst>
                                </p:cTn>
                              </p:par>
                              <p:par>
                                <p:cTn id="259" presetID="0" presetClass="path" presetSubtype="0" fill="hold" nodeType="withEffect">
                                  <p:stCondLst>
                                    <p:cond delay="6812"/>
                                  </p:stCondLst>
                                  <p:childTnLst>
                                    <p:animMotion origin="layout" path="M 0 0 L 0.00000 0.01519 L 0.44543 0.01519 L 0.44543 -0.39702 E" pathEditMode="relative" ptsTypes="">
                                      <p:cBhvr>
                                        <p:cTn id="258" dur="10218" fill="hold" repeatCount="1000"/>
                                        <p:tgtEl>
                                          <p:spTgt spid="1315"/>
                                        </p:tgtEl>
                                        <p:attrNameLst>
                                          <p:attrName>ppt_x</p:attrName>
                                          <p:attrName>ppt_y</p:attrName>
                                        </p:attrNameLst>
                                      </p:cBhvr>
                                    </p:animMotion>
                                  </p:childTnLst>
                                </p:cTn>
                              </p:par>
                              <p:par>
                                <p:cTn id="261" presetID="1" presetClass="entr" presetSubtype="0" fill="hold" nodeType="withEffect">
                                  <p:stCondLst>
                                    <p:cond delay="0"/>
                                  </p:stCondLst>
                                  <p:childTnLst>
                                    <p:set>
                                      <p:cBhvr>
                                        <p:cTn id="260" dur="1" fill="hold">
                                          <p:stCondLst>
                                            <p:cond delay="0"/>
                                          </p:stCondLst>
                                        </p:cTn>
                                        <p:tgtEl>
                                          <p:spTgt spid="1316"/>
                                        </p:tgtEl>
                                        <p:attrNameLst>
                                          <p:attrName>style.visibility</p:attrName>
                                        </p:attrNameLst>
                                      </p:cBhvr>
                                      <p:to>
                                        <p:strVal val="visible"/>
                                      </p:to>
                                    </p:set>
                                  </p:childTnLst>
                                </p:cTn>
                              </p:par>
                              <p:par>
                                <p:cTn id="263" presetID="0" presetClass="path" presetSubtype="0" fill="hold" nodeType="withEffect">
                                  <p:stCondLst>
                                    <p:cond delay="0"/>
                                  </p:stCondLst>
                                  <p:childTnLst>
                                    <p:animMotion origin="layout" path="M 0 0 L 0.00000 -0.04339 E" pathEditMode="relative" ptsTypes="">
                                      <p:cBhvr>
                                        <p:cTn id="262" dur="363" fill="hold" repeatCount="15000"/>
                                        <p:tgtEl>
                                          <p:spTgt spid="1316"/>
                                        </p:tgtEl>
                                        <p:attrNameLst>
                                          <p:attrName>ppt_x</p:attrName>
                                          <p:attrName>ppt_y</p:attrName>
                                        </p:attrNameLst>
                                      </p:cBhvr>
                                    </p:animMotion>
                                  </p:childTnLst>
                                </p:cTn>
                              </p:par>
                            </p:childTnLst>
                          </p:cTn>
                        </p:par>
                        <p:par>
                          <p:cTn id="286" fill="hold">
                            <p:stCondLst>
                              <p:cond delay="37200"/>
                            </p:stCondLst>
                            <p:childTnLst>
                              <p:par>
                                <p:cTn id="266" presetID="10" presetClass="exit" presetSubtype="0" fill="hold" nodeType="afterEffect">
                                  <p:stCondLst>
                                    <p:cond delay="0"/>
                                  </p:stCondLst>
                                  <p:childTnLst>
                                    <p:animEffect transition="out" filter="fade">
                                      <p:cBhvr>
                                        <p:cTn id="264" dur="500"/>
                                        <p:tgtEl>
                                          <p:spTgt spid="1289"/>
                                        </p:tgtEl>
                                      </p:cBhvr>
                                    </p:animEffect>
                                    <p:set>
                                      <p:cBhvr>
                                        <p:cTn id="265" dur="1" fill="hold">
                                          <p:stCondLst>
                                            <p:cond delay="499"/>
                                          </p:stCondLst>
                                        </p:cTn>
                                        <p:tgtEl>
                                          <p:spTgt spid="1289"/>
                                        </p:tgtEl>
                                        <p:attrNameLst>
                                          <p:attrName>style.visibility</p:attrName>
                                        </p:attrNameLst>
                                      </p:cBhvr>
                                      <p:to>
                                        <p:strVal val="hidden"/>
                                      </p:to>
                                    </p:set>
                                  </p:childTnLst>
                                </p:cTn>
                              </p:par>
                              <p:par>
                                <p:cTn id="268" presetID="1" presetClass="exit" presetSubtype="0" fill="hold" nodeType="withEffect">
                                  <p:stCondLst>
                                    <p:cond delay="0"/>
                                  </p:stCondLst>
                                  <p:childTnLst>
                                    <p:set>
                                      <p:cBhvr>
                                        <p:cTn id="267" dur="1" fill="hold">
                                          <p:stCondLst>
                                            <p:cond delay="0"/>
                                          </p:stCondLst>
                                        </p:cTn>
                                        <p:tgtEl>
                                          <p:spTgt spid="1311"/>
                                        </p:tgtEl>
                                        <p:attrNameLst>
                                          <p:attrName>style.visibility</p:attrName>
                                        </p:attrNameLst>
                                      </p:cBhvr>
                                      <p:to>
                                        <p:strVal val="hidden"/>
                                      </p:to>
                                    </p:set>
                                  </p:childTnLst>
                                </p:cTn>
                              </p:par>
                              <p:par>
                                <p:cTn id="270" presetID="1" presetClass="exit" presetSubtype="0" fill="hold" nodeType="withEffect">
                                  <p:stCondLst>
                                    <p:cond delay="0"/>
                                  </p:stCondLst>
                                  <p:childTnLst>
                                    <p:set>
                                      <p:cBhvr>
                                        <p:cTn id="269" dur="1" fill="hold">
                                          <p:stCondLst>
                                            <p:cond delay="0"/>
                                          </p:stCondLst>
                                        </p:cTn>
                                        <p:tgtEl>
                                          <p:spTgt spid="1312"/>
                                        </p:tgtEl>
                                        <p:attrNameLst>
                                          <p:attrName>style.visibility</p:attrName>
                                        </p:attrNameLst>
                                      </p:cBhvr>
                                      <p:to>
                                        <p:strVal val="hidden"/>
                                      </p:to>
                                    </p:set>
                                  </p:childTnLst>
                                </p:cTn>
                              </p:par>
                              <p:par>
                                <p:cTn id="272" presetID="1" presetClass="exit" presetSubtype="0" fill="hold" nodeType="withEffect">
                                  <p:stCondLst>
                                    <p:cond delay="0"/>
                                  </p:stCondLst>
                                  <p:childTnLst>
                                    <p:set>
                                      <p:cBhvr>
                                        <p:cTn id="271" dur="1" fill="hold">
                                          <p:stCondLst>
                                            <p:cond delay="0"/>
                                          </p:stCondLst>
                                        </p:cTn>
                                        <p:tgtEl>
                                          <p:spTgt spid="1313"/>
                                        </p:tgtEl>
                                        <p:attrNameLst>
                                          <p:attrName>style.visibility</p:attrName>
                                        </p:attrNameLst>
                                      </p:cBhvr>
                                      <p:to>
                                        <p:strVal val="hidden"/>
                                      </p:to>
                                    </p:set>
                                  </p:childTnLst>
                                </p:cTn>
                              </p:par>
                              <p:par>
                                <p:cTn id="274" presetID="1" presetClass="exit" presetSubtype="0" fill="hold" nodeType="withEffect">
                                  <p:stCondLst>
                                    <p:cond delay="0"/>
                                  </p:stCondLst>
                                  <p:childTnLst>
                                    <p:set>
                                      <p:cBhvr>
                                        <p:cTn id="273" dur="1" fill="hold">
                                          <p:stCondLst>
                                            <p:cond delay="0"/>
                                          </p:stCondLst>
                                        </p:cTn>
                                        <p:tgtEl>
                                          <p:spTgt spid="1314"/>
                                        </p:tgtEl>
                                        <p:attrNameLst>
                                          <p:attrName>style.visibility</p:attrName>
                                        </p:attrNameLst>
                                      </p:cBhvr>
                                      <p:to>
                                        <p:strVal val="hidden"/>
                                      </p:to>
                                    </p:set>
                                  </p:childTnLst>
                                </p:cTn>
                              </p:par>
                              <p:par>
                                <p:cTn id="276" presetID="1" presetClass="exit" presetSubtype="0" fill="hold" nodeType="withEffect">
                                  <p:stCondLst>
                                    <p:cond delay="0"/>
                                  </p:stCondLst>
                                  <p:childTnLst>
                                    <p:set>
                                      <p:cBhvr>
                                        <p:cTn id="275" dur="1" fill="hold">
                                          <p:stCondLst>
                                            <p:cond delay="0"/>
                                          </p:stCondLst>
                                        </p:cTn>
                                        <p:tgtEl>
                                          <p:spTgt spid="1315"/>
                                        </p:tgtEl>
                                        <p:attrNameLst>
                                          <p:attrName>style.visibility</p:attrName>
                                        </p:attrNameLst>
                                      </p:cBhvr>
                                      <p:to>
                                        <p:strVal val="hidden"/>
                                      </p:to>
                                    </p:set>
                                  </p:childTnLst>
                                </p:cTn>
                              </p:par>
                              <p:par>
                                <p:cTn id="278" presetID="1" presetClass="exit" presetSubtype="0" fill="hold" nodeType="withEffect">
                                  <p:stCondLst>
                                    <p:cond delay="0"/>
                                  </p:stCondLst>
                                  <p:childTnLst>
                                    <p:set>
                                      <p:cBhvr>
                                        <p:cTn id="277" dur="1" fill="hold">
                                          <p:stCondLst>
                                            <p:cond delay="0"/>
                                          </p:stCondLst>
                                        </p:cTn>
                                        <p:tgtEl>
                                          <p:spTgt spid="13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03 • GREG METHOD</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TPSMM giữ cấu trúc lớn; chuyên gia vùng bù chi tiết nhỏ</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Warping bảo toàn thông tin nguồn nhưng khó xử lý biến dạng phi cứng ở từng ngón tay.</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07 / 10</a:t>
            </a:r>
          </a:p>
        </p:txBody>
      </p:sp>
      <p:sp>
        <p:nvSpPr>
          <p:cNvPr id="6" name="Rounded Rectangle 5"/>
          <p:cNvSpPr/>
          <p:nvPr/>
        </p:nvSpPr>
        <p:spPr>
          <a:xfrm>
            <a:off x="658368" y="1737360"/>
            <a:ext cx="5321808" cy="425196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4754880" cy="292608"/>
          </a:xfrm>
          <a:prstGeom prst="rect">
            <a:avLst/>
          </a:prstGeom>
          <a:noFill/>
        </p:spPr>
        <p:txBody>
          <a:bodyPr wrap="square" lIns="36576" rIns="36576" tIns="36576" bIns="36576" anchor="t">
            <a:spAutoFit/>
          </a:bodyPr>
          <a:lstStyle/>
          <a:p>
            <a:pPr algn="l">
              <a:spcAft>
                <a:spcPts val="400"/>
              </a:spcAft>
            </a:pPr>
            <a:r>
              <a:rPr sz="1500" b="1" i="0">
                <a:solidFill>
                  <a:srgbClr val="142037"/>
                </a:solidFill>
                <a:latin typeface="Aptos"/>
              </a:rPr>
              <a:t>A. Motion field &amp; occlusion mask</a:t>
            </a:r>
          </a:p>
        </p:txBody>
      </p:sp>
      <p:sp>
        <p:nvSpPr>
          <p:cNvPr id="8" name="Rounded Rectangle 7"/>
          <p:cNvSpPr/>
          <p:nvPr/>
        </p:nvSpPr>
        <p:spPr>
          <a:xfrm>
            <a:off x="914400" y="2606040"/>
            <a:ext cx="1234440" cy="914400"/>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752344"/>
            <a:ext cx="1088136"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Source image</a:t>
            </a:r>
          </a:p>
        </p:txBody>
      </p:sp>
      <p:sp>
        <p:nvSpPr>
          <p:cNvPr id="10" name="TextBox 9"/>
          <p:cNvSpPr txBox="1"/>
          <p:nvPr/>
        </p:nvSpPr>
        <p:spPr>
          <a:xfrm>
            <a:off x="987552" y="3044952"/>
            <a:ext cx="1088136" cy="338328"/>
          </a:xfrm>
          <a:prstGeom prst="rect">
            <a:avLst/>
          </a:prstGeom>
          <a:noFill/>
        </p:spPr>
        <p:txBody>
          <a:bodyPr wrap="square" lIns="36576" rIns="36576" tIns="36576" bIns="36576" anchor="t">
            <a:spAutoFit/>
          </a:bodyPr>
          <a:lstStyle/>
          <a:p>
            <a:pPr algn="ctr">
              <a:spcAft>
                <a:spcPts val="400"/>
              </a:spcAft>
            </a:pPr>
            <a:r>
              <a:rPr sz="850" b="0" i="0">
                <a:solidFill>
                  <a:srgbClr val="253041"/>
                </a:solidFill>
                <a:latin typeface="Aptos"/>
              </a:rPr>
              <a:t>Danh tính / texture</a:t>
            </a:r>
          </a:p>
        </p:txBody>
      </p:sp>
      <p:sp>
        <p:nvSpPr>
          <p:cNvPr id="11" name="Rounded Rectangle 10"/>
          <p:cNvSpPr/>
          <p:nvPr/>
        </p:nvSpPr>
        <p:spPr>
          <a:xfrm>
            <a:off x="2834640" y="2606040"/>
            <a:ext cx="1234440" cy="914400"/>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2752344"/>
            <a:ext cx="1088136"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TPSMM</a:t>
            </a:r>
          </a:p>
        </p:txBody>
      </p:sp>
      <p:sp>
        <p:nvSpPr>
          <p:cNvPr id="13" name="TextBox 12"/>
          <p:cNvSpPr txBox="1"/>
          <p:nvPr/>
        </p:nvSpPr>
        <p:spPr>
          <a:xfrm>
            <a:off x="2907792" y="3044952"/>
            <a:ext cx="1088136" cy="338328"/>
          </a:xfrm>
          <a:prstGeom prst="rect">
            <a:avLst/>
          </a:prstGeom>
          <a:noFill/>
        </p:spPr>
        <p:txBody>
          <a:bodyPr wrap="square" lIns="36576" rIns="36576" tIns="36576" bIns="36576" anchor="t">
            <a:spAutoFit/>
          </a:bodyPr>
          <a:lstStyle/>
          <a:p>
            <a:pPr algn="ctr">
              <a:spcAft>
                <a:spcPts val="400"/>
              </a:spcAft>
            </a:pPr>
            <a:r>
              <a:rPr sz="850" b="0" i="0">
                <a:solidFill>
                  <a:srgbClr val="253041"/>
                </a:solidFill>
                <a:latin typeface="Aptos"/>
              </a:rPr>
              <a:t>50 landmarks</a:t>
            </a:r>
          </a:p>
          <a:p>
            <a:pPr algn="ctr">
              <a:spcAft>
                <a:spcPts val="400"/>
              </a:spcAft>
            </a:pPr>
            <a:r>
              <a:rPr sz="850" b="0" i="0">
                <a:solidFill>
                  <a:srgbClr val="253041"/>
                </a:solidFill>
                <a:latin typeface="Aptos"/>
              </a:rPr>
              <a:t>10 groups × 5</a:t>
            </a:r>
          </a:p>
        </p:txBody>
      </p:sp>
      <p:sp>
        <p:nvSpPr>
          <p:cNvPr id="14" name="Rounded Rectangle 13"/>
          <p:cNvSpPr/>
          <p:nvPr/>
        </p:nvSpPr>
        <p:spPr>
          <a:xfrm>
            <a:off x="4572000" y="2606040"/>
            <a:ext cx="1234440" cy="914400"/>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752344"/>
            <a:ext cx="1088136"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F + O</a:t>
            </a:r>
          </a:p>
        </p:txBody>
      </p:sp>
      <p:sp>
        <p:nvSpPr>
          <p:cNvPr id="16" name="TextBox 15"/>
          <p:cNvSpPr txBox="1"/>
          <p:nvPr/>
        </p:nvSpPr>
        <p:spPr>
          <a:xfrm>
            <a:off x="4645152" y="3044952"/>
            <a:ext cx="1088136" cy="338328"/>
          </a:xfrm>
          <a:prstGeom prst="rect">
            <a:avLst/>
          </a:prstGeom>
          <a:noFill/>
        </p:spPr>
        <p:txBody>
          <a:bodyPr wrap="square" lIns="36576" rIns="36576" tIns="36576" bIns="36576" anchor="t">
            <a:spAutoFit/>
          </a:bodyPr>
          <a:lstStyle/>
          <a:p>
            <a:pPr algn="ctr">
              <a:spcAft>
                <a:spcPts val="400"/>
              </a:spcAft>
            </a:pPr>
            <a:r>
              <a:rPr sz="850" b="0" i="0">
                <a:solidFill>
                  <a:srgbClr val="253041"/>
                </a:solidFill>
                <a:latin typeface="Aptos"/>
              </a:rPr>
              <a:t>Flow / occlusion</a:t>
            </a:r>
          </a:p>
        </p:txBody>
      </p:sp>
      <p:cxnSp>
        <p:nvCxnSpPr>
          <p:cNvPr id="17" name="Connector 16"/>
          <p:cNvCxnSpPr/>
          <p:nvPr/>
        </p:nvCxnSpPr>
        <p:spPr>
          <a:xfrm>
            <a:off x="2194560" y="3063240"/>
            <a:ext cx="548640"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2651760" y="298094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4114800" y="3063240"/>
            <a:ext cx="365760"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4389120" y="298094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24128" y="3977639"/>
            <a:ext cx="4526280" cy="667512"/>
          </a:xfrm>
          <a:prstGeom prst="roundRect">
            <a:avLst>
              <a:gd name="adj" fmla="val 12000"/>
            </a:avLst>
          </a:prstGeom>
          <a:solidFill>
            <a:srgbClr val="FCEBEB"/>
          </a:solidFill>
          <a:ln>
            <a:solidFill>
              <a:srgbClr val="FC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142232"/>
            <a:ext cx="4187952" cy="292608"/>
          </a:xfrm>
          <a:prstGeom prst="rect">
            <a:avLst/>
          </a:prstGeom>
          <a:noFill/>
        </p:spPr>
        <p:txBody>
          <a:bodyPr wrap="square" lIns="36576" rIns="36576" tIns="36576" bIns="36576" anchor="t">
            <a:spAutoFit/>
          </a:bodyPr>
          <a:lstStyle/>
          <a:p>
            <a:pPr algn="ctr">
              <a:spcAft>
                <a:spcPts val="400"/>
              </a:spcAft>
            </a:pPr>
            <a:r>
              <a:rPr sz="1100" b="1" i="0">
                <a:solidFill>
                  <a:srgbClr val="DB5F60"/>
                </a:solidFill>
                <a:latin typeface="Aptos"/>
              </a:rPr>
              <a:t>Failure mode: fingers bend, merge or stretch after warping.</a:t>
            </a:r>
          </a:p>
        </p:txBody>
      </p:sp>
      <p:sp>
        <p:nvSpPr>
          <p:cNvPr id="23" name="TextBox 22"/>
          <p:cNvSpPr txBox="1"/>
          <p:nvPr/>
        </p:nvSpPr>
        <p:spPr>
          <a:xfrm>
            <a:off x="914400" y="4965192"/>
            <a:ext cx="4709160" cy="56692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O≈1: reuse warped pixels     •     O≈0: synthesize new pixels</a:t>
            </a:r>
          </a:p>
        </p:txBody>
      </p:sp>
      <p:sp>
        <p:nvSpPr>
          <p:cNvPr id="24" name="Rounded Rectangle 23"/>
          <p:cNvSpPr/>
          <p:nvPr/>
        </p:nvSpPr>
        <p:spPr>
          <a:xfrm>
            <a:off x="6199632" y="1737360"/>
            <a:ext cx="5321808" cy="425196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1965960"/>
            <a:ext cx="4754880" cy="292608"/>
          </a:xfrm>
          <a:prstGeom prst="rect">
            <a:avLst/>
          </a:prstGeom>
          <a:noFill/>
        </p:spPr>
        <p:txBody>
          <a:bodyPr wrap="square" lIns="36576" rIns="36576" tIns="36576" bIns="36576" anchor="t">
            <a:spAutoFit/>
          </a:bodyPr>
          <a:lstStyle/>
          <a:p>
            <a:pPr algn="l">
              <a:spcAft>
                <a:spcPts val="400"/>
              </a:spcAft>
            </a:pPr>
            <a:r>
              <a:rPr sz="1500" b="1" i="0">
                <a:solidFill>
                  <a:srgbClr val="142037"/>
                </a:solidFill>
                <a:latin typeface="Aptos"/>
              </a:rPr>
              <a:t>B. Regional experts → contour prior R</a:t>
            </a:r>
          </a:p>
        </p:txBody>
      </p:sp>
      <p:sp>
        <p:nvSpPr>
          <p:cNvPr id="26" name="Rounded Rectangle 25"/>
          <p:cNvSpPr/>
          <p:nvPr/>
        </p:nvSpPr>
        <p:spPr>
          <a:xfrm>
            <a:off x="6492240" y="2633472"/>
            <a:ext cx="1307592" cy="914400"/>
          </a:xfrm>
          <a:prstGeom prst="roundRect">
            <a:avLst>
              <a:gd name="adj" fmla="val 12000"/>
            </a:avLst>
          </a:prstGeom>
          <a:solidFill>
            <a:srgbClr val="E8EF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958583" y="2761488"/>
            <a:ext cx="365760" cy="365760"/>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79" y="3200400"/>
            <a:ext cx="1124712" cy="21031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Face</a:t>
            </a:r>
          </a:p>
        </p:txBody>
      </p:sp>
      <p:sp>
        <p:nvSpPr>
          <p:cNvPr id="29" name="TextBox 28"/>
          <p:cNvSpPr txBox="1"/>
          <p:nvPr/>
        </p:nvSpPr>
        <p:spPr>
          <a:xfrm>
            <a:off x="7799831" y="2926080"/>
            <a:ext cx="228600" cy="164592"/>
          </a:xfrm>
          <a:prstGeom prst="rect">
            <a:avLst/>
          </a:prstGeom>
          <a:noFill/>
        </p:spPr>
        <p:txBody>
          <a:bodyPr wrap="square" lIns="36576" rIns="36576" tIns="36576" bIns="36576" anchor="t">
            <a:spAutoFit/>
          </a:bodyPr>
          <a:lstStyle/>
          <a:p>
            <a:pPr algn="ctr">
              <a:spcAft>
                <a:spcPts val="400"/>
              </a:spcAft>
            </a:pPr>
            <a:r>
              <a:rPr sz="1100" b="1" i="0">
                <a:solidFill>
                  <a:srgbClr val="657386"/>
                </a:solidFill>
                <a:latin typeface="Aptos"/>
              </a:rPr>
              <a:t>+</a:t>
            </a:r>
          </a:p>
        </p:txBody>
      </p:sp>
      <p:sp>
        <p:nvSpPr>
          <p:cNvPr id="30" name="Rounded Rectangle 29"/>
          <p:cNvSpPr/>
          <p:nvPr/>
        </p:nvSpPr>
        <p:spPr>
          <a:xfrm>
            <a:off x="8028431" y="2633472"/>
            <a:ext cx="1307592" cy="914400"/>
          </a:xfrm>
          <a:prstGeom prst="roundRect">
            <a:avLst>
              <a:gd name="adj" fmla="val 12000"/>
            </a:avLst>
          </a:prstGeom>
          <a:solidFill>
            <a:srgbClr val="E2F6F3"/>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494776" y="2761488"/>
            <a:ext cx="365760" cy="365760"/>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19871" y="3200400"/>
            <a:ext cx="1124712" cy="21031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Left hand</a:t>
            </a:r>
          </a:p>
        </p:txBody>
      </p:sp>
      <p:sp>
        <p:nvSpPr>
          <p:cNvPr id="33" name="TextBox 32"/>
          <p:cNvSpPr txBox="1"/>
          <p:nvPr/>
        </p:nvSpPr>
        <p:spPr>
          <a:xfrm>
            <a:off x="9336024" y="2926080"/>
            <a:ext cx="228600" cy="164592"/>
          </a:xfrm>
          <a:prstGeom prst="rect">
            <a:avLst/>
          </a:prstGeom>
          <a:noFill/>
        </p:spPr>
        <p:txBody>
          <a:bodyPr wrap="square" lIns="36576" rIns="36576" tIns="36576" bIns="36576" anchor="t">
            <a:spAutoFit/>
          </a:bodyPr>
          <a:lstStyle/>
          <a:p>
            <a:pPr algn="ctr">
              <a:spcAft>
                <a:spcPts val="400"/>
              </a:spcAft>
            </a:pPr>
            <a:r>
              <a:rPr sz="1100" b="1" i="0">
                <a:solidFill>
                  <a:srgbClr val="657386"/>
                </a:solidFill>
                <a:latin typeface="Aptos"/>
              </a:rPr>
              <a:t>+</a:t>
            </a:r>
          </a:p>
        </p:txBody>
      </p:sp>
      <p:sp>
        <p:nvSpPr>
          <p:cNvPr id="34" name="Rounded Rectangle 33"/>
          <p:cNvSpPr/>
          <p:nvPr/>
        </p:nvSpPr>
        <p:spPr>
          <a:xfrm>
            <a:off x="9564624" y="2633472"/>
            <a:ext cx="1307592" cy="914400"/>
          </a:xfrm>
          <a:prstGeom prst="roundRect">
            <a:avLst>
              <a:gd name="adj" fmla="val 12000"/>
            </a:avLst>
          </a:prstGeom>
          <a:solidFill>
            <a:srgbClr val="FFF6E0"/>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30968" y="2761488"/>
            <a:ext cx="365760" cy="365760"/>
          </a:xfrm>
          <a:prstGeom prst="ellipse">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56064" y="3200400"/>
            <a:ext cx="1124712" cy="21031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Right hand</a:t>
            </a:r>
          </a:p>
        </p:txBody>
      </p:sp>
      <p:cxnSp>
        <p:nvCxnSpPr>
          <p:cNvPr id="37" name="Connector 36"/>
          <p:cNvCxnSpPr/>
          <p:nvPr/>
        </p:nvCxnSpPr>
        <p:spPr>
          <a:xfrm>
            <a:off x="10927080" y="3090672"/>
            <a:ext cx="274320" cy="0"/>
          </a:xfrm>
          <a:prstGeom prst="line">
            <a:avLst/>
          </a:prstGeom>
          <a:ln w="16510">
            <a:solidFill>
              <a:srgbClr val="24AEA0"/>
            </a:solidFill>
          </a:ln>
        </p:spPr>
        <p:style>
          <a:lnRef idx="2">
            <a:schemeClr val="accent1"/>
          </a:lnRef>
          <a:fillRef idx="0">
            <a:schemeClr val="accent1"/>
          </a:fillRef>
          <a:effectRef idx="1">
            <a:schemeClr val="accent1"/>
          </a:effectRef>
          <a:fontRef idx="minor">
            <a:schemeClr val="tx1"/>
          </a:fontRef>
        </p:style>
      </p:cxnSp>
      <p:sp>
        <p:nvSpPr>
          <p:cNvPr id="38" name="Chevron 37"/>
          <p:cNvSpPr/>
          <p:nvPr/>
        </p:nvSpPr>
        <p:spPr>
          <a:xfrm>
            <a:off x="11109960" y="3008376"/>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720840" y="3977639"/>
            <a:ext cx="4297680" cy="658368"/>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03720" y="4151376"/>
            <a:ext cx="3931920" cy="274320"/>
          </a:xfrm>
          <a:prstGeom prst="rect">
            <a:avLst/>
          </a:prstGeom>
          <a:noFill/>
        </p:spPr>
        <p:txBody>
          <a:bodyPr wrap="square" lIns="36576" rIns="36576" tIns="36576" bIns="36576" anchor="t">
            <a:spAutoFit/>
          </a:bodyPr>
          <a:lstStyle/>
          <a:p>
            <a:pPr algn="ctr">
              <a:spcAft>
                <a:spcPts val="400"/>
              </a:spcAft>
            </a:pPr>
            <a:r>
              <a:rPr sz="1200" b="1" i="0">
                <a:solidFill>
                  <a:srgbClr val="FFFFFF"/>
                </a:solidFill>
                <a:latin typeface="Aptos"/>
              </a:rPr>
              <a:t>Predicted contour maps → R</a:t>
            </a:r>
          </a:p>
        </p:txBody>
      </p:sp>
      <p:sp>
        <p:nvSpPr>
          <p:cNvPr id="41" name="TextBox 40"/>
          <p:cNvSpPr txBox="1"/>
          <p:nvPr/>
        </p:nvSpPr>
        <p:spPr>
          <a:xfrm>
            <a:off x="6492240" y="4965192"/>
            <a:ext cx="4572000" cy="594360"/>
          </a:xfrm>
          <a:prstGeom prst="rect">
            <a:avLst/>
          </a:prstGeom>
          <a:noFill/>
        </p:spPr>
        <p:txBody>
          <a:bodyPr wrap="square" lIns="36576" rIns="36576" tIns="36576" bIns="36576" anchor="t">
            <a:spAutoFit/>
          </a:bodyPr>
          <a:lstStyle/>
          <a:p>
            <a:pPr algn="ctr">
              <a:spcAft>
                <a:spcPts val="400"/>
              </a:spcAft>
            </a:pPr>
            <a:r>
              <a:rPr sz="1050" b="0" i="0">
                <a:solidFill>
                  <a:srgbClr val="657386"/>
                </a:solidFill>
                <a:latin typeface="Aptos"/>
              </a:rPr>
              <a:t>Small U-Net + style-conditioned convolution; both hands share one expert.</a:t>
            </a:r>
          </a:p>
        </p:txBody>
      </p:sp>
      <p:cxnSp>
        <p:nvCxnSpPr>
          <p:cNvPr id="42" name="Connector 41"/>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03 • GREG METHOD</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GRM đưa tín hiệu đường viền vào đặc trưng generator</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Contour prior tập trung vào mặt và hai tay — nơi sai lệch nhỏ có thể làm mất tính dễ hiểu của ký hiệu.</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08 / 10</a:t>
            </a:r>
          </a:p>
        </p:txBody>
      </p:sp>
      <p:sp>
        <p:nvSpPr>
          <p:cNvPr id="6" name="Rounded Rectangle 5"/>
          <p:cNvSpPr/>
          <p:nvPr/>
        </p:nvSpPr>
        <p:spPr>
          <a:xfrm>
            <a:off x="713232" y="1874519"/>
            <a:ext cx="1664208" cy="1188720"/>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Target normal</a:t>
            </a:r>
          </a:p>
          <a:p>
            <a:pPr algn="ctr">
              <a:spcAft>
                <a:spcPts val="400"/>
              </a:spcAft>
            </a:pPr>
            <a:r>
              <a:rPr sz="1100" b="1" i="0">
                <a:solidFill>
                  <a:srgbClr val="142037"/>
                </a:solidFill>
                <a:latin typeface="Aptos"/>
              </a:rPr>
              <a:t>map</a:t>
            </a:r>
          </a:p>
        </p:txBody>
      </p:sp>
      <p:sp>
        <p:nvSpPr>
          <p:cNvPr id="8" name="TextBox 7"/>
          <p:cNvSpPr txBox="1"/>
          <p:nvPr/>
        </p:nvSpPr>
        <p:spPr>
          <a:xfrm>
            <a:off x="804672"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Hướng bề mặt</a:t>
            </a:r>
          </a:p>
        </p:txBody>
      </p:sp>
      <p:sp>
        <p:nvSpPr>
          <p:cNvPr id="9" name="Rounded Rectangle 8"/>
          <p:cNvSpPr/>
          <p:nvPr/>
        </p:nvSpPr>
        <p:spPr>
          <a:xfrm>
            <a:off x="2834640" y="1874519"/>
            <a:ext cx="1664208" cy="1188720"/>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Gradient / edge</a:t>
            </a:r>
          </a:p>
        </p:txBody>
      </p:sp>
      <p:sp>
        <p:nvSpPr>
          <p:cNvPr id="11" name="TextBox 10"/>
          <p:cNvSpPr txBox="1"/>
          <p:nvPr/>
        </p:nvSpPr>
        <p:spPr>
          <a:xfrm>
            <a:off x="2926080"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G = √(Ix² + Iy² + ε)</a:t>
            </a:r>
          </a:p>
        </p:txBody>
      </p:sp>
      <p:sp>
        <p:nvSpPr>
          <p:cNvPr id="12" name="Rounded Rectangle 11"/>
          <p:cNvSpPr/>
          <p:nvPr/>
        </p:nvSpPr>
        <p:spPr>
          <a:xfrm>
            <a:off x="4956048" y="1874519"/>
            <a:ext cx="1664208" cy="1188720"/>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7488"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Gaussian</a:t>
            </a:r>
          </a:p>
          <a:p>
            <a:pPr algn="ctr">
              <a:spcAft>
                <a:spcPts val="400"/>
              </a:spcAft>
            </a:pPr>
            <a:r>
              <a:rPr sz="1100" b="1" i="0">
                <a:solidFill>
                  <a:srgbClr val="142037"/>
                </a:solidFill>
                <a:latin typeface="Aptos"/>
              </a:rPr>
              <a:t>region mask</a:t>
            </a:r>
          </a:p>
        </p:txBody>
      </p:sp>
      <p:sp>
        <p:nvSpPr>
          <p:cNvPr id="14" name="TextBox 13"/>
          <p:cNvSpPr txBox="1"/>
          <p:nvPr/>
        </p:nvSpPr>
        <p:spPr>
          <a:xfrm>
            <a:off x="5047488"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Mặt + 2 tay</a:t>
            </a:r>
          </a:p>
        </p:txBody>
      </p:sp>
      <p:sp>
        <p:nvSpPr>
          <p:cNvPr id="15" name="Rounded Rectangle 14"/>
          <p:cNvSpPr/>
          <p:nvPr/>
        </p:nvSpPr>
        <p:spPr>
          <a:xfrm>
            <a:off x="7077456" y="1874519"/>
            <a:ext cx="1664208" cy="1188720"/>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68896"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Edge encoder</a:t>
            </a:r>
          </a:p>
        </p:txBody>
      </p:sp>
      <p:sp>
        <p:nvSpPr>
          <p:cNvPr id="17" name="TextBox 16"/>
          <p:cNvSpPr txBox="1"/>
          <p:nvPr/>
        </p:nvSpPr>
        <p:spPr>
          <a:xfrm>
            <a:off x="7168896"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CNN downsample</a:t>
            </a:r>
          </a:p>
        </p:txBody>
      </p:sp>
      <p:sp>
        <p:nvSpPr>
          <p:cNvPr id="18" name="Rounded Rectangle 17"/>
          <p:cNvSpPr/>
          <p:nvPr/>
        </p:nvSpPr>
        <p:spPr>
          <a:xfrm>
            <a:off x="9198864" y="1874519"/>
            <a:ext cx="1664208" cy="1188720"/>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0304"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Xg features</a:t>
            </a:r>
          </a:p>
        </p:txBody>
      </p:sp>
      <p:sp>
        <p:nvSpPr>
          <p:cNvPr id="20" name="TextBox 19"/>
          <p:cNvSpPr txBox="1"/>
          <p:nvPr/>
        </p:nvSpPr>
        <p:spPr>
          <a:xfrm>
            <a:off x="9290304"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32 / 64 / 128</a:t>
            </a:r>
          </a:p>
        </p:txBody>
      </p:sp>
      <p:cxnSp>
        <p:nvCxnSpPr>
          <p:cNvPr id="21" name="Connector 20"/>
          <p:cNvCxnSpPr/>
          <p:nvPr/>
        </p:nvCxnSpPr>
        <p:spPr>
          <a:xfrm>
            <a:off x="2450592" y="2468880"/>
            <a:ext cx="32918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2688336" y="238658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572000" y="2468880"/>
            <a:ext cx="32918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4" name="Chevron 23"/>
          <p:cNvSpPr/>
          <p:nvPr/>
        </p:nvSpPr>
        <p:spPr>
          <a:xfrm>
            <a:off x="4809744" y="238658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6693408" y="2468880"/>
            <a:ext cx="32918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6931152" y="238658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8814816" y="2468880"/>
            <a:ext cx="32918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052560" y="238658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4400" y="3822191"/>
            <a:ext cx="4023360" cy="1325880"/>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4041648"/>
            <a:ext cx="3566160" cy="274320"/>
          </a:xfrm>
          <a:prstGeom prst="rect">
            <a:avLst/>
          </a:prstGeom>
          <a:noFill/>
        </p:spPr>
        <p:txBody>
          <a:bodyPr wrap="square" lIns="36576" rIns="36576" tIns="36576" bIns="36576" anchor="t">
            <a:spAutoFit/>
          </a:bodyPr>
          <a:lstStyle/>
          <a:p>
            <a:pPr algn="ctr">
              <a:spcAft>
                <a:spcPts val="400"/>
              </a:spcAft>
            </a:pPr>
            <a:r>
              <a:rPr sz="1600" b="1" i="0">
                <a:solidFill>
                  <a:srgbClr val="FFFFFF"/>
                </a:solidFill>
                <a:latin typeface="Aptos"/>
              </a:rPr>
              <a:t>GRM • Cross-attention</a:t>
            </a:r>
          </a:p>
        </p:txBody>
      </p:sp>
      <p:sp>
        <p:nvSpPr>
          <p:cNvPr id="31" name="TextBox 30"/>
          <p:cNvSpPr txBox="1"/>
          <p:nvPr/>
        </p:nvSpPr>
        <p:spPr>
          <a:xfrm>
            <a:off x="1143000" y="4480560"/>
            <a:ext cx="3566160" cy="384048"/>
          </a:xfrm>
          <a:prstGeom prst="rect">
            <a:avLst/>
          </a:prstGeom>
          <a:noFill/>
        </p:spPr>
        <p:txBody>
          <a:bodyPr wrap="square" lIns="36576" rIns="36576" tIns="36576" bIns="36576" anchor="t">
            <a:spAutoFit/>
          </a:bodyPr>
          <a:lstStyle/>
          <a:p>
            <a:pPr algn="ctr">
              <a:spcAft>
                <a:spcPts val="400"/>
              </a:spcAft>
            </a:pPr>
            <a:r>
              <a:rPr sz="1000" b="0" i="0">
                <a:solidFill>
                  <a:srgbClr val="CDDCEB"/>
                </a:solidFill>
                <a:latin typeface="Aptos"/>
              </a:rPr>
              <a:t>Q = Xg,   K/V = Xin</a:t>
            </a:r>
          </a:p>
          <a:p>
            <a:pPr algn="ctr">
              <a:spcAft>
                <a:spcPts val="400"/>
              </a:spcAft>
            </a:pPr>
            <a:r>
              <a:rPr sz="1000" b="0" i="0">
                <a:solidFill>
                  <a:srgbClr val="CDDCEB"/>
                </a:solidFill>
                <a:latin typeface="Aptos"/>
              </a:rPr>
              <a:t>residual: Xout = Xin + attention</a:t>
            </a:r>
          </a:p>
        </p:txBody>
      </p:sp>
      <p:cxnSp>
        <p:nvCxnSpPr>
          <p:cNvPr id="32" name="Connector 31"/>
          <p:cNvCxnSpPr/>
          <p:nvPr/>
        </p:nvCxnSpPr>
        <p:spPr>
          <a:xfrm>
            <a:off x="5074920" y="4480560"/>
            <a:ext cx="685800" cy="0"/>
          </a:xfrm>
          <a:prstGeom prst="line">
            <a:avLst/>
          </a:prstGeom>
          <a:ln w="22860">
            <a:solidFill>
              <a:srgbClr val="24AEA0"/>
            </a:solidFill>
          </a:ln>
        </p:spPr>
        <p:style>
          <a:lnRef idx="2">
            <a:schemeClr val="accent1"/>
          </a:lnRef>
          <a:fillRef idx="0">
            <a:schemeClr val="accent1"/>
          </a:fillRef>
          <a:effectRef idx="1">
            <a:schemeClr val="accent1"/>
          </a:effectRef>
          <a:fontRef idx="minor">
            <a:schemeClr val="tx1"/>
          </a:fontRef>
        </p:style>
      </p:cxnSp>
      <p:sp>
        <p:nvSpPr>
          <p:cNvPr id="33" name="Chevron 32"/>
          <p:cNvSpPr/>
          <p:nvPr/>
        </p:nvSpPr>
        <p:spPr>
          <a:xfrm>
            <a:off x="5669280" y="439826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97880" y="3822191"/>
            <a:ext cx="5230368" cy="132588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4023360"/>
            <a:ext cx="4709160" cy="27432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3 GRM blocks in the U-Net decoder</a:t>
            </a:r>
          </a:p>
        </p:txBody>
      </p:sp>
      <p:sp>
        <p:nvSpPr>
          <p:cNvPr id="36" name="Rounded Rectangle 35"/>
          <p:cNvSpPr/>
          <p:nvPr/>
        </p:nvSpPr>
        <p:spPr>
          <a:xfrm>
            <a:off x="6309360" y="4498848"/>
            <a:ext cx="1234440" cy="384048"/>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4599432"/>
            <a:ext cx="1143000" cy="16459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32×32</a:t>
            </a:r>
          </a:p>
        </p:txBody>
      </p:sp>
      <p:sp>
        <p:nvSpPr>
          <p:cNvPr id="38" name="Rounded Rectangle 37"/>
          <p:cNvSpPr/>
          <p:nvPr/>
        </p:nvSpPr>
        <p:spPr>
          <a:xfrm>
            <a:off x="7818120" y="4498848"/>
            <a:ext cx="1234440" cy="384048"/>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4599432"/>
            <a:ext cx="1143000" cy="16459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64×64</a:t>
            </a:r>
          </a:p>
        </p:txBody>
      </p:sp>
      <p:sp>
        <p:nvSpPr>
          <p:cNvPr id="40" name="Rounded Rectangle 39"/>
          <p:cNvSpPr/>
          <p:nvPr/>
        </p:nvSpPr>
        <p:spPr>
          <a:xfrm>
            <a:off x="9326880" y="4498848"/>
            <a:ext cx="1234440" cy="384048"/>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4599432"/>
            <a:ext cx="1143000" cy="16459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128×128</a:t>
            </a:r>
          </a:p>
        </p:txBody>
      </p:sp>
      <p:sp>
        <p:nvSpPr>
          <p:cNvPr id="42" name="TextBox 41"/>
          <p:cNvSpPr txBox="1"/>
          <p:nvPr/>
        </p:nvSpPr>
        <p:spPr>
          <a:xfrm>
            <a:off x="841248" y="5623560"/>
            <a:ext cx="10515600" cy="347472"/>
          </a:xfrm>
          <a:prstGeom prst="rect">
            <a:avLst/>
          </a:prstGeom>
          <a:noFill/>
        </p:spPr>
        <p:txBody>
          <a:bodyPr wrap="square" lIns="36576" rIns="36576" tIns="36576" bIns="36576" anchor="t">
            <a:spAutoFit/>
          </a:bodyPr>
          <a:lstStyle/>
          <a:p>
            <a:pPr algn="l">
              <a:spcAft>
                <a:spcPts val="400"/>
              </a:spcAft>
            </a:pPr>
            <a:r>
              <a:rPr sz="1100" b="1" i="0">
                <a:solidFill>
                  <a:srgbClr val="142037"/>
                </a:solidFill>
                <a:latin typeface="Aptos"/>
              </a:rPr>
              <a:t>Không có phép chiếu 3D → 2D ở bước này: normal map đã là biểu diễn ảnh 2D.</a:t>
            </a:r>
          </a:p>
        </p:txBody>
      </p:sp>
      <p:cxnSp>
        <p:nvCxnSpPr>
          <p:cNvPr id="43" name="Connector 42"/>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04 • TRAINING</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GReg tối ưu chất lượng toàn khung và chi tiết vùng</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Bốn loss phối hợp: perceptual toàn ảnh, perceptual vùng, cấu trúc đường viền và đối kháng.</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09 / 10</a:t>
            </a:r>
          </a:p>
        </p:txBody>
      </p:sp>
      <p:sp>
        <p:nvSpPr>
          <p:cNvPr id="6" name="Rounded Rectangle 5"/>
          <p:cNvSpPr/>
          <p:nvPr/>
        </p:nvSpPr>
        <p:spPr>
          <a:xfrm>
            <a:off x="658368" y="1719072"/>
            <a:ext cx="10881360" cy="676656"/>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20240"/>
            <a:ext cx="10378440" cy="274320"/>
          </a:xfrm>
          <a:prstGeom prst="rect">
            <a:avLst/>
          </a:prstGeom>
          <a:noFill/>
        </p:spPr>
        <p:txBody>
          <a:bodyPr wrap="square" lIns="36576" rIns="36576" tIns="36576" bIns="36576" anchor="t">
            <a:spAutoFit/>
          </a:bodyPr>
          <a:lstStyle/>
          <a:p>
            <a:pPr algn="ctr">
              <a:spcAft>
                <a:spcPts val="400"/>
              </a:spcAft>
            </a:pPr>
            <a:r>
              <a:rPr sz="1600" b="1" i="0">
                <a:solidFill>
                  <a:srgbClr val="FFFFFF"/>
                </a:solidFill>
                <a:latin typeface="Aptos"/>
              </a:rPr>
              <a:t>L = λper·Lper + λr-per·Lr-per + λstruct·Lstruct + λadv·Ladv</a:t>
            </a:r>
          </a:p>
        </p:txBody>
      </p:sp>
      <p:sp>
        <p:nvSpPr>
          <p:cNvPr id="8" name="Rounded Rectangle 7"/>
          <p:cNvSpPr/>
          <p:nvPr/>
        </p:nvSpPr>
        <p:spPr>
          <a:xfrm>
            <a:off x="713232" y="2697480"/>
            <a:ext cx="2542032" cy="141732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2862072"/>
            <a:ext cx="201168" cy="201168"/>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843784"/>
            <a:ext cx="1947672"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Lper</a:t>
            </a:r>
          </a:p>
        </p:txBody>
      </p:sp>
      <p:sp>
        <p:nvSpPr>
          <p:cNvPr id="11" name="TextBox 10"/>
          <p:cNvSpPr txBox="1"/>
          <p:nvPr/>
        </p:nvSpPr>
        <p:spPr>
          <a:xfrm>
            <a:off x="877824" y="3200400"/>
            <a:ext cx="2221991" cy="228600"/>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VGG-19 • full frame</a:t>
            </a:r>
          </a:p>
        </p:txBody>
      </p:sp>
      <p:sp>
        <p:nvSpPr>
          <p:cNvPr id="12" name="TextBox 11"/>
          <p:cNvSpPr txBox="1"/>
          <p:nvPr/>
        </p:nvSpPr>
        <p:spPr>
          <a:xfrm>
            <a:off x="877824" y="3520440"/>
            <a:ext cx="2221991" cy="438912"/>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Nội dung / kết cấu tổng thể</a:t>
            </a:r>
          </a:p>
        </p:txBody>
      </p:sp>
      <p:sp>
        <p:nvSpPr>
          <p:cNvPr id="13" name="Rounded Rectangle 12"/>
          <p:cNvSpPr/>
          <p:nvPr/>
        </p:nvSpPr>
        <p:spPr>
          <a:xfrm>
            <a:off x="3447288" y="2697480"/>
            <a:ext cx="2542032" cy="141732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11880" y="2862072"/>
            <a:ext cx="201168" cy="20116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2776" y="2843784"/>
            <a:ext cx="1947672"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Lr-per</a:t>
            </a:r>
          </a:p>
        </p:txBody>
      </p:sp>
      <p:sp>
        <p:nvSpPr>
          <p:cNvPr id="16" name="TextBox 15"/>
          <p:cNvSpPr txBox="1"/>
          <p:nvPr/>
        </p:nvSpPr>
        <p:spPr>
          <a:xfrm>
            <a:off x="3611880" y="3200400"/>
            <a:ext cx="2221991" cy="228600"/>
          </a:xfrm>
          <a:prstGeom prst="rect">
            <a:avLst/>
          </a:prstGeom>
          <a:noFill/>
        </p:spPr>
        <p:txBody>
          <a:bodyPr wrap="square" lIns="36576" rIns="36576" tIns="36576" bIns="36576" anchor="t">
            <a:spAutoFit/>
          </a:bodyPr>
          <a:lstStyle/>
          <a:p>
            <a:pPr algn="l">
              <a:spcAft>
                <a:spcPts val="400"/>
              </a:spcAft>
            </a:pPr>
            <a:r>
              <a:rPr sz="900" b="1" i="0">
                <a:solidFill>
                  <a:srgbClr val="5BC4D2"/>
                </a:solidFill>
                <a:latin typeface="Aptos"/>
              </a:rPr>
              <a:t>VGG-19 • face + hands</a:t>
            </a:r>
          </a:p>
        </p:txBody>
      </p:sp>
      <p:sp>
        <p:nvSpPr>
          <p:cNvPr id="17" name="TextBox 16"/>
          <p:cNvSpPr txBox="1"/>
          <p:nvPr/>
        </p:nvSpPr>
        <p:spPr>
          <a:xfrm>
            <a:off x="3611880" y="3520440"/>
            <a:ext cx="2221991" cy="438912"/>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Nhấn mạnh vùng nhỏ, giàu thông tin</a:t>
            </a:r>
          </a:p>
        </p:txBody>
      </p:sp>
      <p:sp>
        <p:nvSpPr>
          <p:cNvPr id="18" name="Rounded Rectangle 17"/>
          <p:cNvSpPr/>
          <p:nvPr/>
        </p:nvSpPr>
        <p:spPr>
          <a:xfrm>
            <a:off x="6181344" y="2697480"/>
            <a:ext cx="2542032" cy="141732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45936" y="2862072"/>
            <a:ext cx="201168" cy="201168"/>
          </a:xfrm>
          <a:prstGeom prst="ellipse">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6831" y="2843784"/>
            <a:ext cx="1947672"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Lstruct</a:t>
            </a:r>
          </a:p>
        </p:txBody>
      </p:sp>
      <p:sp>
        <p:nvSpPr>
          <p:cNvPr id="21" name="TextBox 20"/>
          <p:cNvSpPr txBox="1"/>
          <p:nvPr/>
        </p:nvSpPr>
        <p:spPr>
          <a:xfrm>
            <a:off x="6345936" y="3200400"/>
            <a:ext cx="2221991" cy="228600"/>
          </a:xfrm>
          <a:prstGeom prst="rect">
            <a:avLst/>
          </a:prstGeom>
          <a:noFill/>
        </p:spPr>
        <p:txBody>
          <a:bodyPr wrap="square" lIns="36576" rIns="36576" tIns="36576" bIns="36576" anchor="t">
            <a:spAutoFit/>
          </a:bodyPr>
          <a:lstStyle/>
          <a:p>
            <a:pPr algn="l">
              <a:spcAft>
                <a:spcPts val="400"/>
              </a:spcAft>
            </a:pPr>
            <a:r>
              <a:rPr sz="900" b="1" i="0">
                <a:solidFill>
                  <a:srgbClr val="F2B74A"/>
                </a:solidFill>
                <a:latin typeface="Aptos"/>
              </a:rPr>
              <a:t>Predicted vs. real contour</a:t>
            </a:r>
          </a:p>
        </p:txBody>
      </p:sp>
      <p:sp>
        <p:nvSpPr>
          <p:cNvPr id="22" name="TextBox 21"/>
          <p:cNvSpPr txBox="1"/>
          <p:nvPr/>
        </p:nvSpPr>
        <p:spPr>
          <a:xfrm>
            <a:off x="6345936" y="3520440"/>
            <a:ext cx="2221991" cy="438912"/>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Học chuyên gia vùng dự đoán biên</a:t>
            </a:r>
          </a:p>
        </p:txBody>
      </p:sp>
      <p:sp>
        <p:nvSpPr>
          <p:cNvPr id="23" name="Rounded Rectangle 22"/>
          <p:cNvSpPr/>
          <p:nvPr/>
        </p:nvSpPr>
        <p:spPr>
          <a:xfrm>
            <a:off x="8915400" y="2697480"/>
            <a:ext cx="2542032" cy="141732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079992" y="2862072"/>
            <a:ext cx="201168" cy="201168"/>
          </a:xfrm>
          <a:prstGeom prst="ellipse">
            <a:avLst/>
          </a:prstGeom>
          <a:solidFill>
            <a:srgbClr val="DB5F60"/>
          </a:solidFill>
          <a:ln>
            <a:solidFill>
              <a:srgbClr val="DB5F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90888" y="2843784"/>
            <a:ext cx="1947672"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Ladv</a:t>
            </a:r>
          </a:p>
        </p:txBody>
      </p:sp>
      <p:sp>
        <p:nvSpPr>
          <p:cNvPr id="26" name="TextBox 25"/>
          <p:cNvSpPr txBox="1"/>
          <p:nvPr/>
        </p:nvSpPr>
        <p:spPr>
          <a:xfrm>
            <a:off x="9079992" y="3200400"/>
            <a:ext cx="2221991" cy="228600"/>
          </a:xfrm>
          <a:prstGeom prst="rect">
            <a:avLst/>
          </a:prstGeom>
          <a:noFill/>
        </p:spPr>
        <p:txBody>
          <a:bodyPr wrap="square" lIns="36576" rIns="36576" tIns="36576" bIns="36576" anchor="t">
            <a:spAutoFit/>
          </a:bodyPr>
          <a:lstStyle/>
          <a:p>
            <a:pPr algn="l">
              <a:spcAft>
                <a:spcPts val="400"/>
              </a:spcAft>
            </a:pPr>
            <a:r>
              <a:rPr sz="900" b="1" i="0">
                <a:solidFill>
                  <a:srgbClr val="DB5F60"/>
                </a:solidFill>
                <a:latin typeface="Aptos"/>
              </a:rPr>
              <a:t>3 PatchGAN discriminators</a:t>
            </a:r>
          </a:p>
        </p:txBody>
      </p:sp>
      <p:sp>
        <p:nvSpPr>
          <p:cNvPr id="27" name="TextBox 26"/>
          <p:cNvSpPr txBox="1"/>
          <p:nvPr/>
        </p:nvSpPr>
        <p:spPr>
          <a:xfrm>
            <a:off x="9079992" y="3520440"/>
            <a:ext cx="2221991" cy="438912"/>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Tăng độ sắc nét / tính chân thực vùng</a:t>
            </a:r>
          </a:p>
        </p:txBody>
      </p:sp>
      <p:sp>
        <p:nvSpPr>
          <p:cNvPr id="28" name="Rounded Rectangle 27"/>
          <p:cNvSpPr/>
          <p:nvPr/>
        </p:nvSpPr>
        <p:spPr>
          <a:xfrm>
            <a:off x="713232" y="4462272"/>
            <a:ext cx="10716768" cy="1097280"/>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645152"/>
            <a:ext cx="1920240" cy="228600"/>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PAPER SETUP</a:t>
            </a:r>
          </a:p>
        </p:txBody>
      </p:sp>
      <p:sp>
        <p:nvSpPr>
          <p:cNvPr id="30" name="TextBox 29"/>
          <p:cNvSpPr txBox="1"/>
          <p:nvPr/>
        </p:nvSpPr>
        <p:spPr>
          <a:xfrm>
            <a:off x="932688" y="4965192"/>
            <a:ext cx="1920240" cy="384048"/>
          </a:xfrm>
          <a:prstGeom prst="rect">
            <a:avLst/>
          </a:prstGeom>
          <a:noFill/>
        </p:spPr>
        <p:txBody>
          <a:bodyPr wrap="square" lIns="36576" rIns="36576" tIns="36576" bIns="36576" anchor="t">
            <a:spAutoFit/>
          </a:bodyPr>
          <a:lstStyle/>
          <a:p>
            <a:pPr algn="l">
              <a:spcAft>
                <a:spcPts val="400"/>
              </a:spcAft>
            </a:pPr>
            <a:r>
              <a:rPr sz="1000" b="0" i="0">
                <a:solidFill>
                  <a:srgbClr val="253041"/>
                </a:solidFill>
                <a:latin typeface="Aptos"/>
              </a:rPr>
              <a:t>SignAvatars + How2Sign</a:t>
            </a:r>
          </a:p>
        </p:txBody>
      </p:sp>
      <p:cxnSp>
        <p:nvCxnSpPr>
          <p:cNvPr id="31" name="Connector 30"/>
          <p:cNvCxnSpPr/>
          <p:nvPr/>
        </p:nvCxnSpPr>
        <p:spPr>
          <a:xfrm>
            <a:off x="3063240" y="4617720"/>
            <a:ext cx="0" cy="795528"/>
          </a:xfrm>
          <a:prstGeom prst="line">
            <a:avLst/>
          </a:prstGeom>
          <a:ln w="12700">
            <a:solidFill>
              <a:srgbClr val="C4D0E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10128" y="4645152"/>
            <a:ext cx="1645920" cy="228600"/>
          </a:xfrm>
          <a:prstGeom prst="rect">
            <a:avLst/>
          </a:prstGeom>
          <a:noFill/>
        </p:spPr>
        <p:txBody>
          <a:bodyPr wrap="square" lIns="36576" rIns="36576" tIns="36576" bIns="36576" anchor="t">
            <a:spAutoFit/>
          </a:bodyPr>
          <a:lstStyle/>
          <a:p>
            <a:pPr algn="l">
              <a:spcAft>
                <a:spcPts val="400"/>
              </a:spcAft>
            </a:pPr>
            <a:r>
              <a:rPr sz="900" b="1" i="0">
                <a:solidFill>
                  <a:srgbClr val="657386"/>
                </a:solidFill>
                <a:latin typeface="Aptos"/>
              </a:rPr>
              <a:t>RESOLUTION</a:t>
            </a:r>
          </a:p>
        </p:txBody>
      </p:sp>
      <p:sp>
        <p:nvSpPr>
          <p:cNvPr id="33" name="TextBox 32"/>
          <p:cNvSpPr txBox="1"/>
          <p:nvPr/>
        </p:nvSpPr>
        <p:spPr>
          <a:xfrm>
            <a:off x="3310128" y="4965192"/>
            <a:ext cx="1645920" cy="32004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256 × 256</a:t>
            </a:r>
          </a:p>
        </p:txBody>
      </p:sp>
      <p:cxnSp>
        <p:nvCxnSpPr>
          <p:cNvPr id="34" name="Connector 33"/>
          <p:cNvCxnSpPr/>
          <p:nvPr/>
        </p:nvCxnSpPr>
        <p:spPr>
          <a:xfrm>
            <a:off x="5193792" y="4617720"/>
            <a:ext cx="0" cy="795528"/>
          </a:xfrm>
          <a:prstGeom prst="line">
            <a:avLst/>
          </a:prstGeom>
          <a:ln w="12700">
            <a:solidFill>
              <a:srgbClr val="C4D0E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31536" y="4645152"/>
            <a:ext cx="1463040" cy="228600"/>
          </a:xfrm>
          <a:prstGeom prst="rect">
            <a:avLst/>
          </a:prstGeom>
          <a:noFill/>
        </p:spPr>
        <p:txBody>
          <a:bodyPr wrap="square" lIns="36576" rIns="36576" tIns="36576" bIns="36576" anchor="t">
            <a:spAutoFit/>
          </a:bodyPr>
          <a:lstStyle/>
          <a:p>
            <a:pPr algn="l">
              <a:spcAft>
                <a:spcPts val="400"/>
              </a:spcAft>
            </a:pPr>
            <a:r>
              <a:rPr sz="900" b="1" i="0">
                <a:solidFill>
                  <a:srgbClr val="657386"/>
                </a:solidFill>
                <a:latin typeface="Aptos"/>
              </a:rPr>
              <a:t>TRAINING</a:t>
            </a:r>
          </a:p>
        </p:txBody>
      </p:sp>
      <p:sp>
        <p:nvSpPr>
          <p:cNvPr id="36" name="TextBox 35"/>
          <p:cNvSpPr txBox="1"/>
          <p:nvPr/>
        </p:nvSpPr>
        <p:spPr>
          <a:xfrm>
            <a:off x="5431536" y="4965192"/>
            <a:ext cx="1463040" cy="32004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100 epochs</a:t>
            </a:r>
          </a:p>
        </p:txBody>
      </p:sp>
      <p:cxnSp>
        <p:nvCxnSpPr>
          <p:cNvPr id="37" name="Connector 36"/>
          <p:cNvCxnSpPr/>
          <p:nvPr/>
        </p:nvCxnSpPr>
        <p:spPr>
          <a:xfrm>
            <a:off x="7150608" y="4617720"/>
            <a:ext cx="0" cy="795528"/>
          </a:xfrm>
          <a:prstGeom prst="line">
            <a:avLst/>
          </a:prstGeom>
          <a:ln w="12700">
            <a:solidFill>
              <a:srgbClr val="C4D0E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88352" y="4645152"/>
            <a:ext cx="1280160" cy="228600"/>
          </a:xfrm>
          <a:prstGeom prst="rect">
            <a:avLst/>
          </a:prstGeom>
          <a:noFill/>
        </p:spPr>
        <p:txBody>
          <a:bodyPr wrap="square" lIns="36576" rIns="36576" tIns="36576" bIns="36576" anchor="t">
            <a:spAutoFit/>
          </a:bodyPr>
          <a:lstStyle/>
          <a:p>
            <a:pPr algn="l">
              <a:spcAft>
                <a:spcPts val="400"/>
              </a:spcAft>
            </a:pPr>
            <a:r>
              <a:rPr sz="900" b="1" i="0">
                <a:solidFill>
                  <a:srgbClr val="657386"/>
                </a:solidFill>
                <a:latin typeface="Aptos"/>
              </a:rPr>
              <a:t>OPTIMIZER</a:t>
            </a:r>
          </a:p>
        </p:txBody>
      </p:sp>
      <p:sp>
        <p:nvSpPr>
          <p:cNvPr id="39" name="TextBox 38"/>
          <p:cNvSpPr txBox="1"/>
          <p:nvPr/>
        </p:nvSpPr>
        <p:spPr>
          <a:xfrm>
            <a:off x="7388352" y="4965192"/>
            <a:ext cx="1280160" cy="32004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Adam</a:t>
            </a:r>
          </a:p>
        </p:txBody>
      </p:sp>
      <p:cxnSp>
        <p:nvCxnSpPr>
          <p:cNvPr id="40" name="Connector 39"/>
          <p:cNvCxnSpPr/>
          <p:nvPr/>
        </p:nvCxnSpPr>
        <p:spPr>
          <a:xfrm>
            <a:off x="8942832" y="4617720"/>
            <a:ext cx="0" cy="795528"/>
          </a:xfrm>
          <a:prstGeom prst="line">
            <a:avLst/>
          </a:prstGeom>
          <a:ln w="12700">
            <a:solidFill>
              <a:srgbClr val="C4D0E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162288" y="4645152"/>
            <a:ext cx="1965960" cy="228600"/>
          </a:xfrm>
          <a:prstGeom prst="rect">
            <a:avLst/>
          </a:prstGeom>
          <a:noFill/>
        </p:spPr>
        <p:txBody>
          <a:bodyPr wrap="square" lIns="36576" rIns="36576" tIns="36576" bIns="36576" anchor="t">
            <a:spAutoFit/>
          </a:bodyPr>
          <a:lstStyle/>
          <a:p>
            <a:pPr algn="l">
              <a:spcAft>
                <a:spcPts val="400"/>
              </a:spcAft>
            </a:pPr>
            <a:r>
              <a:rPr sz="900" b="1" i="0">
                <a:solidFill>
                  <a:srgbClr val="657386"/>
                </a:solidFill>
                <a:latin typeface="Aptos"/>
              </a:rPr>
              <a:t>REPORTED HARDWARE</a:t>
            </a:r>
          </a:p>
        </p:txBody>
      </p:sp>
      <p:sp>
        <p:nvSpPr>
          <p:cNvPr id="42" name="TextBox 41"/>
          <p:cNvSpPr txBox="1"/>
          <p:nvPr/>
        </p:nvSpPr>
        <p:spPr>
          <a:xfrm>
            <a:off x="9162288" y="4965192"/>
            <a:ext cx="1965960" cy="32004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1 × RTX 3090</a:t>
            </a:r>
          </a:p>
        </p:txBody>
      </p:sp>
      <p:sp>
        <p:nvSpPr>
          <p:cNvPr id="43" name="TextBox 42"/>
          <p:cNvSpPr txBox="1"/>
          <p:nvPr/>
        </p:nvSpPr>
        <p:spPr>
          <a:xfrm>
            <a:off x="841248" y="5806440"/>
            <a:ext cx="10332720" cy="320040"/>
          </a:xfrm>
          <a:prstGeom prst="rect">
            <a:avLst/>
          </a:prstGeom>
          <a:noFill/>
        </p:spPr>
        <p:txBody>
          <a:bodyPr wrap="square" lIns="36576" rIns="36576" tIns="36576" bIns="36576" anchor="t">
            <a:spAutoFit/>
          </a:bodyPr>
          <a:lstStyle/>
          <a:p>
            <a:pPr algn="l">
              <a:spcAft>
                <a:spcPts val="400"/>
              </a:spcAft>
            </a:pPr>
            <a:r>
              <a:rPr sz="1000" b="0" i="0">
                <a:solidFill>
                  <a:srgbClr val="657386"/>
                </a:solidFill>
                <a:latin typeface="Aptos"/>
              </a:rPr>
              <a:t>Learning rate: 2e−4; giảm 10× tại epoch 70 và 90. Mỗi video lấy ngẫu nhiên một cặp khung nguồn–đích.</a:t>
            </a:r>
          </a:p>
        </p:txBody>
      </p:sp>
      <p:cxnSp>
        <p:nvCxnSpPr>
          <p:cNvPr id="44" name="Connector 43"/>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05 • RESULTS &amp; NEXT STEPS</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Kết quả báo cáo: regional expert tạo khác biệt lớn nhất trong ablation</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FVD thấp hơn là tốt hơn. Các con số dưới đây được trích theo ghi chú của người trình bày; cần kiểm tra bảng gốc.</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10 / 10</a:t>
            </a:r>
          </a:p>
        </p:txBody>
      </p:sp>
      <p:sp>
        <p:nvSpPr>
          <p:cNvPr id="6" name="Rounded Rectangle 5"/>
          <p:cNvSpPr/>
          <p:nvPr/>
        </p:nvSpPr>
        <p:spPr>
          <a:xfrm>
            <a:off x="658368" y="1719072"/>
            <a:ext cx="5166360" cy="306324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01952"/>
            <a:ext cx="4572000"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FVD • comparison</a:t>
            </a:r>
          </a:p>
        </p:txBody>
      </p:sp>
      <p:sp>
        <p:nvSpPr>
          <p:cNvPr id="8" name="TextBox 7"/>
          <p:cNvSpPr txBox="1"/>
          <p:nvPr/>
        </p:nvSpPr>
        <p:spPr>
          <a:xfrm>
            <a:off x="896112" y="2340864"/>
            <a:ext cx="82296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GReg</a:t>
            </a:r>
          </a:p>
        </p:txBody>
      </p:sp>
      <p:sp>
        <p:nvSpPr>
          <p:cNvPr id="9" name="Rounded Rectangle 8"/>
          <p:cNvSpPr/>
          <p:nvPr/>
        </p:nvSpPr>
        <p:spPr>
          <a:xfrm>
            <a:off x="1783080" y="2359152"/>
            <a:ext cx="2048720" cy="182880"/>
          </a:xfrm>
          <a:prstGeom prst="roundRect">
            <a:avLst>
              <a:gd name="adj" fmla="val 12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2340864"/>
            <a:ext cx="548640" cy="201168"/>
          </a:xfrm>
          <a:prstGeom prst="rect">
            <a:avLst/>
          </a:prstGeom>
          <a:noFill/>
        </p:spPr>
        <p:txBody>
          <a:bodyPr wrap="square" lIns="36576" rIns="36576" tIns="36576" bIns="36576" anchor="t">
            <a:spAutoFit/>
          </a:bodyPr>
          <a:lstStyle/>
          <a:p>
            <a:pPr algn="r">
              <a:spcAft>
                <a:spcPts val="400"/>
              </a:spcAft>
            </a:pPr>
            <a:r>
              <a:rPr sz="900" b="1" i="0">
                <a:solidFill>
                  <a:srgbClr val="142037"/>
                </a:solidFill>
                <a:latin typeface="Aptos"/>
              </a:rPr>
              <a:t>391.3</a:t>
            </a:r>
          </a:p>
        </p:txBody>
      </p:sp>
      <p:sp>
        <p:nvSpPr>
          <p:cNvPr id="11" name="TextBox 10"/>
          <p:cNvSpPr txBox="1"/>
          <p:nvPr/>
        </p:nvSpPr>
        <p:spPr>
          <a:xfrm>
            <a:off x="896112" y="2816352"/>
            <a:ext cx="82296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PGMM</a:t>
            </a:r>
          </a:p>
        </p:txBody>
      </p:sp>
      <p:sp>
        <p:nvSpPr>
          <p:cNvPr id="12" name="Rounded Rectangle 11"/>
          <p:cNvSpPr/>
          <p:nvPr/>
        </p:nvSpPr>
        <p:spPr>
          <a:xfrm>
            <a:off x="1783080" y="2834640"/>
            <a:ext cx="2378044" cy="182880"/>
          </a:xfrm>
          <a:prstGeom prst="roundRect">
            <a:avLst>
              <a:gd name="adj" fmla="val 12000"/>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2816352"/>
            <a:ext cx="548640" cy="201168"/>
          </a:xfrm>
          <a:prstGeom prst="rect">
            <a:avLst/>
          </a:prstGeom>
          <a:noFill/>
        </p:spPr>
        <p:txBody>
          <a:bodyPr wrap="square" lIns="36576" rIns="36576" tIns="36576" bIns="36576" anchor="t">
            <a:spAutoFit/>
          </a:bodyPr>
          <a:lstStyle/>
          <a:p>
            <a:pPr algn="r">
              <a:spcAft>
                <a:spcPts val="400"/>
              </a:spcAft>
            </a:pPr>
            <a:r>
              <a:rPr sz="900" b="1" i="0">
                <a:solidFill>
                  <a:srgbClr val="142037"/>
                </a:solidFill>
                <a:latin typeface="Aptos"/>
              </a:rPr>
              <a:t>454.2</a:t>
            </a:r>
          </a:p>
        </p:txBody>
      </p:sp>
      <p:sp>
        <p:nvSpPr>
          <p:cNvPr id="14" name="TextBox 13"/>
          <p:cNvSpPr txBox="1"/>
          <p:nvPr/>
        </p:nvSpPr>
        <p:spPr>
          <a:xfrm>
            <a:off x="896112" y="3291840"/>
            <a:ext cx="82296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NTED</a:t>
            </a:r>
          </a:p>
        </p:txBody>
      </p:sp>
      <p:sp>
        <p:nvSpPr>
          <p:cNvPr id="15" name="Rounded Rectangle 14"/>
          <p:cNvSpPr/>
          <p:nvPr/>
        </p:nvSpPr>
        <p:spPr>
          <a:xfrm>
            <a:off x="1783080" y="3310128"/>
            <a:ext cx="2904753" cy="182880"/>
          </a:xfrm>
          <a:prstGeom prst="roundRect">
            <a:avLst>
              <a:gd name="adj" fmla="val 12000"/>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3291840"/>
            <a:ext cx="548640" cy="201168"/>
          </a:xfrm>
          <a:prstGeom prst="rect">
            <a:avLst/>
          </a:prstGeom>
          <a:noFill/>
        </p:spPr>
        <p:txBody>
          <a:bodyPr wrap="square" lIns="36576" rIns="36576" tIns="36576" bIns="36576" anchor="t">
            <a:spAutoFit/>
          </a:bodyPr>
          <a:lstStyle/>
          <a:p>
            <a:pPr algn="r">
              <a:spcAft>
                <a:spcPts val="400"/>
              </a:spcAft>
            </a:pPr>
            <a:r>
              <a:rPr sz="900" b="1" i="0">
                <a:solidFill>
                  <a:srgbClr val="142037"/>
                </a:solidFill>
                <a:latin typeface="Aptos"/>
              </a:rPr>
              <a:t>554.8</a:t>
            </a:r>
          </a:p>
        </p:txBody>
      </p:sp>
      <p:sp>
        <p:nvSpPr>
          <p:cNvPr id="17" name="TextBox 16"/>
          <p:cNvSpPr txBox="1"/>
          <p:nvPr/>
        </p:nvSpPr>
        <p:spPr>
          <a:xfrm>
            <a:off x="896112" y="3767328"/>
            <a:ext cx="82296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SignGAN</a:t>
            </a:r>
          </a:p>
        </p:txBody>
      </p:sp>
      <p:sp>
        <p:nvSpPr>
          <p:cNvPr id="18" name="Rounded Rectangle 17"/>
          <p:cNvSpPr/>
          <p:nvPr/>
        </p:nvSpPr>
        <p:spPr>
          <a:xfrm>
            <a:off x="1783080" y="3785615"/>
            <a:ext cx="3049258" cy="182880"/>
          </a:xfrm>
          <a:prstGeom prst="roundRect">
            <a:avLst>
              <a:gd name="adj" fmla="val 12000"/>
            </a:avLst>
          </a:prstGeom>
          <a:solidFill>
            <a:srgbClr val="DB5F60"/>
          </a:solidFill>
          <a:ln>
            <a:solidFill>
              <a:srgbClr val="DB5F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4920" y="3767328"/>
            <a:ext cx="548640" cy="201168"/>
          </a:xfrm>
          <a:prstGeom prst="rect">
            <a:avLst/>
          </a:prstGeom>
          <a:noFill/>
        </p:spPr>
        <p:txBody>
          <a:bodyPr wrap="square" lIns="36576" rIns="36576" tIns="36576" bIns="36576" anchor="t">
            <a:spAutoFit/>
          </a:bodyPr>
          <a:lstStyle/>
          <a:p>
            <a:pPr algn="r">
              <a:spcAft>
                <a:spcPts val="400"/>
              </a:spcAft>
            </a:pPr>
            <a:r>
              <a:rPr sz="900" b="1" i="0">
                <a:solidFill>
                  <a:srgbClr val="142037"/>
                </a:solidFill>
                <a:latin typeface="Aptos"/>
              </a:rPr>
              <a:t>582.4</a:t>
            </a:r>
          </a:p>
        </p:txBody>
      </p:sp>
      <p:sp>
        <p:nvSpPr>
          <p:cNvPr id="20" name="TextBox 19"/>
          <p:cNvSpPr txBox="1"/>
          <p:nvPr/>
        </p:nvSpPr>
        <p:spPr>
          <a:xfrm>
            <a:off x="896112" y="4325112"/>
            <a:ext cx="4480560" cy="237744"/>
          </a:xfrm>
          <a:prstGeom prst="rect">
            <a:avLst/>
          </a:prstGeom>
          <a:noFill/>
        </p:spPr>
        <p:txBody>
          <a:bodyPr wrap="square" lIns="36576" rIns="36576" tIns="36576" bIns="36576" anchor="t">
            <a:spAutoFit/>
          </a:bodyPr>
          <a:lstStyle/>
          <a:p>
            <a:pPr algn="l">
              <a:spcAft>
                <a:spcPts val="400"/>
              </a:spcAft>
            </a:pPr>
            <a:r>
              <a:rPr sz="900" b="0" i="1">
                <a:solidFill>
                  <a:srgbClr val="657386"/>
                </a:solidFill>
                <a:latin typeface="Aptos"/>
              </a:rPr>
              <a:t>Lower is better</a:t>
            </a:r>
          </a:p>
        </p:txBody>
      </p:sp>
      <p:sp>
        <p:nvSpPr>
          <p:cNvPr id="21" name="Rounded Rectangle 20"/>
          <p:cNvSpPr/>
          <p:nvPr/>
        </p:nvSpPr>
        <p:spPr>
          <a:xfrm>
            <a:off x="6053328" y="1719072"/>
            <a:ext cx="5468112" cy="306324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91072" y="1901952"/>
            <a:ext cx="4846320"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Ablation • FVD</a:t>
            </a:r>
          </a:p>
        </p:txBody>
      </p:sp>
      <p:sp>
        <p:nvSpPr>
          <p:cNvPr id="23" name="TextBox 22"/>
          <p:cNvSpPr txBox="1"/>
          <p:nvPr/>
        </p:nvSpPr>
        <p:spPr>
          <a:xfrm>
            <a:off x="6309360" y="2249424"/>
            <a:ext cx="1508760" cy="201168"/>
          </a:xfrm>
          <a:prstGeom prst="rect">
            <a:avLst/>
          </a:prstGeom>
          <a:noFill/>
        </p:spPr>
        <p:txBody>
          <a:bodyPr wrap="square" lIns="36576" rIns="36576" tIns="36576" bIns="36576" anchor="t">
            <a:spAutoFit/>
          </a:bodyPr>
          <a:lstStyle/>
          <a:p>
            <a:pPr algn="l">
              <a:spcAft>
                <a:spcPts val="400"/>
              </a:spcAft>
            </a:pPr>
            <a:r>
              <a:rPr sz="880" b="1" i="0">
                <a:solidFill>
                  <a:srgbClr val="142037"/>
                </a:solidFill>
                <a:latin typeface="Aptos"/>
              </a:rPr>
              <a:t>Full GReg</a:t>
            </a:r>
          </a:p>
        </p:txBody>
      </p:sp>
      <p:sp>
        <p:nvSpPr>
          <p:cNvPr id="24" name="Rounded Rectangle 23"/>
          <p:cNvSpPr/>
          <p:nvPr/>
        </p:nvSpPr>
        <p:spPr>
          <a:xfrm>
            <a:off x="7863840" y="2267712"/>
            <a:ext cx="784344" cy="146304"/>
          </a:xfrm>
          <a:prstGeom prst="roundRect">
            <a:avLst>
              <a:gd name="adj" fmla="val 12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42448" y="224942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391.3</a:t>
            </a:r>
          </a:p>
        </p:txBody>
      </p:sp>
      <p:sp>
        <p:nvSpPr>
          <p:cNvPr id="26" name="TextBox 25"/>
          <p:cNvSpPr txBox="1"/>
          <p:nvPr/>
        </p:nvSpPr>
        <p:spPr>
          <a:xfrm>
            <a:off x="6309360" y="261518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Bright dots</a:t>
            </a:r>
          </a:p>
        </p:txBody>
      </p:sp>
      <p:sp>
        <p:nvSpPr>
          <p:cNvPr id="27" name="Rounded Rectangle 26"/>
          <p:cNvSpPr/>
          <p:nvPr/>
        </p:nvSpPr>
        <p:spPr>
          <a:xfrm>
            <a:off x="7863840" y="2633472"/>
            <a:ext cx="1183163" cy="146304"/>
          </a:xfrm>
          <a:prstGeom prst="roundRect">
            <a:avLst>
              <a:gd name="adj" fmla="val 12000"/>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2448" y="261518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412.3</a:t>
            </a:r>
          </a:p>
        </p:txBody>
      </p:sp>
      <p:sp>
        <p:nvSpPr>
          <p:cNvPr id="29" name="TextBox 28"/>
          <p:cNvSpPr txBox="1"/>
          <p:nvPr/>
        </p:nvSpPr>
        <p:spPr>
          <a:xfrm>
            <a:off x="6309360" y="298094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Stick skeleton</a:t>
            </a:r>
          </a:p>
        </p:txBody>
      </p:sp>
      <p:sp>
        <p:nvSpPr>
          <p:cNvPr id="30" name="Rounded Rectangle 29"/>
          <p:cNvSpPr/>
          <p:nvPr/>
        </p:nvSpPr>
        <p:spPr>
          <a:xfrm>
            <a:off x="7863840" y="2999232"/>
            <a:ext cx="1369278" cy="146304"/>
          </a:xfrm>
          <a:prstGeom prst="roundRect">
            <a:avLst>
              <a:gd name="adj" fmla="val 12000"/>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42448" y="298094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422.1</a:t>
            </a:r>
          </a:p>
        </p:txBody>
      </p:sp>
      <p:sp>
        <p:nvSpPr>
          <p:cNvPr id="32" name="TextBox 31"/>
          <p:cNvSpPr txBox="1"/>
          <p:nvPr/>
        </p:nvSpPr>
        <p:spPr>
          <a:xfrm>
            <a:off x="6309360" y="334670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No discriminator</a:t>
            </a:r>
          </a:p>
        </p:txBody>
      </p:sp>
      <p:sp>
        <p:nvSpPr>
          <p:cNvPr id="33" name="Rounded Rectangle 32"/>
          <p:cNvSpPr/>
          <p:nvPr/>
        </p:nvSpPr>
        <p:spPr>
          <a:xfrm>
            <a:off x="7863840" y="3364992"/>
            <a:ext cx="1606671" cy="146304"/>
          </a:xfrm>
          <a:prstGeom prst="roundRect">
            <a:avLst>
              <a:gd name="adj" fmla="val 12000"/>
            </a:avLst>
          </a:prstGeom>
          <a:solidFill>
            <a:srgbClr val="DB5F60"/>
          </a:solidFill>
          <a:ln>
            <a:solidFill>
              <a:srgbClr val="DB5F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42448" y="334670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434.6</a:t>
            </a:r>
          </a:p>
        </p:txBody>
      </p:sp>
      <p:sp>
        <p:nvSpPr>
          <p:cNvPr id="35" name="TextBox 34"/>
          <p:cNvSpPr txBox="1"/>
          <p:nvPr/>
        </p:nvSpPr>
        <p:spPr>
          <a:xfrm>
            <a:off x="6309360" y="371246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No GRM</a:t>
            </a:r>
          </a:p>
        </p:txBody>
      </p:sp>
      <p:sp>
        <p:nvSpPr>
          <p:cNvPr id="36" name="Rounded Rectangle 35"/>
          <p:cNvSpPr/>
          <p:nvPr/>
        </p:nvSpPr>
        <p:spPr>
          <a:xfrm>
            <a:off x="7863840" y="3730752"/>
            <a:ext cx="1735812" cy="146304"/>
          </a:xfrm>
          <a:prstGeom prst="roundRect">
            <a:avLst>
              <a:gd name="adj" fmla="val 12000"/>
            </a:avLst>
          </a:prstGeom>
          <a:solidFill>
            <a:srgbClr val="DB5F60"/>
          </a:solidFill>
          <a:ln>
            <a:solidFill>
              <a:srgbClr val="DB5F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42448" y="371246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441.4</a:t>
            </a:r>
          </a:p>
        </p:txBody>
      </p:sp>
      <p:sp>
        <p:nvSpPr>
          <p:cNvPr id="38" name="TextBox 37"/>
          <p:cNvSpPr txBox="1"/>
          <p:nvPr/>
        </p:nvSpPr>
        <p:spPr>
          <a:xfrm>
            <a:off x="6309360" y="407822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No regional expert</a:t>
            </a:r>
          </a:p>
        </p:txBody>
      </p:sp>
      <p:sp>
        <p:nvSpPr>
          <p:cNvPr id="39" name="Rounded Rectangle 38"/>
          <p:cNvSpPr/>
          <p:nvPr/>
        </p:nvSpPr>
        <p:spPr>
          <a:xfrm>
            <a:off x="7863840" y="4096511"/>
            <a:ext cx="2056766" cy="146304"/>
          </a:xfrm>
          <a:prstGeom prst="roundRect">
            <a:avLst>
              <a:gd name="adj" fmla="val 12000"/>
            </a:avLst>
          </a:prstGeom>
          <a:solidFill>
            <a:srgbClr val="1F304E"/>
          </a:solidFill>
          <a:ln>
            <a:solidFill>
              <a:srgbClr val="1F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42448" y="407822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458.3</a:t>
            </a:r>
          </a:p>
        </p:txBody>
      </p:sp>
      <p:sp>
        <p:nvSpPr>
          <p:cNvPr id="41" name="Rounded Rectangle 40"/>
          <p:cNvSpPr/>
          <p:nvPr/>
        </p:nvSpPr>
        <p:spPr>
          <a:xfrm>
            <a:off x="685800" y="5010912"/>
            <a:ext cx="5212080" cy="1115568"/>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5175504"/>
            <a:ext cx="4709160" cy="219456"/>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IMPLEMENTATION STATUS</a:t>
            </a:r>
          </a:p>
        </p:txBody>
      </p:sp>
      <p:sp>
        <p:nvSpPr>
          <p:cNvPr id="43" name="TextBox 42"/>
          <p:cNvSpPr txBox="1"/>
          <p:nvPr/>
        </p:nvSpPr>
        <p:spPr>
          <a:xfrm>
            <a:off x="896112" y="5468112"/>
            <a:ext cx="4709160" cy="484632"/>
          </a:xfrm>
          <a:prstGeom prst="rect">
            <a:avLst/>
          </a:prstGeom>
          <a:noFill/>
        </p:spPr>
        <p:txBody>
          <a:bodyPr wrap="square" lIns="36576" rIns="36576" tIns="36576" bIns="36576" anchor="t">
            <a:spAutoFit/>
          </a:bodyPr>
          <a:lstStyle/>
          <a:p>
            <a:pPr algn="l">
              <a:spcAft>
                <a:spcPts val="400"/>
              </a:spcAft>
            </a:pPr>
            <a:r>
              <a:rPr sz="1000" b="0" i="0">
                <a:solidFill>
                  <a:srgbClr val="253041"/>
                </a:solidFill>
                <a:latin typeface="Aptos"/>
              </a:rPr>
              <a:t>End-to-end chạy CPU: 5 clip thật, 20 tests pass.</a:t>
            </a:r>
          </a:p>
          <a:p>
            <a:pPr algn="l">
              <a:spcAft>
                <a:spcPts val="400"/>
              </a:spcAft>
            </a:pPr>
            <a:r>
              <a:rPr sz="1000" b="0" i="0">
                <a:solidFill>
                  <a:srgbClr val="253041"/>
                </a:solidFill>
                <a:latin typeface="Aptos"/>
              </a:rPr>
              <a:t>Chưa train đầy đủ GPU; chưa chạy AKD / FVD.</a:t>
            </a:r>
          </a:p>
        </p:txBody>
      </p:sp>
      <p:sp>
        <p:nvSpPr>
          <p:cNvPr id="44" name="Rounded Rectangle 43"/>
          <p:cNvSpPr/>
          <p:nvPr/>
        </p:nvSpPr>
        <p:spPr>
          <a:xfrm>
            <a:off x="6144768" y="5010912"/>
            <a:ext cx="5257800" cy="1115568"/>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64224" y="5175504"/>
            <a:ext cx="4754880" cy="219456"/>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NEXT STEPS</a:t>
            </a:r>
          </a:p>
        </p:txBody>
      </p:sp>
      <p:sp>
        <p:nvSpPr>
          <p:cNvPr id="46" name="TextBox 45"/>
          <p:cNvSpPr txBox="1"/>
          <p:nvPr/>
        </p:nvSpPr>
        <p:spPr>
          <a:xfrm>
            <a:off x="6364224" y="5468112"/>
            <a:ext cx="4754880" cy="484632"/>
          </a:xfrm>
          <a:prstGeom prst="rect">
            <a:avLst/>
          </a:prstGeom>
          <a:noFill/>
        </p:spPr>
        <p:txBody>
          <a:bodyPr wrap="square" lIns="36576" rIns="36576" tIns="36576" bIns="36576" anchor="t">
            <a:spAutoFit/>
          </a:bodyPr>
          <a:lstStyle/>
          <a:p>
            <a:pPr algn="l">
              <a:spcAft>
                <a:spcPts val="400"/>
              </a:spcAft>
            </a:pPr>
            <a:r>
              <a:rPr sz="950" b="0" i="0">
                <a:solidFill>
                  <a:srgbClr val="253041"/>
                </a:solidFill>
                <a:latin typeface="Aptos"/>
              </a:rPr>
              <a:t>1. Train stage 1 flow, rồi stage 2 GReg.</a:t>
            </a:r>
          </a:p>
          <a:p>
            <a:pPr algn="l">
              <a:spcAft>
                <a:spcPts val="400"/>
              </a:spcAft>
            </a:pPr>
            <a:r>
              <a:rPr sz="950" b="0" i="0">
                <a:solidFill>
                  <a:srgbClr val="253041"/>
                </a:solidFill>
                <a:latin typeface="Aptos"/>
              </a:rPr>
              <a:t>2. Sweep tham số thiếu; đánh giá AKD / FVD.</a:t>
            </a:r>
          </a:p>
          <a:p>
            <a:pPr algn="l">
              <a:spcAft>
                <a:spcPts val="400"/>
              </a:spcAft>
            </a:pPr>
            <a:r>
              <a:rPr sz="950" b="0" i="0">
                <a:solidFill>
                  <a:srgbClr val="253041"/>
                </a:solidFill>
                <a:latin typeface="Aptos"/>
              </a:rPr>
              <a:t>3. Dùng baseline để kiểm tra RQ1 và RQ2.</a:t>
            </a:r>
          </a:p>
        </p:txBody>
      </p:sp>
      <p:cxnSp>
        <p:nvCxnSpPr>
          <p:cNvPr id="47" name="Connector 46"/>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Source: GReg (Shi et al., ICCV 2025); verify reported metrics and implementation details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SLVG and GReg Research Proposal</dc:title>
  <dc:subject>10-slide Vietnamese research proposal presentation</dc:subject>
  <dc:creator>OpenAI</dc:creator>
  <cp:keywords>SLVG, GReg, PGMM, sign language video generation, research proposal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