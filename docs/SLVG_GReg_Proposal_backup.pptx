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37"/>
        </a:solidFill>
        <a:effectLst/>
      </p:bgPr>
    </p:bg>
    <p:spTree>
      <p:nvGrpSpPr>
        <p:cNvPr id="1" name=""/>
        <p:cNvGrpSpPr/>
        <p:nvPr/>
      </p:nvGrpSpPr>
      <p:grpSpPr/>
      <p:cxnSp>
        <p:nvCxnSpPr>
          <p:cNvPr id="2" name="Connector 1"/>
          <p:cNvCxnSpPr/>
          <p:nvPr/>
        </p:nvCxnSpPr>
        <p:spPr>
          <a:xfrm>
            <a:off x="850392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00684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50976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01268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515600" y="365760"/>
            <a:ext cx="640080" cy="1554480"/>
          </a:xfrm>
          <a:prstGeom prst="line">
            <a:avLst/>
          </a:prstGeom>
          <a:ln w="13970">
            <a:solidFill>
              <a:srgbClr val="2A3F5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603504"/>
            <a:ext cx="4572000" cy="256032"/>
          </a:xfrm>
          <a:prstGeom prst="rect">
            <a:avLst/>
          </a:prstGeom>
          <a:noFill/>
        </p:spPr>
        <p:txBody>
          <a:bodyPr wrap="square" lIns="36576" rIns="36576" tIns="36576" bIns="36576" anchor="t">
            <a:spAutoFit/>
          </a:bodyPr>
          <a:lstStyle/>
          <a:p>
            <a:pPr algn="l">
              <a:spcAft>
                <a:spcPts val="400"/>
              </a:spcAft>
            </a:pPr>
            <a:r>
              <a:rPr sz="1000" b="1" i="0">
                <a:solidFill>
                  <a:srgbClr val="5BC4D2"/>
                </a:solidFill>
                <a:latin typeface="Aptos"/>
              </a:rPr>
              <a:t>RESEARCH PROPOSAL  •  2026</a:t>
            </a:r>
          </a:p>
        </p:txBody>
      </p:sp>
      <p:sp>
        <p:nvSpPr>
          <p:cNvPr id="8" name="TextBox 7"/>
          <p:cNvSpPr txBox="1"/>
          <p:nvPr/>
        </p:nvSpPr>
        <p:spPr>
          <a:xfrm>
            <a:off x="713232" y="1078992"/>
            <a:ext cx="6400800" cy="1234440"/>
          </a:xfrm>
          <a:prstGeom prst="rect">
            <a:avLst/>
          </a:prstGeom>
          <a:noFill/>
        </p:spPr>
        <p:txBody>
          <a:bodyPr wrap="square" lIns="36576" rIns="36576" tIns="36576" bIns="36576" anchor="t">
            <a:spAutoFit/>
          </a:bodyPr>
          <a:lstStyle/>
          <a:p>
            <a:pPr algn="l">
              <a:spcAft>
                <a:spcPts val="400"/>
              </a:spcAft>
            </a:pPr>
            <a:r>
              <a:rPr sz="3100" b="1" i="0">
                <a:solidFill>
                  <a:srgbClr val="FFFFFF"/>
                </a:solidFill>
                <a:latin typeface="Aptos Display"/>
              </a:rPr>
              <a:t>Sign Language</a:t>
            </a:r>
          </a:p>
          <a:p>
            <a:pPr algn="l">
              <a:spcAft>
                <a:spcPts val="400"/>
              </a:spcAft>
            </a:pPr>
            <a:r>
              <a:rPr sz="3100" b="1" i="0">
                <a:solidFill>
                  <a:srgbClr val="FFFFFF"/>
                </a:solidFill>
                <a:latin typeface="Aptos Display"/>
              </a:rPr>
              <a:t>Video Generation</a:t>
            </a:r>
          </a:p>
        </p:txBody>
      </p:sp>
      <p:sp>
        <p:nvSpPr>
          <p:cNvPr id="9" name="TextBox 8"/>
          <p:cNvSpPr txBox="1"/>
          <p:nvPr/>
        </p:nvSpPr>
        <p:spPr>
          <a:xfrm>
            <a:off x="749808" y="2487168"/>
            <a:ext cx="5577840" cy="594360"/>
          </a:xfrm>
          <a:prstGeom prst="rect">
            <a:avLst/>
          </a:prstGeom>
          <a:noFill/>
        </p:spPr>
        <p:txBody>
          <a:bodyPr wrap="square" lIns="36576" rIns="36576" tIns="36576" bIns="36576" anchor="t">
            <a:spAutoFit/>
          </a:bodyPr>
          <a:lstStyle/>
          <a:p>
            <a:pPr algn="l">
              <a:spcAft>
                <a:spcPts val="400"/>
              </a:spcAft>
            </a:pPr>
            <a:r>
              <a:rPr sz="1700" b="0" i="0">
                <a:solidFill>
                  <a:srgbClr val="D0DCEA"/>
                </a:solidFill>
                <a:latin typeface="Aptos"/>
              </a:rPr>
              <a:t>Tái triển khai GReg và nghiên cứu cải thiện</a:t>
            </a:r>
          </a:p>
          <a:p>
            <a:pPr algn="l">
              <a:spcAft>
                <a:spcPts val="400"/>
              </a:spcAft>
            </a:pPr>
            <a:r>
              <a:rPr sz="1700" b="0" i="0">
                <a:solidFill>
                  <a:srgbClr val="D0DCEA"/>
                </a:solidFill>
                <a:latin typeface="Aptos"/>
              </a:rPr>
              <a:t>độ chính xác bàn tay trong video ký hiệu</a:t>
            </a:r>
          </a:p>
        </p:txBody>
      </p:sp>
      <p:sp>
        <p:nvSpPr>
          <p:cNvPr id="10" name="Rounded Rectangle 9"/>
          <p:cNvSpPr/>
          <p:nvPr/>
        </p:nvSpPr>
        <p:spPr>
          <a:xfrm>
            <a:off x="749808" y="3429000"/>
            <a:ext cx="1874519" cy="384048"/>
          </a:xfrm>
          <a:prstGeom prst="roundRect">
            <a:avLst>
              <a:gd name="adj" fmla="val 12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511296"/>
            <a:ext cx="1691640" cy="182880"/>
          </a:xfrm>
          <a:prstGeom prst="rect">
            <a:avLst/>
          </a:prstGeom>
          <a:noFill/>
        </p:spPr>
        <p:txBody>
          <a:bodyPr wrap="square" lIns="36576" rIns="36576" tIns="36576" bIns="36576" anchor="t">
            <a:spAutoFit/>
          </a:bodyPr>
          <a:lstStyle/>
          <a:p>
            <a:pPr algn="ctr">
              <a:spcAft>
                <a:spcPts val="400"/>
              </a:spcAft>
            </a:pPr>
            <a:r>
              <a:rPr sz="900" b="1" i="0">
                <a:solidFill>
                  <a:srgbClr val="FFFFFF"/>
                </a:solidFill>
                <a:latin typeface="Aptos"/>
              </a:rPr>
              <a:t>FOCUS: GReg / PGMM</a:t>
            </a:r>
          </a:p>
        </p:txBody>
      </p:sp>
      <p:sp>
        <p:nvSpPr>
          <p:cNvPr id="12" name="Rounded Rectangle 11"/>
          <p:cNvSpPr/>
          <p:nvPr/>
        </p:nvSpPr>
        <p:spPr>
          <a:xfrm>
            <a:off x="7315200" y="1005840"/>
            <a:ext cx="3977639" cy="868680"/>
          </a:xfrm>
          <a:prstGeom prst="roundRect">
            <a:avLst>
              <a:gd name="adj" fmla="val 12000"/>
            </a:avLst>
          </a:prstGeom>
          <a:solidFill>
            <a:srgbClr val="1F304E"/>
          </a:solidFill>
          <a:ln>
            <a:solidFill>
              <a:srgbClr val="3749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43800" y="1216152"/>
            <a:ext cx="411480" cy="411480"/>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1298448"/>
            <a:ext cx="411480" cy="182880"/>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A</a:t>
            </a:r>
          </a:p>
        </p:txBody>
      </p:sp>
      <p:sp>
        <p:nvSpPr>
          <p:cNvPr id="15" name="TextBox 14"/>
          <p:cNvSpPr txBox="1"/>
          <p:nvPr/>
        </p:nvSpPr>
        <p:spPr>
          <a:xfrm>
            <a:off x="8138160" y="1152144"/>
            <a:ext cx="2834640" cy="274320"/>
          </a:xfrm>
          <a:prstGeom prst="rect">
            <a:avLst/>
          </a:prstGeom>
          <a:noFill/>
        </p:spPr>
        <p:txBody>
          <a:bodyPr wrap="square" lIns="36576" rIns="36576" tIns="36576" bIns="36576" anchor="t">
            <a:spAutoFit/>
          </a:bodyPr>
          <a:lstStyle/>
          <a:p>
            <a:pPr algn="l">
              <a:spcAft>
                <a:spcPts val="400"/>
              </a:spcAft>
            </a:pPr>
            <a:r>
              <a:rPr sz="1500" b="1" i="0">
                <a:solidFill>
                  <a:srgbClr val="FFFFFF"/>
                </a:solidFill>
                <a:latin typeface="Aptos"/>
              </a:rPr>
              <a:t>Reference + pose</a:t>
            </a:r>
          </a:p>
        </p:txBody>
      </p:sp>
      <p:sp>
        <p:nvSpPr>
          <p:cNvPr id="16" name="TextBox 15"/>
          <p:cNvSpPr txBox="1"/>
          <p:nvPr/>
        </p:nvSpPr>
        <p:spPr>
          <a:xfrm>
            <a:off x="8138160" y="1490472"/>
            <a:ext cx="2926080" cy="201168"/>
          </a:xfrm>
          <a:prstGeom prst="rect">
            <a:avLst/>
          </a:prstGeom>
          <a:noFill/>
        </p:spPr>
        <p:txBody>
          <a:bodyPr wrap="square" lIns="36576" rIns="36576" tIns="36576" bIns="36576" anchor="t">
            <a:spAutoFit/>
          </a:bodyPr>
          <a:lstStyle/>
          <a:p>
            <a:pPr algn="l">
              <a:spcAft>
                <a:spcPts val="400"/>
              </a:spcAft>
            </a:pPr>
            <a:r>
              <a:rPr sz="1000" b="0" i="0">
                <a:solidFill>
                  <a:srgbClr val="BECCDC"/>
                </a:solidFill>
                <a:latin typeface="Aptos"/>
              </a:rPr>
              <a:t>Điều khiển chuyển động</a:t>
            </a:r>
          </a:p>
        </p:txBody>
      </p:sp>
      <p:sp>
        <p:nvSpPr>
          <p:cNvPr id="17" name="Rounded Rectangle 16"/>
          <p:cNvSpPr/>
          <p:nvPr/>
        </p:nvSpPr>
        <p:spPr>
          <a:xfrm>
            <a:off x="7315200" y="2176272"/>
            <a:ext cx="3977639" cy="868680"/>
          </a:xfrm>
          <a:prstGeom prst="roundRect">
            <a:avLst>
              <a:gd name="adj" fmla="val 12000"/>
            </a:avLst>
          </a:prstGeom>
          <a:solidFill>
            <a:srgbClr val="1F304E"/>
          </a:solidFill>
          <a:ln>
            <a:solidFill>
              <a:srgbClr val="3749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543800" y="2386584"/>
            <a:ext cx="411480" cy="411480"/>
          </a:xfrm>
          <a:prstGeom prst="ellipse">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800" y="2468879"/>
            <a:ext cx="411480" cy="182880"/>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B</a:t>
            </a:r>
          </a:p>
        </p:txBody>
      </p:sp>
      <p:sp>
        <p:nvSpPr>
          <p:cNvPr id="20" name="TextBox 19"/>
          <p:cNvSpPr txBox="1"/>
          <p:nvPr/>
        </p:nvSpPr>
        <p:spPr>
          <a:xfrm>
            <a:off x="8138160" y="2322576"/>
            <a:ext cx="2834640" cy="274320"/>
          </a:xfrm>
          <a:prstGeom prst="rect">
            <a:avLst/>
          </a:prstGeom>
          <a:noFill/>
        </p:spPr>
        <p:txBody>
          <a:bodyPr wrap="square" lIns="36576" rIns="36576" tIns="36576" bIns="36576" anchor="t">
            <a:spAutoFit/>
          </a:bodyPr>
          <a:lstStyle/>
          <a:p>
            <a:pPr algn="l">
              <a:spcAft>
                <a:spcPts val="400"/>
              </a:spcAft>
            </a:pPr>
            <a:r>
              <a:rPr sz="1500" b="1" i="0">
                <a:solidFill>
                  <a:srgbClr val="FFFFFF"/>
                </a:solidFill>
                <a:latin typeface="Aptos"/>
              </a:rPr>
              <a:t>Text → sign video</a:t>
            </a:r>
          </a:p>
        </p:txBody>
      </p:sp>
      <p:sp>
        <p:nvSpPr>
          <p:cNvPr id="21" name="TextBox 20"/>
          <p:cNvSpPr txBox="1"/>
          <p:nvPr/>
        </p:nvSpPr>
        <p:spPr>
          <a:xfrm>
            <a:off x="8138160" y="2660904"/>
            <a:ext cx="2926080" cy="201168"/>
          </a:xfrm>
          <a:prstGeom prst="rect">
            <a:avLst/>
          </a:prstGeom>
          <a:noFill/>
        </p:spPr>
        <p:txBody>
          <a:bodyPr wrap="square" lIns="36576" rIns="36576" tIns="36576" bIns="36576" anchor="t">
            <a:spAutoFit/>
          </a:bodyPr>
          <a:lstStyle/>
          <a:p>
            <a:pPr algn="l">
              <a:spcAft>
                <a:spcPts val="400"/>
              </a:spcAft>
            </a:pPr>
            <a:r>
              <a:rPr sz="1000" b="0" i="0">
                <a:solidFill>
                  <a:srgbClr val="BECCDC"/>
                </a:solidFill>
                <a:latin typeface="Aptos"/>
              </a:rPr>
              <a:t>Sinh trực tiếp từ văn bản</a:t>
            </a:r>
          </a:p>
        </p:txBody>
      </p:sp>
      <p:sp>
        <p:nvSpPr>
          <p:cNvPr id="22" name="Rounded Rectangle 21"/>
          <p:cNvSpPr/>
          <p:nvPr/>
        </p:nvSpPr>
        <p:spPr>
          <a:xfrm>
            <a:off x="7315200" y="3346704"/>
            <a:ext cx="3977639" cy="868680"/>
          </a:xfrm>
          <a:prstGeom prst="roundRect">
            <a:avLst>
              <a:gd name="adj" fmla="val 12000"/>
            </a:avLst>
          </a:prstGeom>
          <a:solidFill>
            <a:srgbClr val="1F304E"/>
          </a:solidFill>
          <a:ln>
            <a:solidFill>
              <a:srgbClr val="3749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43800" y="3557016"/>
            <a:ext cx="411480" cy="411480"/>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0" y="3639312"/>
            <a:ext cx="411480" cy="182880"/>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C</a:t>
            </a:r>
          </a:p>
        </p:txBody>
      </p:sp>
      <p:sp>
        <p:nvSpPr>
          <p:cNvPr id="25" name="TextBox 24"/>
          <p:cNvSpPr txBox="1"/>
          <p:nvPr/>
        </p:nvSpPr>
        <p:spPr>
          <a:xfrm>
            <a:off x="8138160" y="3493008"/>
            <a:ext cx="2834640" cy="274320"/>
          </a:xfrm>
          <a:prstGeom prst="rect">
            <a:avLst/>
          </a:prstGeom>
          <a:noFill/>
        </p:spPr>
        <p:txBody>
          <a:bodyPr wrap="square" lIns="36576" rIns="36576" tIns="36576" bIns="36576" anchor="t">
            <a:spAutoFit/>
          </a:bodyPr>
          <a:lstStyle/>
          <a:p>
            <a:pPr algn="l">
              <a:spcAft>
                <a:spcPts val="400"/>
              </a:spcAft>
            </a:pPr>
            <a:r>
              <a:rPr sz="1500" b="1" i="0">
                <a:solidFill>
                  <a:srgbClr val="FFFFFF"/>
                </a:solidFill>
                <a:latin typeface="Aptos"/>
              </a:rPr>
              <a:t>Foundation models</a:t>
            </a:r>
          </a:p>
        </p:txBody>
      </p:sp>
      <p:sp>
        <p:nvSpPr>
          <p:cNvPr id="26" name="TextBox 25"/>
          <p:cNvSpPr txBox="1"/>
          <p:nvPr/>
        </p:nvSpPr>
        <p:spPr>
          <a:xfrm>
            <a:off x="8138160" y="3831336"/>
            <a:ext cx="2926080" cy="201168"/>
          </a:xfrm>
          <a:prstGeom prst="rect">
            <a:avLst/>
          </a:prstGeom>
          <a:noFill/>
        </p:spPr>
        <p:txBody>
          <a:bodyPr wrap="square" lIns="36576" rIns="36576" tIns="36576" bIns="36576" anchor="t">
            <a:spAutoFit/>
          </a:bodyPr>
          <a:lstStyle/>
          <a:p>
            <a:pPr algn="l">
              <a:spcAft>
                <a:spcPts val="400"/>
              </a:spcAft>
            </a:pPr>
            <a:r>
              <a:rPr sz="1000" b="0" i="0">
                <a:solidFill>
                  <a:srgbClr val="BECCDC"/>
                </a:solidFill>
                <a:latin typeface="Aptos"/>
              </a:rPr>
              <a:t>Tận dụng video diffusion</a:t>
            </a:r>
          </a:p>
        </p:txBody>
      </p:sp>
      <p:sp>
        <p:nvSpPr>
          <p:cNvPr id="27" name="TextBox 26"/>
          <p:cNvSpPr txBox="1"/>
          <p:nvPr/>
        </p:nvSpPr>
        <p:spPr>
          <a:xfrm>
            <a:off x="749808" y="6016752"/>
            <a:ext cx="6583680" cy="274320"/>
          </a:xfrm>
          <a:prstGeom prst="rect">
            <a:avLst/>
          </a:prstGeom>
          <a:noFill/>
        </p:spPr>
        <p:txBody>
          <a:bodyPr wrap="square" lIns="36576" rIns="36576" tIns="36576" bIns="36576" anchor="t">
            <a:spAutoFit/>
          </a:bodyPr>
          <a:lstStyle/>
          <a:p>
            <a:pPr algn="l">
              <a:spcAft>
                <a:spcPts val="400"/>
              </a:spcAft>
            </a:pPr>
            <a:r>
              <a:rPr sz="1000" b="0" i="0">
                <a:solidFill>
                  <a:srgbClr val="BECCDC"/>
                </a:solidFill>
                <a:latin typeface="Aptos"/>
              </a:rPr>
              <a:t>Đề xuất: tái lập baseline → kiểm chứng → mở rộng câu hỏi nghiên cứu</a:t>
            </a:r>
          </a:p>
        </p:txBody>
      </p:sp>
      <p:sp>
        <p:nvSpPr>
          <p:cNvPr id="28" name="TextBox 27"/>
          <p:cNvSpPr txBox="1"/>
          <p:nvPr/>
        </p:nvSpPr>
        <p:spPr>
          <a:xfrm>
            <a:off x="11018520" y="6492240"/>
            <a:ext cx="548640" cy="182880"/>
          </a:xfrm>
          <a:prstGeom prst="rect">
            <a:avLst/>
          </a:prstGeom>
          <a:noFill/>
        </p:spPr>
        <p:txBody>
          <a:bodyPr wrap="square" lIns="36576" rIns="36576" tIns="36576" bIns="36576" anchor="t">
            <a:spAutoFit/>
          </a:bodyPr>
          <a:lstStyle/>
          <a:p>
            <a:pPr algn="r">
              <a:spcAft>
                <a:spcPts val="400"/>
              </a:spcAft>
            </a:pPr>
            <a:r>
              <a:rPr sz="900" b="1" i="0">
                <a:solidFill>
                  <a:srgbClr val="5BC4D2"/>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300"/>
              </a:spcAft>
            </a:pPr>
            <a:r>
              <a:rPr sz="900" b="1">
                <a:solidFill>
                  <a:srgbClr val="24AEA0"/>
                </a:solidFill>
                <a:latin typeface="Aptos"/>
              </a:rPr>
              <a:t>01 • LANDSCAPE</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300"/>
              </a:spcAft>
            </a:pPr>
            <a:r>
              <a:rPr sz="2400" b="1">
                <a:solidFill>
                  <a:srgbClr val="142037"/>
                </a:solidFill>
                <a:latin typeface="Aptos Display"/>
              </a:rPr>
              <a:t>Ba hướng SLVG khác nhau ở đầu vào và cách tạo chuyển động</a:t>
            </a:r>
          </a:p>
        </p:txBody>
      </p:sp>
      <p:sp>
        <p:nvSpPr>
          <p:cNvPr id="4" name="TextBox 3"/>
          <p:cNvSpPr txBox="1"/>
          <p:nvPr/>
        </p:nvSpPr>
        <p:spPr>
          <a:xfrm>
            <a:off x="585216" y="1152144"/>
            <a:ext cx="10972800" cy="310896"/>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Điểm khác biệt cốt lõi: chuyển động được cung cấp sẵn, được suy ra từ văn bản, hay được điều khiển trên nền video diffusion pretrained.</a:t>
            </a:r>
          </a:p>
        </p:txBody>
      </p:sp>
      <p:sp>
        <p:nvSpPr>
          <p:cNvPr id="5" name="Rounded Rectangle 4"/>
          <p:cNvSpPr/>
          <p:nvPr/>
        </p:nvSpPr>
        <p:spPr>
          <a:xfrm>
            <a:off x="594360" y="1664208"/>
            <a:ext cx="3310128" cy="4507992"/>
          </a:xfrm>
          <a:prstGeom prst="roundRect">
            <a:avLst>
              <a:gd name="adj" fmla="val 10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664208"/>
            <a:ext cx="3310128" cy="91440"/>
          </a:xfrm>
          <a:prstGeom prst="roundRect">
            <a:avLst>
              <a:gd name="adj" fmla="val 10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01952"/>
            <a:ext cx="365760" cy="365760"/>
          </a:xfrm>
          <a:prstGeom prst="roundRect">
            <a:avLst>
              <a:gd name="adj" fmla="val 10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365760" cy="164592"/>
          </a:xfrm>
          <a:prstGeom prst="rect">
            <a:avLst/>
          </a:prstGeom>
          <a:noFill/>
        </p:spPr>
        <p:txBody>
          <a:bodyPr wrap="square" lIns="0" rIns="0" tIns="0" bIns="0" anchor="t">
            <a:spAutoFit/>
          </a:bodyPr>
          <a:lstStyle/>
          <a:p>
            <a:pPr algn="ctr">
              <a:spcAft>
                <a:spcPts val="300"/>
              </a:spcAft>
            </a:pPr>
            <a:r>
              <a:rPr sz="1000" b="1">
                <a:solidFill>
                  <a:srgbClr val="142037"/>
                </a:solidFill>
                <a:latin typeface="Aptos"/>
              </a:rPr>
              <a:t>A</a:t>
            </a:r>
          </a:p>
        </p:txBody>
      </p:sp>
      <p:sp>
        <p:nvSpPr>
          <p:cNvPr id="9" name="TextBox 8"/>
          <p:cNvSpPr txBox="1"/>
          <p:nvPr/>
        </p:nvSpPr>
        <p:spPr>
          <a:xfrm>
            <a:off x="1252728" y="1901952"/>
            <a:ext cx="2423160" cy="384048"/>
          </a:xfrm>
          <a:prstGeom prst="rect">
            <a:avLst/>
          </a:prstGeom>
          <a:noFill/>
        </p:spPr>
        <p:txBody>
          <a:bodyPr wrap="square" lIns="36576" rIns="36576" tIns="36576" bIns="36576" anchor="t">
            <a:spAutoFit/>
          </a:bodyPr>
          <a:lstStyle/>
          <a:p>
            <a:pPr algn="l">
              <a:spcAft>
                <a:spcPts val="300"/>
              </a:spcAft>
            </a:pPr>
            <a:r>
              <a:rPr sz="1400" b="1">
                <a:solidFill>
                  <a:srgbClr val="142037"/>
                </a:solidFill>
                <a:latin typeface="Aptos"/>
              </a:rPr>
              <a:t>Ảnh tham chiếu + pose</a:t>
            </a:r>
          </a:p>
        </p:txBody>
      </p:sp>
      <p:sp>
        <p:nvSpPr>
          <p:cNvPr id="10" name="TextBox 9"/>
          <p:cNvSpPr txBox="1"/>
          <p:nvPr/>
        </p:nvSpPr>
        <p:spPr>
          <a:xfrm>
            <a:off x="795528" y="23957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vào</a:t>
            </a:r>
          </a:p>
        </p:txBody>
      </p:sp>
      <p:sp>
        <p:nvSpPr>
          <p:cNvPr id="11" name="TextBox 10"/>
          <p:cNvSpPr txBox="1"/>
          <p:nvPr/>
        </p:nvSpPr>
        <p:spPr>
          <a:xfrm>
            <a:off x="795528" y="2633472"/>
            <a:ext cx="2880360" cy="621792"/>
          </a:xfrm>
          <a:prstGeom prst="rect">
            <a:avLst/>
          </a:prstGeom>
          <a:noFill/>
        </p:spPr>
        <p:txBody>
          <a:bodyPr wrap="square" lIns="36576" rIns="36576" tIns="36576" bIns="36576" anchor="t">
            <a:spAutoFit/>
          </a:bodyPr>
          <a:lstStyle/>
          <a:p>
            <a:pPr algn="l">
              <a:spcAft>
                <a:spcPts val="300"/>
              </a:spcAft>
            </a:pPr>
            <a:r>
              <a:rPr sz="1019" b="0">
                <a:solidFill>
                  <a:srgbClr val="253041"/>
                </a:solidFill>
                <a:latin typeface="Aptos"/>
              </a:rPr>
              <a:t>Một ảnh người làm ảnh tham chiếu, cùng chuỗi pose/keypoint theo thời gian mô tả chuyển động cần tạo.</a:t>
            </a:r>
          </a:p>
        </p:txBody>
      </p:sp>
      <p:sp>
        <p:nvSpPr>
          <p:cNvPr id="12" name="TextBox 11"/>
          <p:cNvSpPr txBox="1"/>
          <p:nvPr/>
        </p:nvSpPr>
        <p:spPr>
          <a:xfrm>
            <a:off x="795528" y="33101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Ý tưởng</a:t>
            </a:r>
          </a:p>
        </p:txBody>
      </p:sp>
      <p:sp>
        <p:nvSpPr>
          <p:cNvPr id="13" name="TextBox 12"/>
          <p:cNvSpPr txBox="1"/>
          <p:nvPr/>
        </p:nvSpPr>
        <p:spPr>
          <a:xfrm>
            <a:off x="795528" y="3547872"/>
            <a:ext cx="2880360" cy="1645920"/>
          </a:xfrm>
          <a:prstGeom prst="rect">
            <a:avLst/>
          </a:prstGeom>
          <a:noFill/>
        </p:spPr>
        <p:txBody>
          <a:bodyPr wrap="square" lIns="36576" rIns="36576" tIns="36576" bIns="36576" anchor="t">
            <a:spAutoFit/>
          </a:bodyPr>
          <a:lstStyle/>
          <a:p>
            <a:pPr algn="l">
              <a:spcAft>
                <a:spcPts val="300"/>
              </a:spcAft>
            </a:pPr>
            <a:r>
              <a:rPr sz="1010" b="0">
                <a:solidFill>
                  <a:srgbClr val="253041"/>
                </a:solidFill>
                <a:latin typeface="Aptos"/>
              </a:rPr>
              <a:t>Mô hình giữ ngoại hình của người trong ảnh nguồn, rồi tổng hợp từng khung hình sao cho cơ thể và bàn tay bám theo chuỗi pose đầu vào. Pose đóng vai trò “bản thiết kế chuyển động”; mô hình sinh ảnh/video chịu trách nhiệm tạo ngoại hình, quần áo, mặt và chi tiết bàn tay. Cách tiếp cận này gần với các mô hình pose-guided human animation như Animate Anyone. Vì pose đã được cung cấp, bài toán tập trung vào chuyển động có điều khiển và chất lượng hình ảnh, thay vì tự dịch câu văn sang ngôn ngữ ký hiệu.</a:t>
            </a:r>
          </a:p>
        </p:txBody>
      </p:sp>
      <p:sp>
        <p:nvSpPr>
          <p:cNvPr id="14" name="TextBox 13"/>
          <p:cNvSpPr txBox="1"/>
          <p:nvPr/>
        </p:nvSpPr>
        <p:spPr>
          <a:xfrm>
            <a:off x="795528" y="5257800"/>
            <a:ext cx="2880360" cy="182880"/>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ra</a:t>
            </a:r>
          </a:p>
        </p:txBody>
      </p:sp>
      <p:sp>
        <p:nvSpPr>
          <p:cNvPr id="15" name="TextBox 14"/>
          <p:cNvSpPr txBox="1"/>
          <p:nvPr/>
        </p:nvSpPr>
        <p:spPr>
          <a:xfrm>
            <a:off x="795528" y="5468112"/>
            <a:ext cx="2880360" cy="338328"/>
          </a:xfrm>
          <a:prstGeom prst="rect">
            <a:avLst/>
          </a:prstGeom>
          <a:noFill/>
        </p:spPr>
        <p:txBody>
          <a:bodyPr wrap="square" lIns="36576" rIns="36576" tIns="36576" bIns="36576" anchor="t">
            <a:spAutoFit/>
          </a:bodyPr>
          <a:lstStyle/>
          <a:p>
            <a:pPr algn="l">
              <a:spcAft>
                <a:spcPts val="300"/>
              </a:spcAft>
            </a:pPr>
            <a:r>
              <a:rPr sz="1000" b="1">
                <a:solidFill>
                  <a:srgbClr val="142037"/>
                </a:solidFill>
                <a:latin typeface="Aptos"/>
              </a:rPr>
              <a:t>Video người tham chiếu thực hiện chuỗi chuyển động đã chỉ định.</a:t>
            </a:r>
          </a:p>
        </p:txBody>
      </p:sp>
      <p:sp>
        <p:nvSpPr>
          <p:cNvPr id="16" name="TextBox 15"/>
          <p:cNvSpPr txBox="1"/>
          <p:nvPr/>
        </p:nvSpPr>
        <p:spPr>
          <a:xfrm>
            <a:off x="795528" y="5843016"/>
            <a:ext cx="2880360" cy="219456"/>
          </a:xfrm>
          <a:prstGeom prst="rect">
            <a:avLst/>
          </a:prstGeom>
          <a:noFill/>
        </p:spPr>
        <p:txBody>
          <a:bodyPr wrap="square" lIns="36576" rIns="36576" tIns="36576" bIns="36576" anchor="t">
            <a:spAutoFit/>
          </a:bodyPr>
          <a:lstStyle/>
          <a:p>
            <a:pPr algn="l">
              <a:spcAft>
                <a:spcPts val="300"/>
              </a:spcAft>
            </a:pPr>
            <a:r>
              <a:rPr sz="860" b="1">
                <a:solidFill>
                  <a:srgbClr val="24AEA0"/>
                </a:solidFill>
                <a:latin typeface="Aptos"/>
              </a:rPr>
              <a:t>PGMM (ECCV 2024) • GReg (ICCV 2025)</a:t>
            </a:r>
          </a:p>
        </p:txBody>
      </p:sp>
      <p:sp>
        <p:nvSpPr>
          <p:cNvPr id="17" name="Rounded Rectangle 16"/>
          <p:cNvSpPr/>
          <p:nvPr/>
        </p:nvSpPr>
        <p:spPr>
          <a:xfrm>
            <a:off x="4443984" y="1664208"/>
            <a:ext cx="3310128" cy="4507992"/>
          </a:xfrm>
          <a:prstGeom prst="roundRect">
            <a:avLst>
              <a:gd name="adj" fmla="val 10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4" y="1664208"/>
            <a:ext cx="3310128" cy="91440"/>
          </a:xfrm>
          <a:prstGeom prst="roundRect">
            <a:avLst>
              <a:gd name="adj" fmla="val 10000"/>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26864" y="1901952"/>
            <a:ext cx="365760" cy="365760"/>
          </a:xfrm>
          <a:prstGeom prst="roundRect">
            <a:avLst>
              <a:gd name="adj" fmla="val 10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26864" y="1975104"/>
            <a:ext cx="365760" cy="164592"/>
          </a:xfrm>
          <a:prstGeom prst="rect">
            <a:avLst/>
          </a:prstGeom>
          <a:noFill/>
        </p:spPr>
        <p:txBody>
          <a:bodyPr wrap="square" lIns="0" rIns="0" tIns="0" bIns="0" anchor="t">
            <a:spAutoFit/>
          </a:bodyPr>
          <a:lstStyle/>
          <a:p>
            <a:pPr algn="ctr">
              <a:spcAft>
                <a:spcPts val="300"/>
              </a:spcAft>
            </a:pPr>
            <a:r>
              <a:rPr sz="1000" b="1">
                <a:solidFill>
                  <a:srgbClr val="142037"/>
                </a:solidFill>
                <a:latin typeface="Aptos"/>
              </a:rPr>
              <a:t>B</a:t>
            </a:r>
          </a:p>
        </p:txBody>
      </p:sp>
      <p:sp>
        <p:nvSpPr>
          <p:cNvPr id="21" name="TextBox 20"/>
          <p:cNvSpPr txBox="1"/>
          <p:nvPr/>
        </p:nvSpPr>
        <p:spPr>
          <a:xfrm>
            <a:off x="5102352" y="1901952"/>
            <a:ext cx="2423160" cy="384048"/>
          </a:xfrm>
          <a:prstGeom prst="rect">
            <a:avLst/>
          </a:prstGeom>
          <a:noFill/>
        </p:spPr>
        <p:txBody>
          <a:bodyPr wrap="square" lIns="36576" rIns="36576" tIns="36576" bIns="36576" anchor="t">
            <a:spAutoFit/>
          </a:bodyPr>
          <a:lstStyle/>
          <a:p>
            <a:pPr algn="l">
              <a:spcAft>
                <a:spcPts val="300"/>
              </a:spcAft>
            </a:pPr>
            <a:r>
              <a:rPr sz="1400" b="1">
                <a:solidFill>
                  <a:srgbClr val="142037"/>
                </a:solidFill>
                <a:latin typeface="Aptos"/>
              </a:rPr>
              <a:t>Text-to-sign-video</a:t>
            </a:r>
          </a:p>
        </p:txBody>
      </p:sp>
      <p:sp>
        <p:nvSpPr>
          <p:cNvPr id="22" name="TextBox 21"/>
          <p:cNvSpPr txBox="1"/>
          <p:nvPr/>
        </p:nvSpPr>
        <p:spPr>
          <a:xfrm>
            <a:off x="4645152" y="23957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vào</a:t>
            </a:r>
          </a:p>
        </p:txBody>
      </p:sp>
      <p:sp>
        <p:nvSpPr>
          <p:cNvPr id="23" name="TextBox 22"/>
          <p:cNvSpPr txBox="1"/>
          <p:nvPr/>
        </p:nvSpPr>
        <p:spPr>
          <a:xfrm>
            <a:off x="4645152" y="2633472"/>
            <a:ext cx="2880360" cy="621792"/>
          </a:xfrm>
          <a:prstGeom prst="rect">
            <a:avLst/>
          </a:prstGeom>
          <a:noFill/>
        </p:spPr>
        <p:txBody>
          <a:bodyPr wrap="square" lIns="36576" rIns="36576" tIns="36576" bIns="36576" anchor="t">
            <a:spAutoFit/>
          </a:bodyPr>
          <a:lstStyle/>
          <a:p>
            <a:pPr algn="l">
              <a:spcAft>
                <a:spcPts val="300"/>
              </a:spcAft>
            </a:pPr>
            <a:r>
              <a:rPr sz="1019" b="0">
                <a:solidFill>
                  <a:srgbClr val="253041"/>
                </a:solidFill>
                <a:latin typeface="Aptos"/>
              </a:rPr>
              <a:t>Câu văn bản ở ngôn ngữ nói; thường không yêu cầu người dùng cung cấp chuỗi pose ở đầu vào.</a:t>
            </a:r>
          </a:p>
        </p:txBody>
      </p:sp>
      <p:sp>
        <p:nvSpPr>
          <p:cNvPr id="24" name="TextBox 23"/>
          <p:cNvSpPr txBox="1"/>
          <p:nvPr/>
        </p:nvSpPr>
        <p:spPr>
          <a:xfrm>
            <a:off x="4645152" y="33101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Ý tưởng</a:t>
            </a:r>
          </a:p>
        </p:txBody>
      </p:sp>
      <p:sp>
        <p:nvSpPr>
          <p:cNvPr id="25" name="TextBox 24"/>
          <p:cNvSpPr txBox="1"/>
          <p:nvPr/>
        </p:nvSpPr>
        <p:spPr>
          <a:xfrm>
            <a:off x="4645152" y="3547872"/>
            <a:ext cx="2880360" cy="1645920"/>
          </a:xfrm>
          <a:prstGeom prst="rect">
            <a:avLst/>
          </a:prstGeom>
          <a:noFill/>
        </p:spPr>
        <p:txBody>
          <a:bodyPr wrap="square" lIns="36576" rIns="36576" tIns="36576" bIns="36576" anchor="t">
            <a:spAutoFit/>
          </a:bodyPr>
          <a:lstStyle/>
          <a:p>
            <a:pPr algn="l">
              <a:spcAft>
                <a:spcPts val="300"/>
              </a:spcAft>
            </a:pPr>
            <a:r>
              <a:rPr sz="1010" b="0">
                <a:solidFill>
                  <a:srgbClr val="253041"/>
                </a:solidFill>
                <a:latin typeface="Aptos"/>
              </a:rPr>
              <a:t>Hệ thống phải biến câu văn thành video ký hiệu có nội dung tương ứng. Tùy phương pháp, mô hình có thể học liên kết giữa văn bản và chuyển động trực tiếp, hoặc tạo các điều kiện trung gian như pose/motion rồi dùng chúng để điều khiển bộ sinh video. Ví dụ SignGen dùng latent video diffusion với điều kiện văn bản và chuyển động; các hướng pose-free mới hơn tìm cách sinh trực tiếp từ văn bản mà không cần pose tường minh. Vì vậy, bài toán bao gồm cả tính đúng ngữ nghĩa/ngữ pháp ký hiệu lẫn chất lượng hình ảnh và tính liên tục theo thời gian.</a:t>
            </a:r>
          </a:p>
        </p:txBody>
      </p:sp>
      <p:sp>
        <p:nvSpPr>
          <p:cNvPr id="26" name="TextBox 25"/>
          <p:cNvSpPr txBox="1"/>
          <p:nvPr/>
        </p:nvSpPr>
        <p:spPr>
          <a:xfrm>
            <a:off x="4645152" y="5257800"/>
            <a:ext cx="2880360" cy="182880"/>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ra</a:t>
            </a:r>
          </a:p>
        </p:txBody>
      </p:sp>
      <p:sp>
        <p:nvSpPr>
          <p:cNvPr id="27" name="TextBox 26"/>
          <p:cNvSpPr txBox="1"/>
          <p:nvPr/>
        </p:nvSpPr>
        <p:spPr>
          <a:xfrm>
            <a:off x="4645152" y="5468112"/>
            <a:ext cx="2880360" cy="338328"/>
          </a:xfrm>
          <a:prstGeom prst="rect">
            <a:avLst/>
          </a:prstGeom>
          <a:noFill/>
        </p:spPr>
        <p:txBody>
          <a:bodyPr wrap="square" lIns="36576" rIns="36576" tIns="36576" bIns="36576" anchor="t">
            <a:spAutoFit/>
          </a:bodyPr>
          <a:lstStyle/>
          <a:p>
            <a:pPr algn="l">
              <a:spcAft>
                <a:spcPts val="300"/>
              </a:spcAft>
            </a:pPr>
            <a:r>
              <a:rPr sz="1000" b="1">
                <a:solidFill>
                  <a:srgbClr val="142037"/>
                </a:solidFill>
                <a:latin typeface="Aptos"/>
              </a:rPr>
              <a:t>Video ký hiệu biểu đạt nội dung của câu đầu vào.</a:t>
            </a:r>
          </a:p>
        </p:txBody>
      </p:sp>
      <p:sp>
        <p:nvSpPr>
          <p:cNvPr id="28" name="TextBox 27"/>
          <p:cNvSpPr txBox="1"/>
          <p:nvPr/>
        </p:nvSpPr>
        <p:spPr>
          <a:xfrm>
            <a:off x="4645152" y="5843016"/>
            <a:ext cx="2880360" cy="219456"/>
          </a:xfrm>
          <a:prstGeom prst="rect">
            <a:avLst/>
          </a:prstGeom>
          <a:noFill/>
        </p:spPr>
        <p:txBody>
          <a:bodyPr wrap="square" lIns="36576" rIns="36576" tIns="36576" bIns="36576" anchor="t">
            <a:spAutoFit/>
          </a:bodyPr>
          <a:lstStyle/>
          <a:p>
            <a:pPr algn="l">
              <a:spcAft>
                <a:spcPts val="300"/>
              </a:spcAft>
            </a:pPr>
            <a:r>
              <a:rPr sz="860" b="1">
                <a:solidFill>
                  <a:srgbClr val="F2B74A"/>
                </a:solidFill>
                <a:latin typeface="Aptos"/>
              </a:rPr>
              <a:t>SignGen (ECCV 2024) • FlashSign (2026)</a:t>
            </a:r>
          </a:p>
        </p:txBody>
      </p:sp>
      <p:sp>
        <p:nvSpPr>
          <p:cNvPr id="29" name="Rounded Rectangle 28"/>
          <p:cNvSpPr/>
          <p:nvPr/>
        </p:nvSpPr>
        <p:spPr>
          <a:xfrm>
            <a:off x="8293608" y="1664208"/>
            <a:ext cx="3310128" cy="4507992"/>
          </a:xfrm>
          <a:prstGeom prst="roundRect">
            <a:avLst>
              <a:gd name="adj" fmla="val 10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93608" y="1664208"/>
            <a:ext cx="3310128" cy="91440"/>
          </a:xfrm>
          <a:prstGeom prst="roundRect">
            <a:avLst>
              <a:gd name="adj" fmla="val 10000"/>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476488" y="1901952"/>
            <a:ext cx="365760" cy="365760"/>
          </a:xfrm>
          <a:prstGeom prst="roundRect">
            <a:avLst>
              <a:gd name="adj" fmla="val 10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76488" y="1975104"/>
            <a:ext cx="365760" cy="164592"/>
          </a:xfrm>
          <a:prstGeom prst="rect">
            <a:avLst/>
          </a:prstGeom>
          <a:noFill/>
        </p:spPr>
        <p:txBody>
          <a:bodyPr wrap="square" lIns="0" rIns="0" tIns="0" bIns="0" anchor="t">
            <a:spAutoFit/>
          </a:bodyPr>
          <a:lstStyle/>
          <a:p>
            <a:pPr algn="ctr">
              <a:spcAft>
                <a:spcPts val="300"/>
              </a:spcAft>
            </a:pPr>
            <a:r>
              <a:rPr sz="1000" b="1">
                <a:solidFill>
                  <a:srgbClr val="142037"/>
                </a:solidFill>
                <a:latin typeface="Aptos"/>
              </a:rPr>
              <a:t>C</a:t>
            </a:r>
          </a:p>
        </p:txBody>
      </p:sp>
      <p:sp>
        <p:nvSpPr>
          <p:cNvPr id="33" name="TextBox 32"/>
          <p:cNvSpPr txBox="1"/>
          <p:nvPr/>
        </p:nvSpPr>
        <p:spPr>
          <a:xfrm>
            <a:off x="8951976" y="1901952"/>
            <a:ext cx="2423160" cy="384048"/>
          </a:xfrm>
          <a:prstGeom prst="rect">
            <a:avLst/>
          </a:prstGeom>
          <a:noFill/>
        </p:spPr>
        <p:txBody>
          <a:bodyPr wrap="square" lIns="36576" rIns="36576" tIns="36576" bIns="36576" anchor="t">
            <a:spAutoFit/>
          </a:bodyPr>
          <a:lstStyle/>
          <a:p>
            <a:pPr algn="l">
              <a:spcAft>
                <a:spcPts val="300"/>
              </a:spcAft>
            </a:pPr>
            <a:r>
              <a:rPr sz="1400" b="1">
                <a:solidFill>
                  <a:srgbClr val="142037"/>
                </a:solidFill>
                <a:latin typeface="Aptos"/>
              </a:rPr>
              <a:t>Foundation model</a:t>
            </a:r>
          </a:p>
        </p:txBody>
      </p:sp>
      <p:sp>
        <p:nvSpPr>
          <p:cNvPr id="34" name="TextBox 33"/>
          <p:cNvSpPr txBox="1"/>
          <p:nvPr/>
        </p:nvSpPr>
        <p:spPr>
          <a:xfrm>
            <a:off x="8494776" y="23957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vào</a:t>
            </a:r>
          </a:p>
        </p:txBody>
      </p:sp>
      <p:sp>
        <p:nvSpPr>
          <p:cNvPr id="35" name="TextBox 34"/>
          <p:cNvSpPr txBox="1"/>
          <p:nvPr/>
        </p:nvSpPr>
        <p:spPr>
          <a:xfrm>
            <a:off x="8494776" y="2633472"/>
            <a:ext cx="2880360" cy="621792"/>
          </a:xfrm>
          <a:prstGeom prst="rect">
            <a:avLst/>
          </a:prstGeom>
          <a:noFill/>
        </p:spPr>
        <p:txBody>
          <a:bodyPr wrap="square" lIns="36576" rIns="36576" tIns="36576" bIns="36576" anchor="t">
            <a:spAutoFit/>
          </a:bodyPr>
          <a:lstStyle/>
          <a:p>
            <a:pPr algn="l">
              <a:spcAft>
                <a:spcPts val="300"/>
              </a:spcAft>
            </a:pPr>
            <a:r>
              <a:rPr sz="1019" b="0">
                <a:solidFill>
                  <a:srgbClr val="253041"/>
                </a:solidFill>
                <a:latin typeface="Aptos"/>
              </a:rPr>
              <a:t>Thường là ảnh/video tham chiếu cùng pose/keypoint; có thể bổ sung điều kiện không gian hoặc vùng quan tâm.</a:t>
            </a:r>
          </a:p>
        </p:txBody>
      </p:sp>
      <p:sp>
        <p:nvSpPr>
          <p:cNvPr id="36" name="TextBox 35"/>
          <p:cNvSpPr txBox="1"/>
          <p:nvPr/>
        </p:nvSpPr>
        <p:spPr>
          <a:xfrm>
            <a:off x="8494776" y="3310128"/>
            <a:ext cx="2880360" cy="201168"/>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Ý tưởng</a:t>
            </a:r>
          </a:p>
        </p:txBody>
      </p:sp>
      <p:sp>
        <p:nvSpPr>
          <p:cNvPr id="37" name="TextBox 36"/>
          <p:cNvSpPr txBox="1"/>
          <p:nvPr/>
        </p:nvSpPr>
        <p:spPr>
          <a:xfrm>
            <a:off x="8494776" y="3547872"/>
            <a:ext cx="2880360" cy="1645920"/>
          </a:xfrm>
          <a:prstGeom prst="rect">
            <a:avLst/>
          </a:prstGeom>
          <a:noFill/>
        </p:spPr>
        <p:txBody>
          <a:bodyPr wrap="square" lIns="36576" rIns="36576" tIns="36576" bIns="36576" anchor="t">
            <a:spAutoFit/>
          </a:bodyPr>
          <a:lstStyle/>
          <a:p>
            <a:pPr algn="l">
              <a:spcAft>
                <a:spcPts val="300"/>
              </a:spcAft>
            </a:pPr>
            <a:r>
              <a:rPr sz="1010" b="0">
                <a:solidFill>
                  <a:srgbClr val="253041"/>
                </a:solidFill>
                <a:latin typeface="Aptos"/>
              </a:rPr>
              <a:t>Thay vì huấn luyện toàn bộ bộ sinh từ đầu, phương pháp này tận dụng prior về ngoại hình và động học đã học từ video diffusion model pretrained. Các điều kiện như keypoint/pose hướng dẫn chuyển động, trong khi adapter hoặc module chuyên biệt điều chỉnh mô hình ở những vùng khó như bàn tay và khuôn mặt. Mục tiêu là kết hợp khả năng sinh video tổng quát của mô hình nền với yêu cầu hình học chính xác của ngôn ngữ ký hiệu. Đây không nhất thiết là text-to-sign: đầu vào vẫn có thể là pose và ảnh tham chiếu, nên cần phân biệt loại điều kiện với kiến trúc sinh.</a:t>
            </a:r>
          </a:p>
        </p:txBody>
      </p:sp>
      <p:sp>
        <p:nvSpPr>
          <p:cNvPr id="38" name="TextBox 37"/>
          <p:cNvSpPr txBox="1"/>
          <p:nvPr/>
        </p:nvSpPr>
        <p:spPr>
          <a:xfrm>
            <a:off x="8494776" y="5257800"/>
            <a:ext cx="2880360" cy="182880"/>
          </a:xfrm>
          <a:prstGeom prst="rect">
            <a:avLst/>
          </a:prstGeom>
          <a:noFill/>
        </p:spPr>
        <p:txBody>
          <a:bodyPr wrap="square" lIns="36576" rIns="36576" tIns="36576" bIns="36576" anchor="t">
            <a:spAutoFit/>
          </a:bodyPr>
          <a:lstStyle/>
          <a:p>
            <a:pPr algn="l">
              <a:spcAft>
                <a:spcPts val="300"/>
              </a:spcAft>
            </a:pPr>
            <a:r>
              <a:rPr sz="1050" b="0">
                <a:solidFill>
                  <a:srgbClr val="657386"/>
                </a:solidFill>
                <a:latin typeface="Aptos"/>
              </a:rPr>
              <a:t>Đầu ra</a:t>
            </a:r>
          </a:p>
        </p:txBody>
      </p:sp>
      <p:sp>
        <p:nvSpPr>
          <p:cNvPr id="39" name="TextBox 38"/>
          <p:cNvSpPr txBox="1"/>
          <p:nvPr/>
        </p:nvSpPr>
        <p:spPr>
          <a:xfrm>
            <a:off x="8494776" y="5468112"/>
            <a:ext cx="2880360" cy="338328"/>
          </a:xfrm>
          <a:prstGeom prst="rect">
            <a:avLst/>
          </a:prstGeom>
          <a:noFill/>
        </p:spPr>
        <p:txBody>
          <a:bodyPr wrap="square" lIns="36576" rIns="36576" tIns="36576" bIns="36576" anchor="t">
            <a:spAutoFit/>
          </a:bodyPr>
          <a:lstStyle/>
          <a:p>
            <a:pPr algn="l">
              <a:spcAft>
                <a:spcPts val="300"/>
              </a:spcAft>
            </a:pPr>
            <a:r>
              <a:rPr sz="1000" b="1">
                <a:solidFill>
                  <a:srgbClr val="142037"/>
                </a:solidFill>
                <a:latin typeface="Aptos"/>
              </a:rPr>
              <a:t>Video ký hiệu được điều khiển bằng pose, với prior hình ảnh từ mô hình pretrained.</a:t>
            </a:r>
          </a:p>
        </p:txBody>
      </p:sp>
      <p:sp>
        <p:nvSpPr>
          <p:cNvPr id="40" name="TextBox 39"/>
          <p:cNvSpPr txBox="1"/>
          <p:nvPr/>
        </p:nvSpPr>
        <p:spPr>
          <a:xfrm>
            <a:off x="8494776" y="5843016"/>
            <a:ext cx="2880360" cy="219456"/>
          </a:xfrm>
          <a:prstGeom prst="rect">
            <a:avLst/>
          </a:prstGeom>
          <a:noFill/>
        </p:spPr>
        <p:txBody>
          <a:bodyPr wrap="square" lIns="36576" rIns="36576" tIns="36576" bIns="36576" anchor="t">
            <a:spAutoFit/>
          </a:bodyPr>
          <a:lstStyle/>
          <a:p>
            <a:pPr algn="l">
              <a:spcAft>
                <a:spcPts val="300"/>
              </a:spcAft>
            </a:pPr>
            <a:r>
              <a:rPr sz="860" b="1">
                <a:solidFill>
                  <a:srgbClr val="5BC4D2"/>
                </a:solidFill>
                <a:latin typeface="Aptos"/>
              </a:rPr>
              <a:t>SignRefine (2026) • các hướng diffusion có điều kiện</a:t>
            </a:r>
          </a:p>
        </p:txBody>
      </p:sp>
      <p:sp>
        <p:nvSpPr>
          <p:cNvPr id="41" name="Rounded Rectangle 40"/>
          <p:cNvSpPr/>
          <p:nvPr/>
        </p:nvSpPr>
        <p:spPr>
          <a:xfrm>
            <a:off x="621792" y="6236208"/>
            <a:ext cx="10927080" cy="228600"/>
          </a:xfrm>
          <a:prstGeom prst="roundRect">
            <a:avLst>
              <a:gd name="adj" fmla="val 10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8" y="6268212"/>
            <a:ext cx="10607040" cy="146304"/>
          </a:xfrm>
          <a:prstGeom prst="rect">
            <a:avLst/>
          </a:prstGeom>
          <a:noFill/>
        </p:spPr>
        <p:txBody>
          <a:bodyPr wrap="square" lIns="36576" rIns="36576" tIns="36576" bIns="36576" anchor="t">
            <a:spAutoFit/>
          </a:bodyPr>
          <a:lstStyle/>
          <a:p>
            <a:pPr algn="l">
              <a:spcAft>
                <a:spcPts val="300"/>
              </a:spcAft>
            </a:pPr>
            <a:r>
              <a:rPr sz="869" b="1">
                <a:solidFill>
                  <a:srgbClr val="142037"/>
                </a:solidFill>
                <a:latin typeface="Aptos"/>
              </a:rPr>
              <a:t>Lưu ý: hướng C mô tả cách xây dựng bộ sinh, không phải một loại đầu vào độc lập; các hướng có thể chồng lấn.</a:t>
            </a:r>
          </a:p>
        </p:txBody>
      </p:sp>
      <p:sp>
        <p:nvSpPr>
          <p:cNvPr id="43" name="TextBox 42"/>
          <p:cNvSpPr txBox="1"/>
          <p:nvPr/>
        </p:nvSpPr>
        <p:spPr>
          <a:xfrm>
            <a:off x="585216" y="6510528"/>
            <a:ext cx="9601200" cy="146304"/>
          </a:xfrm>
          <a:prstGeom prst="rect">
            <a:avLst/>
          </a:prstGeom>
          <a:noFill/>
        </p:spPr>
        <p:txBody>
          <a:bodyPr wrap="square" lIns="36576" rIns="36576" tIns="36576" bIns="36576" anchor="t">
            <a:spAutoFit/>
          </a:bodyPr>
          <a:lstStyle/>
          <a:p>
            <a:pPr algn="l">
              <a:spcAft>
                <a:spcPts val="300"/>
              </a:spcAft>
            </a:pPr>
            <a:r>
              <a:rPr sz="750" b="0">
                <a:solidFill>
                  <a:srgbClr val="657386"/>
                </a:solidFill>
                <a:latin typeface="Aptos"/>
              </a:rPr>
              <a:t>SLVG • Sources: PGMM (ECCV 2024); SignGen (ECCV 2024); SignViP (NeurIPS 2025); SignRefine (2026).</a:t>
            </a:r>
          </a:p>
        </p:txBody>
      </p:sp>
      <p:sp>
        <p:nvSpPr>
          <p:cNvPr id="44" name="TextBox 43"/>
          <p:cNvSpPr txBox="1"/>
          <p:nvPr/>
        </p:nvSpPr>
        <p:spPr>
          <a:xfrm>
            <a:off x="11201400" y="6510528"/>
            <a:ext cx="320040" cy="146304"/>
          </a:xfrm>
          <a:prstGeom prst="rect">
            <a:avLst/>
          </a:prstGeom>
          <a:noFill/>
        </p:spPr>
        <p:txBody>
          <a:bodyPr wrap="square" lIns="36576" rIns="36576" tIns="36576" bIns="36576" anchor="t">
            <a:spAutoFit/>
          </a:bodyPr>
          <a:lstStyle/>
          <a:p>
            <a:pPr algn="r">
              <a:spcAft>
                <a:spcPts val="300"/>
              </a:spcAft>
            </a:pPr>
            <a:r>
              <a:rPr sz="800" b="1">
                <a:solidFill>
                  <a:srgbClr val="657386"/>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01 • LANDSCAPE</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Trade-off và tình trạng mã nguồn cần được xác minh</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Tóm tắt theo tài liệu đã khảo sát; trạng thái code là ảnh chụp tại 18/10/2026.</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03 / 10</a:t>
            </a:r>
          </a:p>
        </p:txBody>
      </p:sp>
      <p:sp>
        <p:nvSpPr>
          <p:cNvPr id="6" name="Rounded Rectangle 5"/>
          <p:cNvSpPr/>
          <p:nvPr/>
        </p:nvSpPr>
        <p:spPr>
          <a:xfrm>
            <a:off x="658368" y="1719072"/>
            <a:ext cx="1417320" cy="384048"/>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810512"/>
            <a:ext cx="1271016" cy="164592"/>
          </a:xfrm>
          <a:prstGeom prst="rect">
            <a:avLst/>
          </a:prstGeom>
          <a:noFill/>
        </p:spPr>
        <p:txBody>
          <a:bodyPr wrap="square" lIns="36576" rIns="36576" tIns="36576" bIns="36576" anchor="t">
            <a:spAutoFit/>
          </a:bodyPr>
          <a:lstStyle/>
          <a:p>
            <a:pPr algn="ctr">
              <a:spcAft>
                <a:spcPts val="400"/>
              </a:spcAft>
            </a:pPr>
            <a:r>
              <a:rPr sz="900" b="1" i="0">
                <a:solidFill>
                  <a:srgbClr val="FFFFFF"/>
                </a:solidFill>
                <a:latin typeface="Aptos"/>
              </a:rPr>
              <a:t>HƯỚNG</a:t>
            </a:r>
          </a:p>
        </p:txBody>
      </p:sp>
      <p:sp>
        <p:nvSpPr>
          <p:cNvPr id="8" name="Rounded Rectangle 7"/>
          <p:cNvSpPr/>
          <p:nvPr/>
        </p:nvSpPr>
        <p:spPr>
          <a:xfrm>
            <a:off x="658368" y="2212848"/>
            <a:ext cx="141732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322576"/>
            <a:ext cx="1234440" cy="822960"/>
          </a:xfrm>
          <a:prstGeom prst="rect">
            <a:avLst/>
          </a:prstGeom>
          <a:noFill/>
        </p:spPr>
        <p:txBody>
          <a:bodyPr wrap="square" lIns="36576" rIns="36576" tIns="36576" bIns="36576" anchor="t">
            <a:spAutoFit/>
          </a:bodyPr>
          <a:lstStyle/>
          <a:p>
            <a:pPr algn="l">
              <a:spcAft>
                <a:spcPts val="400"/>
              </a:spcAft>
            </a:pPr>
            <a:r>
              <a:rPr sz="1050" b="1" i="0">
                <a:solidFill>
                  <a:srgbClr val="142037"/>
                </a:solidFill>
                <a:latin typeface="Aptos"/>
              </a:rPr>
              <a:t>A • Ref+pose</a:t>
            </a:r>
          </a:p>
        </p:txBody>
      </p:sp>
      <p:sp>
        <p:nvSpPr>
          <p:cNvPr id="10" name="Rounded Rectangle 9"/>
          <p:cNvSpPr/>
          <p:nvPr/>
        </p:nvSpPr>
        <p:spPr>
          <a:xfrm>
            <a:off x="2212848" y="2212848"/>
            <a:ext cx="2633472"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04288" y="2322576"/>
            <a:ext cx="2450591"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Điều khiển rõ; giữ danh tính; có thể chạy với 1 GPU theo báo cáo.</a:t>
            </a:r>
          </a:p>
        </p:txBody>
      </p:sp>
      <p:sp>
        <p:nvSpPr>
          <p:cNvPr id="12" name="Rounded Rectangle 11"/>
          <p:cNvSpPr/>
          <p:nvPr/>
        </p:nvSpPr>
        <p:spPr>
          <a:xfrm>
            <a:off x="5010912" y="2212848"/>
            <a:ext cx="274320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2352" y="2322576"/>
            <a:ext cx="256032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Cần pose; tay/mặt khó vẽ; nhất quán thời gian là thách thức.</a:t>
            </a:r>
          </a:p>
        </p:txBody>
      </p:sp>
      <p:sp>
        <p:nvSpPr>
          <p:cNvPr id="14" name="Rounded Rectangle 13"/>
          <p:cNvSpPr/>
          <p:nvPr/>
        </p:nvSpPr>
        <p:spPr>
          <a:xfrm>
            <a:off x="7909560" y="2212848"/>
            <a:ext cx="361188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322576"/>
            <a:ext cx="342900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PGMM: chưa tìm thấy link code</a:t>
            </a:r>
          </a:p>
          <a:p>
            <a:pPr algn="l">
              <a:spcAft>
                <a:spcPts val="400"/>
              </a:spcAft>
            </a:pPr>
            <a:r>
              <a:rPr sz="1050" b="0" i="0">
                <a:solidFill>
                  <a:srgbClr val="253041"/>
                </a:solidFill>
                <a:latin typeface="Aptos"/>
              </a:rPr>
              <a:t>GReg: chưa tìm thấy link code</a:t>
            </a:r>
          </a:p>
          <a:p>
            <a:pPr algn="l">
              <a:spcAft>
                <a:spcPts val="400"/>
              </a:spcAft>
            </a:pPr>
            <a:r>
              <a:rPr sz="1050" b="0" i="0">
                <a:solidFill>
                  <a:srgbClr val="253041"/>
                </a:solidFill>
                <a:latin typeface="Aptos"/>
              </a:rPr>
              <a:t>SignViP: repo được ghi nhận</a:t>
            </a:r>
          </a:p>
        </p:txBody>
      </p:sp>
      <p:sp>
        <p:nvSpPr>
          <p:cNvPr id="16" name="Rounded Rectangle 15"/>
          <p:cNvSpPr/>
          <p:nvPr/>
        </p:nvSpPr>
        <p:spPr>
          <a:xfrm>
            <a:off x="658368" y="3383280"/>
            <a:ext cx="1417320" cy="1033271"/>
          </a:xfrm>
          <a:prstGeom prst="roundRect">
            <a:avLst>
              <a:gd name="adj" fmla="val 12000"/>
            </a:avLst>
          </a:prstGeom>
          <a:solidFill>
            <a:srgbClr val="F2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93008"/>
            <a:ext cx="1234440" cy="822960"/>
          </a:xfrm>
          <a:prstGeom prst="rect">
            <a:avLst/>
          </a:prstGeom>
          <a:noFill/>
        </p:spPr>
        <p:txBody>
          <a:bodyPr wrap="square" lIns="36576" rIns="36576" tIns="36576" bIns="36576" anchor="t">
            <a:spAutoFit/>
          </a:bodyPr>
          <a:lstStyle/>
          <a:p>
            <a:pPr algn="l">
              <a:spcAft>
                <a:spcPts val="400"/>
              </a:spcAft>
            </a:pPr>
            <a:r>
              <a:rPr sz="1050" b="1" i="0">
                <a:solidFill>
                  <a:srgbClr val="142037"/>
                </a:solidFill>
                <a:latin typeface="Aptos"/>
              </a:rPr>
              <a:t>B • Text</a:t>
            </a:r>
          </a:p>
        </p:txBody>
      </p:sp>
      <p:sp>
        <p:nvSpPr>
          <p:cNvPr id="18" name="Rounded Rectangle 17"/>
          <p:cNvSpPr/>
          <p:nvPr/>
        </p:nvSpPr>
        <p:spPr>
          <a:xfrm>
            <a:off x="2212848" y="3383280"/>
            <a:ext cx="2633472" cy="1033271"/>
          </a:xfrm>
          <a:prstGeom prst="roundRect">
            <a:avLst>
              <a:gd name="adj" fmla="val 12000"/>
            </a:avLst>
          </a:prstGeom>
          <a:solidFill>
            <a:srgbClr val="F2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04288" y="3493008"/>
            <a:ext cx="2450591"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Đầu-cuối từ câu văn bản; không cần pose đầu vào.</a:t>
            </a:r>
          </a:p>
        </p:txBody>
      </p:sp>
      <p:sp>
        <p:nvSpPr>
          <p:cNvPr id="20" name="Rounded Rectangle 19"/>
          <p:cNvSpPr/>
          <p:nvPr/>
        </p:nvSpPr>
        <p:spPr>
          <a:xfrm>
            <a:off x="5010912" y="3383280"/>
            <a:ext cx="2743200" cy="1033271"/>
          </a:xfrm>
          <a:prstGeom prst="roundRect">
            <a:avLst>
              <a:gd name="adj" fmla="val 12000"/>
            </a:avLst>
          </a:prstGeom>
          <a:solidFill>
            <a:srgbClr val="F2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02352" y="3493008"/>
            <a:ext cx="256032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Ngữ nghĩa/ngữ pháp ký hiệu khó; chi phí diffusion có thể cao.</a:t>
            </a:r>
          </a:p>
        </p:txBody>
      </p:sp>
      <p:sp>
        <p:nvSpPr>
          <p:cNvPr id="22" name="Rounded Rectangle 21"/>
          <p:cNvSpPr/>
          <p:nvPr/>
        </p:nvSpPr>
        <p:spPr>
          <a:xfrm>
            <a:off x="7909560" y="3383280"/>
            <a:ext cx="3611880" cy="1033271"/>
          </a:xfrm>
          <a:prstGeom prst="roundRect">
            <a:avLst>
              <a:gd name="adj" fmla="val 12000"/>
            </a:avLst>
          </a:prstGeom>
          <a:solidFill>
            <a:srgbClr val="F2F5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01000" y="3493008"/>
            <a:ext cx="342900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SignGen / FlashSign: có link được ghi nhận</a:t>
            </a:r>
          </a:p>
          <a:p>
            <a:pPr algn="l">
              <a:spcAft>
                <a:spcPts val="400"/>
              </a:spcAft>
            </a:pPr>
            <a:r>
              <a:rPr sz="1050" b="0" i="0">
                <a:solidFill>
                  <a:srgbClr val="253041"/>
                </a:solidFill>
                <a:latin typeface="Aptos"/>
              </a:rPr>
              <a:t>SignMoD / Text2Sign: chưa xác nhận</a:t>
            </a:r>
          </a:p>
        </p:txBody>
      </p:sp>
      <p:sp>
        <p:nvSpPr>
          <p:cNvPr id="24" name="Rounded Rectangle 23"/>
          <p:cNvSpPr/>
          <p:nvPr/>
        </p:nvSpPr>
        <p:spPr>
          <a:xfrm>
            <a:off x="658368" y="4553712"/>
            <a:ext cx="141732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4663440"/>
            <a:ext cx="1234440" cy="822960"/>
          </a:xfrm>
          <a:prstGeom prst="rect">
            <a:avLst/>
          </a:prstGeom>
          <a:noFill/>
        </p:spPr>
        <p:txBody>
          <a:bodyPr wrap="square" lIns="36576" rIns="36576" tIns="36576" bIns="36576" anchor="t">
            <a:spAutoFit/>
          </a:bodyPr>
          <a:lstStyle/>
          <a:p>
            <a:pPr algn="l">
              <a:spcAft>
                <a:spcPts val="400"/>
              </a:spcAft>
            </a:pPr>
            <a:r>
              <a:rPr sz="1050" b="1" i="0">
                <a:solidFill>
                  <a:srgbClr val="142037"/>
                </a:solidFill>
                <a:latin typeface="Aptos"/>
              </a:rPr>
              <a:t>C • Foundation</a:t>
            </a:r>
          </a:p>
        </p:txBody>
      </p:sp>
      <p:sp>
        <p:nvSpPr>
          <p:cNvPr id="26" name="Rounded Rectangle 25"/>
          <p:cNvSpPr/>
          <p:nvPr/>
        </p:nvSpPr>
        <p:spPr>
          <a:xfrm>
            <a:off x="2212848" y="4553712"/>
            <a:ext cx="2633472"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04288" y="4663440"/>
            <a:ext cx="2450591"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Tận dụng prior hình ảnh pretrained; tiềm năng chân thực.</a:t>
            </a:r>
          </a:p>
        </p:txBody>
      </p:sp>
      <p:sp>
        <p:nvSpPr>
          <p:cNvPr id="28" name="Rounded Rectangle 27"/>
          <p:cNvSpPr/>
          <p:nvPr/>
        </p:nvSpPr>
        <p:spPr>
          <a:xfrm>
            <a:off x="5010912" y="4553712"/>
            <a:ext cx="274320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02352" y="4663440"/>
            <a:ext cx="256032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Tốn tài nguyên; adapter vẫn cần xử lý vùng tay/mặt.</a:t>
            </a:r>
          </a:p>
        </p:txBody>
      </p:sp>
      <p:sp>
        <p:nvSpPr>
          <p:cNvPr id="30" name="Rounded Rectangle 29"/>
          <p:cNvSpPr/>
          <p:nvPr/>
        </p:nvSpPr>
        <p:spPr>
          <a:xfrm>
            <a:off x="7909560" y="4553712"/>
            <a:ext cx="3611880" cy="1033271"/>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0" y="4663440"/>
            <a:ext cx="3429000" cy="822960"/>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SignRefine: chưa tìm thấy repo trong kết quả đã khảo sát</a:t>
            </a:r>
          </a:p>
        </p:txBody>
      </p:sp>
      <p:sp>
        <p:nvSpPr>
          <p:cNvPr id="32" name="Rounded Rectangle 31"/>
          <p:cNvSpPr/>
          <p:nvPr/>
        </p:nvSpPr>
        <p:spPr>
          <a:xfrm>
            <a:off x="685800" y="5833872"/>
            <a:ext cx="10835640" cy="438912"/>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 y="5925312"/>
            <a:ext cx="1051560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Caveat: “chưa tìm thấy” ≠ “không tồn tại”; mở lại trang bài báo và GitHub trước khi báo cáo.</a:t>
            </a:r>
          </a:p>
        </p:txBody>
      </p:sp>
      <p:cxnSp>
        <p:nvCxnSpPr>
          <p:cNvPr id="34" name="Connector 33"/>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Literature snapshot — verify repository links before presentation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02 • RESEARCH PLAN</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Hai câu hỏi nghiên cứu — một baseline có thể kiểm chứng</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Tái triển khai GReg là bước đầu để phân biệt lỗi triển khai với giới hạn phương pháp.</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04 / 10</a:t>
            </a:r>
          </a:p>
        </p:txBody>
      </p:sp>
      <p:sp>
        <p:nvSpPr>
          <p:cNvPr id="6" name="Rounded Rectangle 5"/>
          <p:cNvSpPr/>
          <p:nvPr/>
        </p:nvSpPr>
        <p:spPr>
          <a:xfrm>
            <a:off x="658368" y="1737360"/>
            <a:ext cx="5303520" cy="196596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37360"/>
            <a:ext cx="64008" cy="1965960"/>
          </a:xfrm>
          <a:prstGeom prst="roundRect">
            <a:avLst>
              <a:gd name="adj" fmla="val 12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83664"/>
            <a:ext cx="4983480" cy="310896"/>
          </a:xfrm>
          <a:prstGeom prst="rect">
            <a:avLst/>
          </a:prstGeom>
          <a:noFill/>
        </p:spPr>
        <p:txBody>
          <a:bodyPr wrap="square" lIns="36576" rIns="36576" tIns="36576" bIns="36576" anchor="t">
            <a:spAutoFit/>
          </a:bodyPr>
          <a:lstStyle/>
          <a:p>
            <a:pPr algn="l">
              <a:spcAft>
                <a:spcPts val="400"/>
              </a:spcAft>
            </a:pPr>
            <a:r>
              <a:rPr sz="1600" b="1" i="0">
                <a:solidFill>
                  <a:srgbClr val="142037"/>
                </a:solidFill>
                <a:latin typeface="Aptos"/>
              </a:rPr>
              <a:t>RQ1  •  Biểu diễn động học 3D</a:t>
            </a:r>
          </a:p>
        </p:txBody>
      </p:sp>
      <p:sp>
        <p:nvSpPr>
          <p:cNvPr id="9" name="TextBox 8"/>
          <p:cNvSpPr txBox="1"/>
          <p:nvPr/>
        </p:nvSpPr>
        <p:spPr>
          <a:xfrm>
            <a:off x="841247" y="2240280"/>
            <a:ext cx="4983480" cy="1362455"/>
          </a:xfrm>
          <a:prstGeom prst="rect">
            <a:avLst/>
          </a:prstGeom>
          <a:noFill/>
        </p:spPr>
        <p:txBody>
          <a:bodyPr wrap="square" lIns="36576" rIns="36576" tIns="36576" bIns="36576" anchor="t">
            <a:spAutoFit/>
          </a:bodyPr>
          <a:lstStyle/>
          <a:p>
            <a:pPr algn="l">
              <a:spcAft>
                <a:spcPts val="400"/>
              </a:spcAft>
            </a:pPr>
            <a:r>
              <a:rPr sz="1300" b="0" i="0">
                <a:solidFill>
                  <a:srgbClr val="253041"/>
                </a:solidFill>
                <a:latin typeface="Aptos"/>
              </a:rPr>
              <a:t>Liệu biểu diễn động học bàn tay bằng mesh/đồ thị 3D theo không gian–thời gian có cải thiện độ chính xác ngón tay và tính nhất quán video không?</a:t>
            </a:r>
          </a:p>
        </p:txBody>
      </p:sp>
      <p:sp>
        <p:nvSpPr>
          <p:cNvPr id="10" name="Rounded Rectangle 9"/>
          <p:cNvSpPr/>
          <p:nvPr/>
        </p:nvSpPr>
        <p:spPr>
          <a:xfrm>
            <a:off x="6199632" y="1737360"/>
            <a:ext cx="5303520" cy="196596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9632" y="1737360"/>
            <a:ext cx="64008" cy="1965960"/>
          </a:xfrm>
          <a:prstGeom prst="roundRect">
            <a:avLst>
              <a:gd name="adj" fmla="val 12000"/>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1883664"/>
            <a:ext cx="4983480" cy="310896"/>
          </a:xfrm>
          <a:prstGeom prst="rect">
            <a:avLst/>
          </a:prstGeom>
          <a:noFill/>
        </p:spPr>
        <p:txBody>
          <a:bodyPr wrap="square" lIns="36576" rIns="36576" tIns="36576" bIns="36576" anchor="t">
            <a:spAutoFit/>
          </a:bodyPr>
          <a:lstStyle/>
          <a:p>
            <a:pPr algn="l">
              <a:spcAft>
                <a:spcPts val="400"/>
              </a:spcAft>
            </a:pPr>
            <a:r>
              <a:rPr sz="1600" b="1" i="0">
                <a:solidFill>
                  <a:srgbClr val="142037"/>
                </a:solidFill>
                <a:latin typeface="Aptos"/>
              </a:rPr>
              <a:t>RQ2  •  Chuyên gia vùng</a:t>
            </a:r>
          </a:p>
        </p:txBody>
      </p:sp>
      <p:sp>
        <p:nvSpPr>
          <p:cNvPr id="13" name="TextBox 12"/>
          <p:cNvSpPr txBox="1"/>
          <p:nvPr/>
        </p:nvSpPr>
        <p:spPr>
          <a:xfrm>
            <a:off x="6382512" y="2240280"/>
            <a:ext cx="4983480" cy="1362455"/>
          </a:xfrm>
          <a:prstGeom prst="rect">
            <a:avLst/>
          </a:prstGeom>
          <a:noFill/>
        </p:spPr>
        <p:txBody>
          <a:bodyPr wrap="square" lIns="36576" rIns="36576" tIns="36576" bIns="36576" anchor="t">
            <a:spAutoFit/>
          </a:bodyPr>
          <a:lstStyle/>
          <a:p>
            <a:pPr algn="l">
              <a:spcAft>
                <a:spcPts val="400"/>
              </a:spcAft>
            </a:pPr>
            <a:r>
              <a:rPr sz="1300" b="0" i="0">
                <a:solidFill>
                  <a:srgbClr val="253041"/>
                </a:solidFill>
                <a:latin typeface="Aptos"/>
              </a:rPr>
              <a:t>Liệu có thể thay U-Net trong các mô-đun chuyên gia vùng bằng một kiến trúc mới hơn mà vẫn cải thiện chi tiết bàn tay/mặt?</a:t>
            </a:r>
          </a:p>
        </p:txBody>
      </p:sp>
      <p:sp>
        <p:nvSpPr>
          <p:cNvPr id="14" name="Rounded Rectangle 13"/>
          <p:cNvSpPr/>
          <p:nvPr/>
        </p:nvSpPr>
        <p:spPr>
          <a:xfrm>
            <a:off x="1005840" y="4187952"/>
            <a:ext cx="2240280" cy="758952"/>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4361688"/>
            <a:ext cx="1920240" cy="320040"/>
          </a:xfrm>
          <a:prstGeom prst="rect">
            <a:avLst/>
          </a:prstGeom>
          <a:noFill/>
        </p:spPr>
        <p:txBody>
          <a:bodyPr wrap="square" lIns="36576" rIns="36576" tIns="36576" bIns="36576" anchor="t">
            <a:spAutoFit/>
          </a:bodyPr>
          <a:lstStyle/>
          <a:p>
            <a:pPr algn="ctr">
              <a:spcAft>
                <a:spcPts val="400"/>
              </a:spcAft>
            </a:pPr>
            <a:r>
              <a:rPr sz="1300" b="1" i="0">
                <a:solidFill>
                  <a:srgbClr val="142037"/>
                </a:solidFill>
                <a:latin typeface="Aptos"/>
              </a:rPr>
              <a:t>1. Reproduce GReg</a:t>
            </a:r>
          </a:p>
        </p:txBody>
      </p:sp>
      <p:cxnSp>
        <p:nvCxnSpPr>
          <p:cNvPr id="16" name="Connector 15"/>
          <p:cNvCxnSpPr/>
          <p:nvPr/>
        </p:nvCxnSpPr>
        <p:spPr>
          <a:xfrm>
            <a:off x="3383280" y="4553712"/>
            <a:ext cx="621792" cy="0"/>
          </a:xfrm>
          <a:prstGeom prst="line">
            <a:avLst/>
          </a:prstGeom>
          <a:ln w="22860">
            <a:solidFill>
              <a:srgbClr val="24AEA0"/>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3913632" y="4471416"/>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114800" y="4187952"/>
            <a:ext cx="2240280" cy="758952"/>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79392" y="4361688"/>
            <a:ext cx="1920240" cy="320040"/>
          </a:xfrm>
          <a:prstGeom prst="rect">
            <a:avLst/>
          </a:prstGeom>
          <a:noFill/>
        </p:spPr>
        <p:txBody>
          <a:bodyPr wrap="square" lIns="36576" rIns="36576" tIns="36576" bIns="36576" anchor="t">
            <a:spAutoFit/>
          </a:bodyPr>
          <a:lstStyle/>
          <a:p>
            <a:pPr algn="ctr">
              <a:spcAft>
                <a:spcPts val="400"/>
              </a:spcAft>
            </a:pPr>
            <a:r>
              <a:rPr sz="1300" b="1" i="0">
                <a:solidFill>
                  <a:srgbClr val="142037"/>
                </a:solidFill>
                <a:latin typeface="Aptos"/>
              </a:rPr>
              <a:t>2. Validate metrics</a:t>
            </a:r>
          </a:p>
        </p:txBody>
      </p:sp>
      <p:cxnSp>
        <p:nvCxnSpPr>
          <p:cNvPr id="20" name="Connector 19"/>
          <p:cNvCxnSpPr/>
          <p:nvPr/>
        </p:nvCxnSpPr>
        <p:spPr>
          <a:xfrm>
            <a:off x="6492240" y="4553712"/>
            <a:ext cx="621792" cy="0"/>
          </a:xfrm>
          <a:prstGeom prst="line">
            <a:avLst/>
          </a:prstGeom>
          <a:ln w="22860">
            <a:solidFill>
              <a:srgbClr val="24AEA0"/>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a:off x="7022592" y="4471416"/>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23760" y="4187952"/>
            <a:ext cx="2240280" cy="758952"/>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88352" y="4361688"/>
            <a:ext cx="1920240" cy="320040"/>
          </a:xfrm>
          <a:prstGeom prst="rect">
            <a:avLst/>
          </a:prstGeom>
          <a:noFill/>
        </p:spPr>
        <p:txBody>
          <a:bodyPr wrap="square" lIns="36576" rIns="36576" tIns="36576" bIns="36576" anchor="t">
            <a:spAutoFit/>
          </a:bodyPr>
          <a:lstStyle/>
          <a:p>
            <a:pPr algn="ctr">
              <a:spcAft>
                <a:spcPts val="400"/>
              </a:spcAft>
            </a:pPr>
            <a:r>
              <a:rPr sz="1200" b="1" i="0">
                <a:solidFill>
                  <a:srgbClr val="142037"/>
                </a:solidFill>
                <a:latin typeface="Aptos"/>
              </a:rPr>
              <a:t>3. Controlled ablations</a:t>
            </a:r>
          </a:p>
        </p:txBody>
      </p:sp>
      <p:sp>
        <p:nvSpPr>
          <p:cNvPr id="24" name="Rounded Rectangle 23"/>
          <p:cNvSpPr/>
          <p:nvPr/>
        </p:nvSpPr>
        <p:spPr>
          <a:xfrm>
            <a:off x="9674352" y="4187952"/>
            <a:ext cx="1645920" cy="758952"/>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02368" y="4352544"/>
            <a:ext cx="1389888" cy="329184"/>
          </a:xfrm>
          <a:prstGeom prst="rect">
            <a:avLst/>
          </a:prstGeom>
          <a:noFill/>
        </p:spPr>
        <p:txBody>
          <a:bodyPr wrap="square" lIns="36576" rIns="36576" tIns="36576" bIns="36576" anchor="t">
            <a:spAutoFit/>
          </a:bodyPr>
          <a:lstStyle/>
          <a:p>
            <a:pPr algn="ctr">
              <a:spcAft>
                <a:spcPts val="400"/>
              </a:spcAft>
            </a:pPr>
            <a:r>
              <a:rPr sz="1200" b="1" i="0">
                <a:solidFill>
                  <a:srgbClr val="FFFFFF"/>
                </a:solidFill>
                <a:latin typeface="Aptos"/>
              </a:rPr>
              <a:t>RQ1 / RQ2</a:t>
            </a:r>
          </a:p>
        </p:txBody>
      </p:sp>
      <p:sp>
        <p:nvSpPr>
          <p:cNvPr id="26" name="TextBox 25"/>
          <p:cNvSpPr txBox="1"/>
          <p:nvPr/>
        </p:nvSpPr>
        <p:spPr>
          <a:xfrm>
            <a:off x="804672" y="5330952"/>
            <a:ext cx="10515600" cy="493776"/>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Guardrail: trước khi tuyên bố cải thiện, cần tái lập baseline và đánh giá cùng dữ liệu, độ phân giải, seed và protocol.</a:t>
            </a:r>
          </a:p>
        </p:txBody>
      </p:sp>
      <p:cxnSp>
        <p:nvCxnSpPr>
          <p:cNvPr id="27" name="Connector 26"/>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03 • GREG METHOD</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Vì sao GReg dùng hình học 3D?</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Keypoints chỉ mô tả vị trí; normal map bổ sung thông tin hướng bề mặt.</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05 / 10</a:t>
            </a:r>
          </a:p>
        </p:txBody>
      </p:sp>
      <p:sp>
        <p:nvSpPr>
          <p:cNvPr id="6" name="Rounded Rectangle 5"/>
          <p:cNvSpPr/>
          <p:nvPr/>
        </p:nvSpPr>
        <p:spPr>
          <a:xfrm>
            <a:off x="658368" y="1737360"/>
            <a:ext cx="3200400" cy="361188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965960"/>
            <a:ext cx="2743200" cy="27432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2D keypoints / skeleton</a:t>
            </a:r>
          </a:p>
        </p:txBody>
      </p:sp>
      <p:cxnSp>
        <p:nvCxnSpPr>
          <p:cNvPr id="8" name="Connector 7"/>
          <p:cNvCxnSpPr/>
          <p:nvPr/>
        </p:nvCxnSpPr>
        <p:spPr>
          <a:xfrm flipH="1" flipV="1">
            <a:off x="1298448" y="3822191"/>
            <a:ext cx="210312" cy="493777"/>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1143000" y="3310128"/>
            <a:ext cx="155448" cy="512063"/>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1024128" y="2852928"/>
            <a:ext cx="118872" cy="457200"/>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508760" y="3767328"/>
            <a:ext cx="164592" cy="548640"/>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673352" y="3182112"/>
            <a:ext cx="27432" cy="58521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700784" y="2688336"/>
            <a:ext cx="18288" cy="49377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508760" y="3767328"/>
            <a:ext cx="429768" cy="548640"/>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38528" y="3090672"/>
            <a:ext cx="54864" cy="67665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993392" y="2578608"/>
            <a:ext cx="36576" cy="512064"/>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508760" y="3840480"/>
            <a:ext cx="685800" cy="475488"/>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194560" y="3310128"/>
            <a:ext cx="73152" cy="530352"/>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267712" y="2880360"/>
            <a:ext cx="73152" cy="429768"/>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508760" y="3986784"/>
            <a:ext cx="932688" cy="329184"/>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441448" y="3584448"/>
            <a:ext cx="100584" cy="40233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542032" y="3273552"/>
            <a:ext cx="64008" cy="310896"/>
          </a:xfrm>
          <a:prstGeom prst="line">
            <a:avLst/>
          </a:prstGeom>
          <a:ln w="25400">
            <a:solidFill>
              <a:srgbClr val="5BC4D2"/>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458468" y="426567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248156" y="3771900"/>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92708" y="32598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3836" y="28026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623060" y="37170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650492" y="3131820"/>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668780" y="2638044"/>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88236" y="37170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43100" y="3040379"/>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79676" y="2528315"/>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144268" y="3790188"/>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217420" y="325983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290572" y="2830068"/>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91156" y="3936492"/>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91739" y="3534156"/>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555748" y="3223260"/>
            <a:ext cx="100584" cy="100584"/>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112" y="4818888"/>
            <a:ext cx="2697480" cy="329184"/>
          </a:xfrm>
          <a:prstGeom prst="rect">
            <a:avLst/>
          </a:prstGeom>
          <a:noFill/>
        </p:spPr>
        <p:txBody>
          <a:bodyPr wrap="square" lIns="36576" rIns="36576" tIns="36576" bIns="36576" anchor="t">
            <a:spAutoFit/>
          </a:bodyPr>
          <a:lstStyle/>
          <a:p>
            <a:pPr algn="ctr">
              <a:spcAft>
                <a:spcPts val="400"/>
              </a:spcAft>
            </a:pPr>
            <a:r>
              <a:rPr sz="1000" b="1" i="0">
                <a:solidFill>
                  <a:srgbClr val="DB5F60"/>
                </a:solidFill>
                <a:latin typeface="Aptos"/>
              </a:rPr>
              <a:t>Vị trí khớp, thiếu bề mặt</a:t>
            </a:r>
          </a:p>
        </p:txBody>
      </p:sp>
      <p:cxnSp>
        <p:nvCxnSpPr>
          <p:cNvPr id="40" name="Connector 39"/>
          <p:cNvCxnSpPr/>
          <p:nvPr/>
        </p:nvCxnSpPr>
        <p:spPr>
          <a:xfrm>
            <a:off x="3977639" y="3429000"/>
            <a:ext cx="548641" cy="0"/>
          </a:xfrm>
          <a:prstGeom prst="line">
            <a:avLst/>
          </a:prstGeom>
          <a:ln w="25400">
            <a:solidFill>
              <a:srgbClr val="24AEA0"/>
            </a:solidFill>
          </a:ln>
        </p:spPr>
        <p:style>
          <a:lnRef idx="2">
            <a:schemeClr val="accent1"/>
          </a:lnRef>
          <a:fillRef idx="0">
            <a:schemeClr val="accent1"/>
          </a:fillRef>
          <a:effectRef idx="1">
            <a:schemeClr val="accent1"/>
          </a:effectRef>
          <a:fontRef idx="minor">
            <a:schemeClr val="tx1"/>
          </a:fontRef>
        </p:style>
      </p:cxnSp>
      <p:sp>
        <p:nvSpPr>
          <p:cNvPr id="41" name="Chevron 40"/>
          <p:cNvSpPr/>
          <p:nvPr/>
        </p:nvSpPr>
        <p:spPr>
          <a:xfrm>
            <a:off x="4434840" y="334670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645152" y="1737360"/>
            <a:ext cx="3182112" cy="361188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82896" y="1965960"/>
            <a:ext cx="2697480" cy="27432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SMPL-X / surface</a:t>
            </a:r>
          </a:p>
        </p:txBody>
      </p:sp>
      <p:cxnSp>
        <p:nvCxnSpPr>
          <p:cNvPr id="44" name="Connector 43"/>
          <p:cNvCxnSpPr/>
          <p:nvPr/>
        </p:nvCxnSpPr>
        <p:spPr>
          <a:xfrm flipH="1" flipV="1">
            <a:off x="5596128" y="3977639"/>
            <a:ext cx="393192" cy="365761"/>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5486400" y="3520440"/>
            <a:ext cx="109728" cy="457199"/>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86400" y="2907792"/>
            <a:ext cx="18288" cy="612648"/>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504688" y="2834640"/>
            <a:ext cx="237744" cy="73152"/>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742432" y="2834640"/>
            <a:ext cx="128016" cy="621792"/>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870448" y="3456432"/>
            <a:ext cx="118872" cy="886968"/>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870448" y="2542032"/>
            <a:ext cx="118872" cy="914400"/>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5989320" y="2514600"/>
            <a:ext cx="228600" cy="27432"/>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217920" y="2514600"/>
            <a:ext cx="18288" cy="941832"/>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5870448" y="3456432"/>
            <a:ext cx="365760" cy="0"/>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236208" y="2670048"/>
            <a:ext cx="210312" cy="786384"/>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446520" y="2670048"/>
            <a:ext cx="228600" cy="54864"/>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6556248" y="2724912"/>
            <a:ext cx="118872" cy="859536"/>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6236208" y="3456432"/>
            <a:ext cx="320040" cy="128016"/>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556248" y="3063240"/>
            <a:ext cx="237744" cy="521208"/>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793992" y="3063240"/>
            <a:ext cx="201168" cy="91440"/>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6784848" y="3154680"/>
            <a:ext cx="210312" cy="640080"/>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6675120" y="3794760"/>
            <a:ext cx="109728" cy="365760"/>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989320" y="4160520"/>
            <a:ext cx="685800" cy="182880"/>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870448" y="3456432"/>
            <a:ext cx="365760" cy="0"/>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236208" y="3456432"/>
            <a:ext cx="320040" cy="128016"/>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556248" y="3584448"/>
            <a:ext cx="118872" cy="576072"/>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596128" y="3456432"/>
            <a:ext cx="274320" cy="521207"/>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989320" y="3456432"/>
            <a:ext cx="246888" cy="886968"/>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989320" y="3584448"/>
            <a:ext cx="566928" cy="758952"/>
          </a:xfrm>
          <a:prstGeom prst="line">
            <a:avLst/>
          </a:prstGeom>
          <a:ln w="12700">
            <a:solidFill>
              <a:srgbClr val="24AEA0"/>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5957316" y="4311396"/>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5564124" y="3945635"/>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5454396" y="3488436"/>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472683" y="2875788"/>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710428" y="2802636"/>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838444" y="3424427"/>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57316" y="2510027"/>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185916" y="2482596"/>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204204" y="3424427"/>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414516" y="2638044"/>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643116" y="2692908"/>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524244" y="3552444"/>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761988" y="3031236"/>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963156" y="3122676"/>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752844" y="3762756"/>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643116" y="4128515"/>
            <a:ext cx="64008" cy="6400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828032" y="4818888"/>
            <a:ext cx="2816352" cy="329184"/>
          </a:xfrm>
          <a:prstGeom prst="rect">
            <a:avLst/>
          </a:prstGeom>
          <a:noFill/>
        </p:spPr>
        <p:txBody>
          <a:bodyPr wrap="square" lIns="36576" rIns="36576" tIns="36576" bIns="36576" anchor="t">
            <a:spAutoFit/>
          </a:bodyPr>
          <a:lstStyle/>
          <a:p>
            <a:pPr algn="ctr">
              <a:spcAft>
                <a:spcPts val="400"/>
              </a:spcAft>
            </a:pPr>
            <a:r>
              <a:rPr sz="1000" b="1" i="0">
                <a:solidFill>
                  <a:srgbClr val="24AEA0"/>
                </a:solidFill>
                <a:latin typeface="Aptos"/>
              </a:rPr>
              <a:t>Hình khối và quan hệ bề mặt</a:t>
            </a:r>
          </a:p>
        </p:txBody>
      </p:sp>
      <p:sp>
        <p:nvSpPr>
          <p:cNvPr id="86" name="Rounded Rectangle 85"/>
          <p:cNvSpPr/>
          <p:nvPr/>
        </p:nvSpPr>
        <p:spPr>
          <a:xfrm>
            <a:off x="8101583" y="1737360"/>
            <a:ext cx="3401568" cy="3611880"/>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339327" y="1993392"/>
            <a:ext cx="2880360" cy="310896"/>
          </a:xfrm>
          <a:prstGeom prst="rect">
            <a:avLst/>
          </a:prstGeom>
          <a:noFill/>
        </p:spPr>
        <p:txBody>
          <a:bodyPr wrap="square" lIns="36576" rIns="36576" tIns="36576" bIns="36576" anchor="t">
            <a:spAutoFit/>
          </a:bodyPr>
          <a:lstStyle/>
          <a:p>
            <a:pPr algn="l">
              <a:spcAft>
                <a:spcPts val="400"/>
              </a:spcAft>
            </a:pPr>
            <a:r>
              <a:rPr sz="1500" b="1" i="0">
                <a:solidFill>
                  <a:srgbClr val="FFFFFF"/>
                </a:solidFill>
                <a:latin typeface="Aptos"/>
              </a:rPr>
              <a:t>Hai biểu diễn 2D</a:t>
            </a:r>
          </a:p>
        </p:txBody>
      </p:sp>
      <p:sp>
        <p:nvSpPr>
          <p:cNvPr id="88" name="TextBox 87"/>
          <p:cNvSpPr txBox="1"/>
          <p:nvPr/>
        </p:nvSpPr>
        <p:spPr>
          <a:xfrm>
            <a:off x="8339327" y="2514600"/>
            <a:ext cx="2834640" cy="475488"/>
          </a:xfrm>
          <a:prstGeom prst="rect">
            <a:avLst/>
          </a:prstGeom>
          <a:noFill/>
        </p:spPr>
        <p:txBody>
          <a:bodyPr wrap="square" lIns="36576" rIns="36576" tIns="36576" bIns="36576" anchor="t">
            <a:spAutoFit/>
          </a:bodyPr>
          <a:lstStyle/>
          <a:p>
            <a:pPr algn="l">
              <a:spcAft>
                <a:spcPts val="400"/>
              </a:spcAft>
            </a:pPr>
            <a:r>
              <a:rPr sz="1000" b="1" i="0">
                <a:solidFill>
                  <a:srgbClr val="5BC4D2"/>
                </a:solidFill>
                <a:latin typeface="Aptos"/>
              </a:rPr>
              <a:t>NORMAL MAP</a:t>
            </a:r>
          </a:p>
        </p:txBody>
      </p:sp>
      <p:sp>
        <p:nvSpPr>
          <p:cNvPr id="89" name="TextBox 88"/>
          <p:cNvSpPr txBox="1"/>
          <p:nvPr/>
        </p:nvSpPr>
        <p:spPr>
          <a:xfrm>
            <a:off x="8339327" y="2761488"/>
            <a:ext cx="2816352" cy="603504"/>
          </a:xfrm>
          <a:prstGeom prst="rect">
            <a:avLst/>
          </a:prstGeom>
          <a:noFill/>
        </p:spPr>
        <p:txBody>
          <a:bodyPr wrap="square" lIns="36576" rIns="36576" tIns="36576" bIns="36576" anchor="t">
            <a:spAutoFit/>
          </a:bodyPr>
          <a:lstStyle/>
          <a:p>
            <a:pPr algn="l">
              <a:spcAft>
                <a:spcPts val="400"/>
              </a:spcAft>
            </a:pPr>
            <a:r>
              <a:rPr sz="1200" b="0" i="0">
                <a:solidFill>
                  <a:srgbClr val="FFFFFF"/>
                </a:solidFill>
                <a:latin typeface="Aptos"/>
              </a:rPr>
              <a:t>Mã hóa hướng bề mặt bằng màu.</a:t>
            </a:r>
          </a:p>
        </p:txBody>
      </p:sp>
      <p:cxnSp>
        <p:nvCxnSpPr>
          <p:cNvPr id="90" name="Connector 89"/>
          <p:cNvCxnSpPr/>
          <p:nvPr/>
        </p:nvCxnSpPr>
        <p:spPr>
          <a:xfrm>
            <a:off x="8339327" y="3502152"/>
            <a:ext cx="2852929" cy="0"/>
          </a:xfrm>
          <a:prstGeom prst="line">
            <a:avLst/>
          </a:prstGeom>
          <a:ln w="12700">
            <a:solidFill>
              <a:srgbClr val="43546E"/>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8339327" y="3703320"/>
            <a:ext cx="2834640" cy="475488"/>
          </a:xfrm>
          <a:prstGeom prst="rect">
            <a:avLst/>
          </a:prstGeom>
          <a:noFill/>
        </p:spPr>
        <p:txBody>
          <a:bodyPr wrap="square" lIns="36576" rIns="36576" tIns="36576" bIns="36576" anchor="t">
            <a:spAutoFit/>
          </a:bodyPr>
          <a:lstStyle/>
          <a:p>
            <a:pPr algn="l">
              <a:spcAft>
                <a:spcPts val="400"/>
              </a:spcAft>
            </a:pPr>
            <a:r>
              <a:rPr sz="1000" b="1" i="0">
                <a:solidFill>
                  <a:srgbClr val="F2B74A"/>
                </a:solidFill>
                <a:latin typeface="Aptos"/>
              </a:rPr>
              <a:t>GRADIENT / EDGE MAP</a:t>
            </a:r>
          </a:p>
        </p:txBody>
      </p:sp>
      <p:sp>
        <p:nvSpPr>
          <p:cNvPr id="92" name="TextBox 91"/>
          <p:cNvSpPr txBox="1"/>
          <p:nvPr/>
        </p:nvSpPr>
        <p:spPr>
          <a:xfrm>
            <a:off x="8339327" y="3959352"/>
            <a:ext cx="2816352" cy="758952"/>
          </a:xfrm>
          <a:prstGeom prst="rect">
            <a:avLst/>
          </a:prstGeom>
          <a:noFill/>
        </p:spPr>
        <p:txBody>
          <a:bodyPr wrap="square" lIns="36576" rIns="36576" tIns="36576" bIns="36576" anchor="t">
            <a:spAutoFit/>
          </a:bodyPr>
          <a:lstStyle/>
          <a:p>
            <a:pPr algn="l">
              <a:spcAft>
                <a:spcPts val="400"/>
              </a:spcAft>
            </a:pPr>
            <a:r>
              <a:rPr sz="1100" b="0" i="0">
                <a:solidFill>
                  <a:srgbClr val="FFFFFF"/>
                </a:solidFill>
                <a:latin typeface="Aptos"/>
              </a:rPr>
              <a:t>Độ lớn gradient của ảnh xám làm nổi biên: G = √(Iₓ² + Iᵧ² + ε).</a:t>
            </a:r>
          </a:p>
        </p:txBody>
      </p:sp>
      <p:sp>
        <p:nvSpPr>
          <p:cNvPr id="93" name="TextBox 92"/>
          <p:cNvSpPr txBox="1"/>
          <p:nvPr/>
        </p:nvSpPr>
        <p:spPr>
          <a:xfrm>
            <a:off x="768096" y="5623560"/>
            <a:ext cx="10607040" cy="420624"/>
          </a:xfrm>
          <a:prstGeom prst="rect">
            <a:avLst/>
          </a:prstGeom>
          <a:noFill/>
        </p:spPr>
        <p:txBody>
          <a:bodyPr wrap="square" lIns="36576" rIns="36576" tIns="36576" bIns="36576" anchor="t">
            <a:spAutoFit/>
          </a:bodyPr>
          <a:lstStyle/>
          <a:p>
            <a:pPr algn="l">
              <a:spcAft>
                <a:spcPts val="400"/>
              </a:spcAft>
            </a:pPr>
            <a:r>
              <a:rPr sz="1100" b="1" i="0">
                <a:solidFill>
                  <a:srgbClr val="142037"/>
                </a:solidFill>
                <a:latin typeface="Aptos"/>
              </a:rPr>
              <a:t>Thông điệp: 3D không đi thẳng vào generator — GReg chiếu thông tin hình học thành biểu diễn ảnh 2D.</a:t>
            </a:r>
          </a:p>
        </p:txBody>
      </p:sp>
      <p:cxnSp>
        <p:nvCxnSpPr>
          <p:cNvPr id="94" name="Connector 93"/>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03 • GREG METHOD</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Luồng GReg: từ ảnh nguồn đến khung hình đã tổng hợp</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Các nhánh flow, regional expert và edge encoding chạy song song trước bước sinh ảnh.</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06 / 10</a:t>
            </a:r>
          </a:p>
        </p:txBody>
      </p:sp>
      <p:sp>
        <p:nvSpPr>
          <p:cNvPr id="6" name="Rounded Rectangle 5"/>
          <p:cNvSpPr/>
          <p:nvPr/>
        </p:nvSpPr>
        <p:spPr>
          <a:xfrm>
            <a:off x="658368" y="1828800"/>
            <a:ext cx="1965960" cy="932688"/>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965960"/>
            <a:ext cx="1746504"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1  INPUT</a:t>
            </a:r>
          </a:p>
        </p:txBody>
      </p:sp>
      <p:sp>
        <p:nvSpPr>
          <p:cNvPr id="8" name="TextBox 7"/>
          <p:cNvSpPr txBox="1"/>
          <p:nvPr/>
        </p:nvSpPr>
        <p:spPr>
          <a:xfrm>
            <a:off x="768096" y="2276856"/>
            <a:ext cx="1746504" cy="256032"/>
          </a:xfrm>
          <a:prstGeom prst="rect">
            <a:avLst/>
          </a:prstGeom>
          <a:noFill/>
        </p:spPr>
        <p:txBody>
          <a:bodyPr wrap="square" lIns="36576" rIns="36576" tIns="36576" bIns="36576" anchor="t">
            <a:spAutoFit/>
          </a:bodyPr>
          <a:lstStyle/>
          <a:p>
            <a:pPr algn="ctr">
              <a:spcAft>
                <a:spcPts val="400"/>
              </a:spcAft>
            </a:pPr>
            <a:r>
              <a:rPr sz="1100" b="0" i="0">
                <a:solidFill>
                  <a:srgbClr val="253041"/>
                </a:solidFill>
                <a:latin typeface="Aptos"/>
              </a:rPr>
              <a:t>Ảnh nguồn + pose</a:t>
            </a:r>
          </a:p>
        </p:txBody>
      </p:sp>
      <p:sp>
        <p:nvSpPr>
          <p:cNvPr id="9" name="Rounded Rectangle 8"/>
          <p:cNvSpPr/>
          <p:nvPr/>
        </p:nvSpPr>
        <p:spPr>
          <a:xfrm>
            <a:off x="2971800" y="1828800"/>
            <a:ext cx="1965960" cy="932688"/>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81528" y="1965960"/>
            <a:ext cx="1746504"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2  MOTION</a:t>
            </a:r>
          </a:p>
        </p:txBody>
      </p:sp>
      <p:sp>
        <p:nvSpPr>
          <p:cNvPr id="11" name="TextBox 10"/>
          <p:cNvSpPr txBox="1"/>
          <p:nvPr/>
        </p:nvSpPr>
        <p:spPr>
          <a:xfrm>
            <a:off x="3081528" y="2276856"/>
            <a:ext cx="1746504" cy="256032"/>
          </a:xfrm>
          <a:prstGeom prst="rect">
            <a:avLst/>
          </a:prstGeom>
          <a:noFill/>
        </p:spPr>
        <p:txBody>
          <a:bodyPr wrap="square" lIns="36576" rIns="36576" tIns="36576" bIns="36576" anchor="t">
            <a:spAutoFit/>
          </a:bodyPr>
          <a:lstStyle/>
          <a:p>
            <a:pPr algn="ctr">
              <a:spcAft>
                <a:spcPts val="400"/>
              </a:spcAft>
            </a:pPr>
            <a:r>
              <a:rPr sz="1100" b="0" i="0">
                <a:solidFill>
                  <a:srgbClr val="253041"/>
                </a:solidFill>
                <a:latin typeface="Aptos"/>
              </a:rPr>
              <a:t>TPSMM → F, O</a:t>
            </a:r>
          </a:p>
        </p:txBody>
      </p:sp>
      <p:sp>
        <p:nvSpPr>
          <p:cNvPr id="12" name="Rounded Rectangle 11"/>
          <p:cNvSpPr/>
          <p:nvPr/>
        </p:nvSpPr>
        <p:spPr>
          <a:xfrm>
            <a:off x="5285232" y="1828800"/>
            <a:ext cx="1965960" cy="932688"/>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1965960"/>
            <a:ext cx="1746504"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3  WARP</a:t>
            </a:r>
          </a:p>
        </p:txBody>
      </p:sp>
      <p:sp>
        <p:nvSpPr>
          <p:cNvPr id="14" name="TextBox 13"/>
          <p:cNvSpPr txBox="1"/>
          <p:nvPr/>
        </p:nvSpPr>
        <p:spPr>
          <a:xfrm>
            <a:off x="5394960" y="2276856"/>
            <a:ext cx="1746504" cy="256032"/>
          </a:xfrm>
          <a:prstGeom prst="rect">
            <a:avLst/>
          </a:prstGeom>
          <a:noFill/>
        </p:spPr>
        <p:txBody>
          <a:bodyPr wrap="square" lIns="36576" rIns="36576" tIns="36576" bIns="36576" anchor="t">
            <a:spAutoFit/>
          </a:bodyPr>
          <a:lstStyle/>
          <a:p>
            <a:pPr algn="ctr">
              <a:spcAft>
                <a:spcPts val="400"/>
              </a:spcAft>
            </a:pPr>
            <a:r>
              <a:rPr sz="1100" b="0" i="0">
                <a:solidFill>
                  <a:srgbClr val="253041"/>
                </a:solidFill>
                <a:latin typeface="Aptos"/>
              </a:rPr>
              <a:t>Kéo ảnh nguồn</a:t>
            </a:r>
          </a:p>
        </p:txBody>
      </p:sp>
      <p:sp>
        <p:nvSpPr>
          <p:cNvPr id="15" name="Rounded Rectangle 14"/>
          <p:cNvSpPr/>
          <p:nvPr/>
        </p:nvSpPr>
        <p:spPr>
          <a:xfrm>
            <a:off x="7598664" y="1828800"/>
            <a:ext cx="1965960" cy="932688"/>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1965960"/>
            <a:ext cx="1746504"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4  REGION</a:t>
            </a:r>
          </a:p>
        </p:txBody>
      </p:sp>
      <p:sp>
        <p:nvSpPr>
          <p:cNvPr id="17" name="TextBox 16"/>
          <p:cNvSpPr txBox="1"/>
          <p:nvPr/>
        </p:nvSpPr>
        <p:spPr>
          <a:xfrm>
            <a:off x="7708392" y="2276856"/>
            <a:ext cx="1746504" cy="256032"/>
          </a:xfrm>
          <a:prstGeom prst="rect">
            <a:avLst/>
          </a:prstGeom>
          <a:noFill/>
        </p:spPr>
        <p:txBody>
          <a:bodyPr wrap="square" lIns="36576" rIns="36576" tIns="36576" bIns="36576" anchor="t">
            <a:spAutoFit/>
          </a:bodyPr>
          <a:lstStyle/>
          <a:p>
            <a:pPr algn="ctr">
              <a:spcAft>
                <a:spcPts val="400"/>
              </a:spcAft>
            </a:pPr>
            <a:r>
              <a:rPr sz="1100" b="0" i="0">
                <a:solidFill>
                  <a:srgbClr val="253041"/>
                </a:solidFill>
                <a:latin typeface="Aptos"/>
              </a:rPr>
              <a:t>Expert → R</a:t>
            </a:r>
          </a:p>
        </p:txBody>
      </p:sp>
      <p:sp>
        <p:nvSpPr>
          <p:cNvPr id="18" name="Rounded Rectangle 17"/>
          <p:cNvSpPr/>
          <p:nvPr/>
        </p:nvSpPr>
        <p:spPr>
          <a:xfrm>
            <a:off x="9729216" y="1828800"/>
            <a:ext cx="1810512" cy="932688"/>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38944" y="1965960"/>
            <a:ext cx="1591056"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5  EDGES</a:t>
            </a:r>
          </a:p>
        </p:txBody>
      </p:sp>
      <p:sp>
        <p:nvSpPr>
          <p:cNvPr id="20" name="TextBox 19"/>
          <p:cNvSpPr txBox="1"/>
          <p:nvPr/>
        </p:nvSpPr>
        <p:spPr>
          <a:xfrm>
            <a:off x="9838944" y="2276856"/>
            <a:ext cx="1591056" cy="256032"/>
          </a:xfrm>
          <a:prstGeom prst="rect">
            <a:avLst/>
          </a:prstGeom>
          <a:noFill/>
        </p:spPr>
        <p:txBody>
          <a:bodyPr wrap="square" lIns="36576" rIns="36576" tIns="36576" bIns="36576" anchor="t">
            <a:spAutoFit/>
          </a:bodyPr>
          <a:lstStyle/>
          <a:p>
            <a:pPr algn="ctr">
              <a:spcAft>
                <a:spcPts val="400"/>
              </a:spcAft>
            </a:pPr>
            <a:r>
              <a:rPr sz="1100" b="0" i="0">
                <a:solidFill>
                  <a:srgbClr val="253041"/>
                </a:solidFill>
                <a:latin typeface="Aptos"/>
              </a:rPr>
              <a:t>Normal → Xg</a:t>
            </a:r>
          </a:p>
        </p:txBody>
      </p:sp>
      <p:cxnSp>
        <p:nvCxnSpPr>
          <p:cNvPr id="21" name="Connector 20"/>
          <p:cNvCxnSpPr/>
          <p:nvPr/>
        </p:nvCxnSpPr>
        <p:spPr>
          <a:xfrm>
            <a:off x="2651760" y="2295144"/>
            <a:ext cx="256032"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2816352" y="2212848"/>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965192" y="2295144"/>
            <a:ext cx="256032"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4" name="Chevron 23"/>
          <p:cNvSpPr/>
          <p:nvPr/>
        </p:nvSpPr>
        <p:spPr>
          <a:xfrm>
            <a:off x="5129784" y="2212848"/>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7278624" y="2295144"/>
            <a:ext cx="256032"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443216" y="2212848"/>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592056" y="2295144"/>
            <a:ext cx="73152"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573768" y="2212848"/>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828800" y="3749039"/>
            <a:ext cx="3840480" cy="987552"/>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29968" y="3931920"/>
            <a:ext cx="3429000" cy="256032"/>
          </a:xfrm>
          <a:prstGeom prst="rect">
            <a:avLst/>
          </a:prstGeom>
          <a:noFill/>
        </p:spPr>
        <p:txBody>
          <a:bodyPr wrap="square" lIns="36576" rIns="36576" tIns="36576" bIns="36576" anchor="t">
            <a:spAutoFit/>
          </a:bodyPr>
          <a:lstStyle/>
          <a:p>
            <a:pPr algn="ctr">
              <a:spcAft>
                <a:spcPts val="400"/>
              </a:spcAft>
            </a:pPr>
            <a:r>
              <a:rPr sz="1400" b="1" i="0">
                <a:solidFill>
                  <a:srgbClr val="FFFFFF"/>
                </a:solidFill>
                <a:latin typeface="Aptos"/>
              </a:rPr>
              <a:t>6  GENERATOR + 3 × GRM</a:t>
            </a:r>
          </a:p>
        </p:txBody>
      </p:sp>
      <p:sp>
        <p:nvSpPr>
          <p:cNvPr id="31" name="TextBox 30"/>
          <p:cNvSpPr txBox="1"/>
          <p:nvPr/>
        </p:nvSpPr>
        <p:spPr>
          <a:xfrm>
            <a:off x="2029968" y="4279392"/>
            <a:ext cx="3429000" cy="219456"/>
          </a:xfrm>
          <a:prstGeom prst="rect">
            <a:avLst/>
          </a:prstGeom>
          <a:noFill/>
        </p:spPr>
        <p:txBody>
          <a:bodyPr wrap="square" lIns="36576" rIns="36576" tIns="36576" bIns="36576" anchor="t">
            <a:spAutoFit/>
          </a:bodyPr>
          <a:lstStyle/>
          <a:p>
            <a:pPr algn="ctr">
              <a:spcAft>
                <a:spcPts val="400"/>
              </a:spcAft>
            </a:pPr>
            <a:r>
              <a:rPr sz="1000" b="0" i="0">
                <a:solidFill>
                  <a:srgbClr val="D0DCEA"/>
                </a:solidFill>
                <a:latin typeface="Aptos"/>
              </a:rPr>
              <a:t>[Warped image, normal map, R] + Xg</a:t>
            </a:r>
          </a:p>
        </p:txBody>
      </p:sp>
      <p:sp>
        <p:nvSpPr>
          <p:cNvPr id="32" name="Rounded Rectangle 31"/>
          <p:cNvSpPr/>
          <p:nvPr/>
        </p:nvSpPr>
        <p:spPr>
          <a:xfrm>
            <a:off x="6629400" y="3749039"/>
            <a:ext cx="3337560" cy="987552"/>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39712" y="3931920"/>
            <a:ext cx="2926080" cy="256032"/>
          </a:xfrm>
          <a:prstGeom prst="rect">
            <a:avLst/>
          </a:prstGeom>
          <a:noFill/>
        </p:spPr>
        <p:txBody>
          <a:bodyPr wrap="square" lIns="36576" rIns="36576" tIns="36576" bIns="36576" anchor="t">
            <a:spAutoFit/>
          </a:bodyPr>
          <a:lstStyle/>
          <a:p>
            <a:pPr algn="ctr">
              <a:spcAft>
                <a:spcPts val="400"/>
              </a:spcAft>
            </a:pPr>
            <a:r>
              <a:rPr sz="1300" b="1" i="0">
                <a:solidFill>
                  <a:srgbClr val="142037"/>
                </a:solidFill>
                <a:latin typeface="Aptos"/>
              </a:rPr>
              <a:t>7  OCCLUSION BLEND</a:t>
            </a:r>
          </a:p>
        </p:txBody>
      </p:sp>
      <p:sp>
        <p:nvSpPr>
          <p:cNvPr id="34" name="TextBox 33"/>
          <p:cNvSpPr txBox="1"/>
          <p:nvPr/>
        </p:nvSpPr>
        <p:spPr>
          <a:xfrm>
            <a:off x="6839712" y="4279392"/>
            <a:ext cx="2926080" cy="219456"/>
          </a:xfrm>
          <a:prstGeom prst="rect">
            <a:avLst/>
          </a:prstGeom>
          <a:noFill/>
        </p:spPr>
        <p:txBody>
          <a:bodyPr wrap="square" lIns="36576" rIns="36576" tIns="36576" bIns="36576" anchor="t">
            <a:spAutoFit/>
          </a:bodyPr>
          <a:lstStyle/>
          <a:p>
            <a:pPr algn="ctr">
              <a:spcAft>
                <a:spcPts val="400"/>
              </a:spcAft>
            </a:pPr>
            <a:r>
              <a:rPr sz="1100" b="0" i="0">
                <a:solidFill>
                  <a:srgbClr val="142037"/>
                </a:solidFill>
                <a:latin typeface="Aptos"/>
              </a:rPr>
              <a:t>Î = O·Iwarp + (1−O)·Îgen</a:t>
            </a:r>
          </a:p>
        </p:txBody>
      </p:sp>
      <p:cxnSp>
        <p:nvCxnSpPr>
          <p:cNvPr id="35" name="Connector 34"/>
          <p:cNvCxnSpPr/>
          <p:nvPr/>
        </p:nvCxnSpPr>
        <p:spPr>
          <a:xfrm>
            <a:off x="5742432" y="4233672"/>
            <a:ext cx="795528" cy="0"/>
          </a:xfrm>
          <a:prstGeom prst="line">
            <a:avLst/>
          </a:prstGeom>
          <a:ln w="22860">
            <a:solidFill>
              <a:srgbClr val="24AEA0"/>
            </a:solidFill>
          </a:ln>
        </p:spPr>
        <p:style>
          <a:lnRef idx="2">
            <a:schemeClr val="accent1"/>
          </a:lnRef>
          <a:fillRef idx="0">
            <a:schemeClr val="accent1"/>
          </a:fillRef>
          <a:effectRef idx="1">
            <a:schemeClr val="accent1"/>
          </a:effectRef>
          <a:fontRef idx="minor">
            <a:schemeClr val="tx1"/>
          </a:fontRef>
        </p:style>
      </p:cxnSp>
      <p:sp>
        <p:nvSpPr>
          <p:cNvPr id="36" name="Chevron 35"/>
          <p:cNvSpPr/>
          <p:nvPr/>
        </p:nvSpPr>
        <p:spPr>
          <a:xfrm>
            <a:off x="6446520" y="4151376"/>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8522208" y="2825496"/>
            <a:ext cx="0" cy="493776"/>
          </a:xfrm>
          <a:prstGeom prst="line">
            <a:avLst/>
          </a:prstGeom>
          <a:ln w="16510">
            <a:solidFill>
              <a:srgbClr val="F2B74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800600" y="3319272"/>
            <a:ext cx="3721608" cy="0"/>
          </a:xfrm>
          <a:prstGeom prst="line">
            <a:avLst/>
          </a:prstGeom>
          <a:ln w="16510">
            <a:solidFill>
              <a:srgbClr val="F2B74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800600" y="3319272"/>
            <a:ext cx="0" cy="365760"/>
          </a:xfrm>
          <a:prstGeom prst="line">
            <a:avLst/>
          </a:prstGeom>
          <a:ln w="16510">
            <a:solidFill>
              <a:srgbClr val="F2B74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625328" y="2825496"/>
            <a:ext cx="0" cy="630936"/>
          </a:xfrm>
          <a:prstGeom prst="line">
            <a:avLst/>
          </a:prstGeom>
          <a:ln w="1651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349240" y="3456432"/>
            <a:ext cx="5276088" cy="0"/>
          </a:xfrm>
          <a:prstGeom prst="line">
            <a:avLst/>
          </a:prstGeom>
          <a:ln w="16510">
            <a:solidFill>
              <a:srgbClr val="24AEA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349240" y="3456432"/>
            <a:ext cx="0" cy="228600"/>
          </a:xfrm>
          <a:prstGeom prst="line">
            <a:avLst/>
          </a:prstGeom>
          <a:ln w="16510">
            <a:solidFill>
              <a:srgbClr val="24AEA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259568" y="3794760"/>
            <a:ext cx="1234440" cy="914400"/>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60152" y="3995928"/>
            <a:ext cx="1033271"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OUTPUT</a:t>
            </a:r>
          </a:p>
        </p:txBody>
      </p:sp>
      <p:sp>
        <p:nvSpPr>
          <p:cNvPr id="45" name="TextBox 44"/>
          <p:cNvSpPr txBox="1"/>
          <p:nvPr/>
        </p:nvSpPr>
        <p:spPr>
          <a:xfrm>
            <a:off x="10360152" y="4297680"/>
            <a:ext cx="1033271" cy="201168"/>
          </a:xfrm>
          <a:prstGeom prst="rect">
            <a:avLst/>
          </a:prstGeom>
          <a:noFill/>
        </p:spPr>
        <p:txBody>
          <a:bodyPr wrap="square" lIns="36576" rIns="36576" tIns="36576" bIns="36576" anchor="t">
            <a:spAutoFit/>
          </a:bodyPr>
          <a:lstStyle/>
          <a:p>
            <a:pPr algn="ctr">
              <a:spcAft>
                <a:spcPts val="400"/>
              </a:spcAft>
            </a:pPr>
            <a:r>
              <a:rPr sz="900" b="0" i="0">
                <a:solidFill>
                  <a:srgbClr val="253041"/>
                </a:solidFill>
                <a:latin typeface="Aptos"/>
              </a:rPr>
              <a:t>Video frame</a:t>
            </a:r>
          </a:p>
        </p:txBody>
      </p:sp>
      <p:cxnSp>
        <p:nvCxnSpPr>
          <p:cNvPr id="46" name="Connector 45"/>
          <p:cNvCxnSpPr/>
          <p:nvPr/>
        </p:nvCxnSpPr>
        <p:spPr>
          <a:xfrm>
            <a:off x="10040112" y="4233672"/>
            <a:ext cx="14630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47" name="Chevron 46"/>
          <p:cNvSpPr/>
          <p:nvPr/>
        </p:nvSpPr>
        <p:spPr>
          <a:xfrm>
            <a:off x="10094976" y="4151376"/>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49808" y="5285232"/>
            <a:ext cx="10652760" cy="576072"/>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 y="5440680"/>
            <a:ext cx="10241280" cy="256032"/>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Parallel branches: motion estimation • regional contour prediction • target edge encoding. Generator fuses their outputs.</a:t>
            </a:r>
          </a:p>
        </p:txBody>
      </p:sp>
      <p:cxnSp>
        <p:nvCxnSpPr>
          <p:cNvPr id="50" name="Connector 49"/>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03 • GREG METHOD</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TPSMM giữ cấu trúc lớn; chuyên gia vùng bù chi tiết nhỏ</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Warping bảo toàn thông tin nguồn nhưng khó xử lý biến dạng phi cứng ở từng ngón tay.</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07 / 10</a:t>
            </a:r>
          </a:p>
        </p:txBody>
      </p:sp>
      <p:sp>
        <p:nvSpPr>
          <p:cNvPr id="6" name="Rounded Rectangle 5"/>
          <p:cNvSpPr/>
          <p:nvPr/>
        </p:nvSpPr>
        <p:spPr>
          <a:xfrm>
            <a:off x="658368" y="1737360"/>
            <a:ext cx="5321808" cy="425196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4754880" cy="292608"/>
          </a:xfrm>
          <a:prstGeom prst="rect">
            <a:avLst/>
          </a:prstGeom>
          <a:noFill/>
        </p:spPr>
        <p:txBody>
          <a:bodyPr wrap="square" lIns="36576" rIns="36576" tIns="36576" bIns="36576" anchor="t">
            <a:spAutoFit/>
          </a:bodyPr>
          <a:lstStyle/>
          <a:p>
            <a:pPr algn="l">
              <a:spcAft>
                <a:spcPts val="400"/>
              </a:spcAft>
            </a:pPr>
            <a:r>
              <a:rPr sz="1500" b="1" i="0">
                <a:solidFill>
                  <a:srgbClr val="142037"/>
                </a:solidFill>
                <a:latin typeface="Aptos"/>
              </a:rPr>
              <a:t>A. Motion field &amp; occlusion mask</a:t>
            </a:r>
          </a:p>
        </p:txBody>
      </p:sp>
      <p:sp>
        <p:nvSpPr>
          <p:cNvPr id="8" name="Rounded Rectangle 7"/>
          <p:cNvSpPr/>
          <p:nvPr/>
        </p:nvSpPr>
        <p:spPr>
          <a:xfrm>
            <a:off x="914400" y="2606040"/>
            <a:ext cx="1234440" cy="914400"/>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752344"/>
            <a:ext cx="1088136"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Source image</a:t>
            </a:r>
          </a:p>
        </p:txBody>
      </p:sp>
      <p:sp>
        <p:nvSpPr>
          <p:cNvPr id="10" name="TextBox 9"/>
          <p:cNvSpPr txBox="1"/>
          <p:nvPr/>
        </p:nvSpPr>
        <p:spPr>
          <a:xfrm>
            <a:off x="987552" y="3044952"/>
            <a:ext cx="1088136" cy="338328"/>
          </a:xfrm>
          <a:prstGeom prst="rect">
            <a:avLst/>
          </a:prstGeom>
          <a:noFill/>
        </p:spPr>
        <p:txBody>
          <a:bodyPr wrap="square" lIns="36576" rIns="36576" tIns="36576" bIns="36576" anchor="t">
            <a:spAutoFit/>
          </a:bodyPr>
          <a:lstStyle/>
          <a:p>
            <a:pPr algn="ctr">
              <a:spcAft>
                <a:spcPts val="400"/>
              </a:spcAft>
            </a:pPr>
            <a:r>
              <a:rPr sz="850" b="0" i="0">
                <a:solidFill>
                  <a:srgbClr val="253041"/>
                </a:solidFill>
                <a:latin typeface="Aptos"/>
              </a:rPr>
              <a:t>Danh tính / texture</a:t>
            </a:r>
          </a:p>
        </p:txBody>
      </p:sp>
      <p:sp>
        <p:nvSpPr>
          <p:cNvPr id="11" name="Rounded Rectangle 10"/>
          <p:cNvSpPr/>
          <p:nvPr/>
        </p:nvSpPr>
        <p:spPr>
          <a:xfrm>
            <a:off x="2834640" y="2606040"/>
            <a:ext cx="1234440" cy="914400"/>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2752344"/>
            <a:ext cx="1088136"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TPSMM</a:t>
            </a:r>
          </a:p>
        </p:txBody>
      </p:sp>
      <p:sp>
        <p:nvSpPr>
          <p:cNvPr id="13" name="TextBox 12"/>
          <p:cNvSpPr txBox="1"/>
          <p:nvPr/>
        </p:nvSpPr>
        <p:spPr>
          <a:xfrm>
            <a:off x="2907792" y="3044952"/>
            <a:ext cx="1088136" cy="338328"/>
          </a:xfrm>
          <a:prstGeom prst="rect">
            <a:avLst/>
          </a:prstGeom>
          <a:noFill/>
        </p:spPr>
        <p:txBody>
          <a:bodyPr wrap="square" lIns="36576" rIns="36576" tIns="36576" bIns="36576" anchor="t">
            <a:spAutoFit/>
          </a:bodyPr>
          <a:lstStyle/>
          <a:p>
            <a:pPr algn="ctr">
              <a:spcAft>
                <a:spcPts val="400"/>
              </a:spcAft>
            </a:pPr>
            <a:r>
              <a:rPr sz="850" b="0" i="0">
                <a:solidFill>
                  <a:srgbClr val="253041"/>
                </a:solidFill>
                <a:latin typeface="Aptos"/>
              </a:rPr>
              <a:t>50 landmarks</a:t>
            </a:r>
          </a:p>
          <a:p>
            <a:pPr algn="ctr">
              <a:spcAft>
                <a:spcPts val="400"/>
              </a:spcAft>
            </a:pPr>
            <a:r>
              <a:rPr sz="850" b="0" i="0">
                <a:solidFill>
                  <a:srgbClr val="253041"/>
                </a:solidFill>
                <a:latin typeface="Aptos"/>
              </a:rPr>
              <a:t>10 groups × 5</a:t>
            </a:r>
          </a:p>
        </p:txBody>
      </p:sp>
      <p:sp>
        <p:nvSpPr>
          <p:cNvPr id="14" name="Rounded Rectangle 13"/>
          <p:cNvSpPr/>
          <p:nvPr/>
        </p:nvSpPr>
        <p:spPr>
          <a:xfrm>
            <a:off x="4572000" y="2606040"/>
            <a:ext cx="1234440" cy="914400"/>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752344"/>
            <a:ext cx="1088136" cy="228600"/>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F + O</a:t>
            </a:r>
          </a:p>
        </p:txBody>
      </p:sp>
      <p:sp>
        <p:nvSpPr>
          <p:cNvPr id="16" name="TextBox 15"/>
          <p:cNvSpPr txBox="1"/>
          <p:nvPr/>
        </p:nvSpPr>
        <p:spPr>
          <a:xfrm>
            <a:off x="4645152" y="3044952"/>
            <a:ext cx="1088136" cy="338328"/>
          </a:xfrm>
          <a:prstGeom prst="rect">
            <a:avLst/>
          </a:prstGeom>
          <a:noFill/>
        </p:spPr>
        <p:txBody>
          <a:bodyPr wrap="square" lIns="36576" rIns="36576" tIns="36576" bIns="36576" anchor="t">
            <a:spAutoFit/>
          </a:bodyPr>
          <a:lstStyle/>
          <a:p>
            <a:pPr algn="ctr">
              <a:spcAft>
                <a:spcPts val="400"/>
              </a:spcAft>
            </a:pPr>
            <a:r>
              <a:rPr sz="850" b="0" i="0">
                <a:solidFill>
                  <a:srgbClr val="253041"/>
                </a:solidFill>
                <a:latin typeface="Aptos"/>
              </a:rPr>
              <a:t>Flow / occlusion</a:t>
            </a:r>
          </a:p>
        </p:txBody>
      </p:sp>
      <p:cxnSp>
        <p:nvCxnSpPr>
          <p:cNvPr id="17" name="Connector 16"/>
          <p:cNvCxnSpPr/>
          <p:nvPr/>
        </p:nvCxnSpPr>
        <p:spPr>
          <a:xfrm>
            <a:off x="2194560" y="3063240"/>
            <a:ext cx="548640"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2651760" y="298094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4114800" y="3063240"/>
            <a:ext cx="365760"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4389120" y="298094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24128" y="3977639"/>
            <a:ext cx="4526280" cy="667512"/>
          </a:xfrm>
          <a:prstGeom prst="roundRect">
            <a:avLst>
              <a:gd name="adj" fmla="val 12000"/>
            </a:avLst>
          </a:prstGeom>
          <a:solidFill>
            <a:srgbClr val="FCEBEB"/>
          </a:solidFill>
          <a:ln>
            <a:solidFill>
              <a:srgbClr val="FC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142232"/>
            <a:ext cx="4187952" cy="292608"/>
          </a:xfrm>
          <a:prstGeom prst="rect">
            <a:avLst/>
          </a:prstGeom>
          <a:noFill/>
        </p:spPr>
        <p:txBody>
          <a:bodyPr wrap="square" lIns="36576" rIns="36576" tIns="36576" bIns="36576" anchor="t">
            <a:spAutoFit/>
          </a:bodyPr>
          <a:lstStyle/>
          <a:p>
            <a:pPr algn="ctr">
              <a:spcAft>
                <a:spcPts val="400"/>
              </a:spcAft>
            </a:pPr>
            <a:r>
              <a:rPr sz="1100" b="1" i="0">
                <a:solidFill>
                  <a:srgbClr val="DB5F60"/>
                </a:solidFill>
                <a:latin typeface="Aptos"/>
              </a:rPr>
              <a:t>Failure mode: fingers bend, merge or stretch after warping.</a:t>
            </a:r>
          </a:p>
        </p:txBody>
      </p:sp>
      <p:sp>
        <p:nvSpPr>
          <p:cNvPr id="23" name="TextBox 22"/>
          <p:cNvSpPr txBox="1"/>
          <p:nvPr/>
        </p:nvSpPr>
        <p:spPr>
          <a:xfrm>
            <a:off x="914400" y="4965192"/>
            <a:ext cx="4709160" cy="56692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O≈1: reuse warped pixels     •     O≈0: synthesize new pixels</a:t>
            </a:r>
          </a:p>
        </p:txBody>
      </p:sp>
      <p:sp>
        <p:nvSpPr>
          <p:cNvPr id="24" name="Rounded Rectangle 23"/>
          <p:cNvSpPr/>
          <p:nvPr/>
        </p:nvSpPr>
        <p:spPr>
          <a:xfrm>
            <a:off x="6199632" y="1737360"/>
            <a:ext cx="5321808" cy="425196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1965960"/>
            <a:ext cx="4754880" cy="292608"/>
          </a:xfrm>
          <a:prstGeom prst="rect">
            <a:avLst/>
          </a:prstGeom>
          <a:noFill/>
        </p:spPr>
        <p:txBody>
          <a:bodyPr wrap="square" lIns="36576" rIns="36576" tIns="36576" bIns="36576" anchor="t">
            <a:spAutoFit/>
          </a:bodyPr>
          <a:lstStyle/>
          <a:p>
            <a:pPr algn="l">
              <a:spcAft>
                <a:spcPts val="400"/>
              </a:spcAft>
            </a:pPr>
            <a:r>
              <a:rPr sz="1500" b="1" i="0">
                <a:solidFill>
                  <a:srgbClr val="142037"/>
                </a:solidFill>
                <a:latin typeface="Aptos"/>
              </a:rPr>
              <a:t>B. Regional experts → contour prior R</a:t>
            </a:r>
          </a:p>
        </p:txBody>
      </p:sp>
      <p:sp>
        <p:nvSpPr>
          <p:cNvPr id="26" name="Rounded Rectangle 25"/>
          <p:cNvSpPr/>
          <p:nvPr/>
        </p:nvSpPr>
        <p:spPr>
          <a:xfrm>
            <a:off x="6492240" y="2633472"/>
            <a:ext cx="1307592" cy="914400"/>
          </a:xfrm>
          <a:prstGeom prst="roundRect">
            <a:avLst>
              <a:gd name="adj" fmla="val 12000"/>
            </a:avLst>
          </a:prstGeom>
          <a:solidFill>
            <a:srgbClr val="E8EFF9"/>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958583" y="2761488"/>
            <a:ext cx="365760" cy="365760"/>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79" y="3200400"/>
            <a:ext cx="1124712" cy="21031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Face</a:t>
            </a:r>
          </a:p>
        </p:txBody>
      </p:sp>
      <p:sp>
        <p:nvSpPr>
          <p:cNvPr id="29" name="TextBox 28"/>
          <p:cNvSpPr txBox="1"/>
          <p:nvPr/>
        </p:nvSpPr>
        <p:spPr>
          <a:xfrm>
            <a:off x="7799831" y="2926080"/>
            <a:ext cx="228600" cy="164592"/>
          </a:xfrm>
          <a:prstGeom prst="rect">
            <a:avLst/>
          </a:prstGeom>
          <a:noFill/>
        </p:spPr>
        <p:txBody>
          <a:bodyPr wrap="square" lIns="36576" rIns="36576" tIns="36576" bIns="36576" anchor="t">
            <a:spAutoFit/>
          </a:bodyPr>
          <a:lstStyle/>
          <a:p>
            <a:pPr algn="ctr">
              <a:spcAft>
                <a:spcPts val="400"/>
              </a:spcAft>
            </a:pPr>
            <a:r>
              <a:rPr sz="1100" b="1" i="0">
                <a:solidFill>
                  <a:srgbClr val="657386"/>
                </a:solidFill>
                <a:latin typeface="Aptos"/>
              </a:rPr>
              <a:t>+</a:t>
            </a:r>
          </a:p>
        </p:txBody>
      </p:sp>
      <p:sp>
        <p:nvSpPr>
          <p:cNvPr id="30" name="Rounded Rectangle 29"/>
          <p:cNvSpPr/>
          <p:nvPr/>
        </p:nvSpPr>
        <p:spPr>
          <a:xfrm>
            <a:off x="8028431" y="2633472"/>
            <a:ext cx="1307592" cy="914400"/>
          </a:xfrm>
          <a:prstGeom prst="roundRect">
            <a:avLst>
              <a:gd name="adj" fmla="val 12000"/>
            </a:avLst>
          </a:prstGeom>
          <a:solidFill>
            <a:srgbClr val="E2F6F3"/>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494776" y="2761488"/>
            <a:ext cx="365760" cy="365760"/>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19871" y="3200400"/>
            <a:ext cx="1124712" cy="21031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Left hand</a:t>
            </a:r>
          </a:p>
        </p:txBody>
      </p:sp>
      <p:sp>
        <p:nvSpPr>
          <p:cNvPr id="33" name="TextBox 32"/>
          <p:cNvSpPr txBox="1"/>
          <p:nvPr/>
        </p:nvSpPr>
        <p:spPr>
          <a:xfrm>
            <a:off x="9336024" y="2926080"/>
            <a:ext cx="228600" cy="164592"/>
          </a:xfrm>
          <a:prstGeom prst="rect">
            <a:avLst/>
          </a:prstGeom>
          <a:noFill/>
        </p:spPr>
        <p:txBody>
          <a:bodyPr wrap="square" lIns="36576" rIns="36576" tIns="36576" bIns="36576" anchor="t">
            <a:spAutoFit/>
          </a:bodyPr>
          <a:lstStyle/>
          <a:p>
            <a:pPr algn="ctr">
              <a:spcAft>
                <a:spcPts val="400"/>
              </a:spcAft>
            </a:pPr>
            <a:r>
              <a:rPr sz="1100" b="1" i="0">
                <a:solidFill>
                  <a:srgbClr val="657386"/>
                </a:solidFill>
                <a:latin typeface="Aptos"/>
              </a:rPr>
              <a:t>+</a:t>
            </a:r>
          </a:p>
        </p:txBody>
      </p:sp>
      <p:sp>
        <p:nvSpPr>
          <p:cNvPr id="34" name="Rounded Rectangle 33"/>
          <p:cNvSpPr/>
          <p:nvPr/>
        </p:nvSpPr>
        <p:spPr>
          <a:xfrm>
            <a:off x="9564624" y="2633472"/>
            <a:ext cx="1307592" cy="914400"/>
          </a:xfrm>
          <a:prstGeom prst="roundRect">
            <a:avLst>
              <a:gd name="adj" fmla="val 12000"/>
            </a:avLst>
          </a:prstGeom>
          <a:solidFill>
            <a:srgbClr val="FFF6E0"/>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30968" y="2761488"/>
            <a:ext cx="365760" cy="365760"/>
          </a:xfrm>
          <a:prstGeom prst="ellipse">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56064" y="3200400"/>
            <a:ext cx="1124712" cy="21031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Right hand</a:t>
            </a:r>
          </a:p>
        </p:txBody>
      </p:sp>
      <p:cxnSp>
        <p:nvCxnSpPr>
          <p:cNvPr id="37" name="Connector 36"/>
          <p:cNvCxnSpPr/>
          <p:nvPr/>
        </p:nvCxnSpPr>
        <p:spPr>
          <a:xfrm>
            <a:off x="10927080" y="3090672"/>
            <a:ext cx="274320" cy="0"/>
          </a:xfrm>
          <a:prstGeom prst="line">
            <a:avLst/>
          </a:prstGeom>
          <a:ln w="16510">
            <a:solidFill>
              <a:srgbClr val="24AEA0"/>
            </a:solidFill>
          </a:ln>
        </p:spPr>
        <p:style>
          <a:lnRef idx="2">
            <a:schemeClr val="accent1"/>
          </a:lnRef>
          <a:fillRef idx="0">
            <a:schemeClr val="accent1"/>
          </a:fillRef>
          <a:effectRef idx="1">
            <a:schemeClr val="accent1"/>
          </a:effectRef>
          <a:fontRef idx="minor">
            <a:schemeClr val="tx1"/>
          </a:fontRef>
        </p:style>
      </p:cxnSp>
      <p:sp>
        <p:nvSpPr>
          <p:cNvPr id="38" name="Chevron 37"/>
          <p:cNvSpPr/>
          <p:nvPr/>
        </p:nvSpPr>
        <p:spPr>
          <a:xfrm>
            <a:off x="11109960" y="3008376"/>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720840" y="3977639"/>
            <a:ext cx="4297680" cy="658368"/>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03720" y="4151376"/>
            <a:ext cx="3931920" cy="274320"/>
          </a:xfrm>
          <a:prstGeom prst="rect">
            <a:avLst/>
          </a:prstGeom>
          <a:noFill/>
        </p:spPr>
        <p:txBody>
          <a:bodyPr wrap="square" lIns="36576" rIns="36576" tIns="36576" bIns="36576" anchor="t">
            <a:spAutoFit/>
          </a:bodyPr>
          <a:lstStyle/>
          <a:p>
            <a:pPr algn="ctr">
              <a:spcAft>
                <a:spcPts val="400"/>
              </a:spcAft>
            </a:pPr>
            <a:r>
              <a:rPr sz="1200" b="1" i="0">
                <a:solidFill>
                  <a:srgbClr val="FFFFFF"/>
                </a:solidFill>
                <a:latin typeface="Aptos"/>
              </a:rPr>
              <a:t>Predicted contour maps → R</a:t>
            </a:r>
          </a:p>
        </p:txBody>
      </p:sp>
      <p:sp>
        <p:nvSpPr>
          <p:cNvPr id="41" name="TextBox 40"/>
          <p:cNvSpPr txBox="1"/>
          <p:nvPr/>
        </p:nvSpPr>
        <p:spPr>
          <a:xfrm>
            <a:off x="6492240" y="4965192"/>
            <a:ext cx="4572000" cy="594360"/>
          </a:xfrm>
          <a:prstGeom prst="rect">
            <a:avLst/>
          </a:prstGeom>
          <a:noFill/>
        </p:spPr>
        <p:txBody>
          <a:bodyPr wrap="square" lIns="36576" rIns="36576" tIns="36576" bIns="36576" anchor="t">
            <a:spAutoFit/>
          </a:bodyPr>
          <a:lstStyle/>
          <a:p>
            <a:pPr algn="ctr">
              <a:spcAft>
                <a:spcPts val="400"/>
              </a:spcAft>
            </a:pPr>
            <a:r>
              <a:rPr sz="1050" b="0" i="0">
                <a:solidFill>
                  <a:srgbClr val="657386"/>
                </a:solidFill>
                <a:latin typeface="Aptos"/>
              </a:rPr>
              <a:t>Small U-Net + style-conditioned convolution; both hands share one expert.</a:t>
            </a:r>
          </a:p>
        </p:txBody>
      </p:sp>
      <p:cxnSp>
        <p:nvCxnSpPr>
          <p:cNvPr id="42" name="Connector 41"/>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03 • GREG METHOD</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GRM đưa tín hiệu đường viền vào đặc trưng generator</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Contour prior tập trung vào mặt và hai tay — nơi sai lệch nhỏ có thể làm mất tính dễ hiểu của ký hiệu.</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08 / 10</a:t>
            </a:r>
          </a:p>
        </p:txBody>
      </p:sp>
      <p:sp>
        <p:nvSpPr>
          <p:cNvPr id="6" name="Rounded Rectangle 5"/>
          <p:cNvSpPr/>
          <p:nvPr/>
        </p:nvSpPr>
        <p:spPr>
          <a:xfrm>
            <a:off x="713232" y="1874519"/>
            <a:ext cx="1664208" cy="1188720"/>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Target normal</a:t>
            </a:r>
          </a:p>
          <a:p>
            <a:pPr algn="ctr">
              <a:spcAft>
                <a:spcPts val="400"/>
              </a:spcAft>
            </a:pPr>
            <a:r>
              <a:rPr sz="1100" b="1" i="0">
                <a:solidFill>
                  <a:srgbClr val="142037"/>
                </a:solidFill>
                <a:latin typeface="Aptos"/>
              </a:rPr>
              <a:t>map</a:t>
            </a:r>
          </a:p>
        </p:txBody>
      </p:sp>
      <p:sp>
        <p:nvSpPr>
          <p:cNvPr id="8" name="TextBox 7"/>
          <p:cNvSpPr txBox="1"/>
          <p:nvPr/>
        </p:nvSpPr>
        <p:spPr>
          <a:xfrm>
            <a:off x="804672"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Hướng bề mặt</a:t>
            </a:r>
          </a:p>
        </p:txBody>
      </p:sp>
      <p:sp>
        <p:nvSpPr>
          <p:cNvPr id="9" name="Rounded Rectangle 8"/>
          <p:cNvSpPr/>
          <p:nvPr/>
        </p:nvSpPr>
        <p:spPr>
          <a:xfrm>
            <a:off x="2834640" y="1874519"/>
            <a:ext cx="1664208" cy="1188720"/>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Gradient / edge</a:t>
            </a:r>
          </a:p>
        </p:txBody>
      </p:sp>
      <p:sp>
        <p:nvSpPr>
          <p:cNvPr id="11" name="TextBox 10"/>
          <p:cNvSpPr txBox="1"/>
          <p:nvPr/>
        </p:nvSpPr>
        <p:spPr>
          <a:xfrm>
            <a:off x="2926080"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G = √(Ix² + Iy² + ε)</a:t>
            </a:r>
          </a:p>
        </p:txBody>
      </p:sp>
      <p:sp>
        <p:nvSpPr>
          <p:cNvPr id="12" name="Rounded Rectangle 11"/>
          <p:cNvSpPr/>
          <p:nvPr/>
        </p:nvSpPr>
        <p:spPr>
          <a:xfrm>
            <a:off x="4956048" y="1874519"/>
            <a:ext cx="1664208" cy="1188720"/>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7488"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Gaussian</a:t>
            </a:r>
          </a:p>
          <a:p>
            <a:pPr algn="ctr">
              <a:spcAft>
                <a:spcPts val="400"/>
              </a:spcAft>
            </a:pPr>
            <a:r>
              <a:rPr sz="1100" b="1" i="0">
                <a:solidFill>
                  <a:srgbClr val="142037"/>
                </a:solidFill>
                <a:latin typeface="Aptos"/>
              </a:rPr>
              <a:t>region mask</a:t>
            </a:r>
          </a:p>
        </p:txBody>
      </p:sp>
      <p:sp>
        <p:nvSpPr>
          <p:cNvPr id="14" name="TextBox 13"/>
          <p:cNvSpPr txBox="1"/>
          <p:nvPr/>
        </p:nvSpPr>
        <p:spPr>
          <a:xfrm>
            <a:off x="5047488"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Mặt + 2 tay</a:t>
            </a:r>
          </a:p>
        </p:txBody>
      </p:sp>
      <p:sp>
        <p:nvSpPr>
          <p:cNvPr id="15" name="Rounded Rectangle 14"/>
          <p:cNvSpPr/>
          <p:nvPr/>
        </p:nvSpPr>
        <p:spPr>
          <a:xfrm>
            <a:off x="7077456" y="1874519"/>
            <a:ext cx="1664208" cy="1188720"/>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68896"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Edge encoder</a:t>
            </a:r>
          </a:p>
        </p:txBody>
      </p:sp>
      <p:sp>
        <p:nvSpPr>
          <p:cNvPr id="17" name="TextBox 16"/>
          <p:cNvSpPr txBox="1"/>
          <p:nvPr/>
        </p:nvSpPr>
        <p:spPr>
          <a:xfrm>
            <a:off x="7168896"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CNN downsample</a:t>
            </a:r>
          </a:p>
        </p:txBody>
      </p:sp>
      <p:sp>
        <p:nvSpPr>
          <p:cNvPr id="18" name="Rounded Rectangle 17"/>
          <p:cNvSpPr/>
          <p:nvPr/>
        </p:nvSpPr>
        <p:spPr>
          <a:xfrm>
            <a:off x="9198864" y="1874519"/>
            <a:ext cx="1664208" cy="1188720"/>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0304" y="2057400"/>
            <a:ext cx="1481328" cy="384048"/>
          </a:xfrm>
          <a:prstGeom prst="rect">
            <a:avLst/>
          </a:prstGeom>
          <a:noFill/>
        </p:spPr>
        <p:txBody>
          <a:bodyPr wrap="square" lIns="36576" rIns="36576" tIns="36576" bIns="36576" anchor="t">
            <a:spAutoFit/>
          </a:bodyPr>
          <a:lstStyle/>
          <a:p>
            <a:pPr algn="ctr">
              <a:spcAft>
                <a:spcPts val="400"/>
              </a:spcAft>
            </a:pPr>
            <a:r>
              <a:rPr sz="1100" b="1" i="0">
                <a:solidFill>
                  <a:srgbClr val="142037"/>
                </a:solidFill>
                <a:latin typeface="Aptos"/>
              </a:rPr>
              <a:t>Xg features</a:t>
            </a:r>
          </a:p>
        </p:txBody>
      </p:sp>
      <p:sp>
        <p:nvSpPr>
          <p:cNvPr id="20" name="TextBox 19"/>
          <p:cNvSpPr txBox="1"/>
          <p:nvPr/>
        </p:nvSpPr>
        <p:spPr>
          <a:xfrm>
            <a:off x="9290304" y="2587752"/>
            <a:ext cx="1481328" cy="274320"/>
          </a:xfrm>
          <a:prstGeom prst="rect">
            <a:avLst/>
          </a:prstGeom>
          <a:noFill/>
        </p:spPr>
        <p:txBody>
          <a:bodyPr wrap="square" lIns="36576" rIns="36576" tIns="36576" bIns="36576" anchor="t">
            <a:spAutoFit/>
          </a:bodyPr>
          <a:lstStyle/>
          <a:p>
            <a:pPr algn="ctr">
              <a:spcAft>
                <a:spcPts val="400"/>
              </a:spcAft>
            </a:pPr>
            <a:r>
              <a:rPr sz="850" b="0" i="0">
                <a:solidFill>
                  <a:srgbClr val="657386"/>
                </a:solidFill>
                <a:latin typeface="Aptos"/>
              </a:rPr>
              <a:t>32 / 64 / 128</a:t>
            </a:r>
          </a:p>
        </p:txBody>
      </p:sp>
      <p:cxnSp>
        <p:nvCxnSpPr>
          <p:cNvPr id="21" name="Connector 20"/>
          <p:cNvCxnSpPr/>
          <p:nvPr/>
        </p:nvCxnSpPr>
        <p:spPr>
          <a:xfrm>
            <a:off x="2450592" y="2468880"/>
            <a:ext cx="32918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2688336" y="238658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572000" y="2468880"/>
            <a:ext cx="32918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4" name="Chevron 23"/>
          <p:cNvSpPr/>
          <p:nvPr/>
        </p:nvSpPr>
        <p:spPr>
          <a:xfrm>
            <a:off x="4809744" y="238658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6693408" y="2468880"/>
            <a:ext cx="32918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6931152" y="238658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8814816" y="2468880"/>
            <a:ext cx="329184" cy="0"/>
          </a:xfrm>
          <a:prstGeom prst="line">
            <a:avLst/>
          </a:prstGeom>
          <a:ln w="17780">
            <a:solidFill>
              <a:srgbClr val="24AEA0"/>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052560" y="238658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4400" y="3822191"/>
            <a:ext cx="4023360" cy="1325880"/>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4041648"/>
            <a:ext cx="3566160" cy="274320"/>
          </a:xfrm>
          <a:prstGeom prst="rect">
            <a:avLst/>
          </a:prstGeom>
          <a:noFill/>
        </p:spPr>
        <p:txBody>
          <a:bodyPr wrap="square" lIns="36576" rIns="36576" tIns="36576" bIns="36576" anchor="t">
            <a:spAutoFit/>
          </a:bodyPr>
          <a:lstStyle/>
          <a:p>
            <a:pPr algn="ctr">
              <a:spcAft>
                <a:spcPts val="400"/>
              </a:spcAft>
            </a:pPr>
            <a:r>
              <a:rPr sz="1600" b="1" i="0">
                <a:solidFill>
                  <a:srgbClr val="FFFFFF"/>
                </a:solidFill>
                <a:latin typeface="Aptos"/>
              </a:rPr>
              <a:t>GRM • Cross-attention</a:t>
            </a:r>
          </a:p>
        </p:txBody>
      </p:sp>
      <p:sp>
        <p:nvSpPr>
          <p:cNvPr id="31" name="TextBox 30"/>
          <p:cNvSpPr txBox="1"/>
          <p:nvPr/>
        </p:nvSpPr>
        <p:spPr>
          <a:xfrm>
            <a:off x="1143000" y="4480560"/>
            <a:ext cx="3566160" cy="384048"/>
          </a:xfrm>
          <a:prstGeom prst="rect">
            <a:avLst/>
          </a:prstGeom>
          <a:noFill/>
        </p:spPr>
        <p:txBody>
          <a:bodyPr wrap="square" lIns="36576" rIns="36576" tIns="36576" bIns="36576" anchor="t">
            <a:spAutoFit/>
          </a:bodyPr>
          <a:lstStyle/>
          <a:p>
            <a:pPr algn="ctr">
              <a:spcAft>
                <a:spcPts val="400"/>
              </a:spcAft>
            </a:pPr>
            <a:r>
              <a:rPr sz="1000" b="0" i="0">
                <a:solidFill>
                  <a:srgbClr val="CDDCEB"/>
                </a:solidFill>
                <a:latin typeface="Aptos"/>
              </a:rPr>
              <a:t>Q = Xg,   K/V = Xin</a:t>
            </a:r>
          </a:p>
          <a:p>
            <a:pPr algn="ctr">
              <a:spcAft>
                <a:spcPts val="400"/>
              </a:spcAft>
            </a:pPr>
            <a:r>
              <a:rPr sz="1000" b="0" i="0">
                <a:solidFill>
                  <a:srgbClr val="CDDCEB"/>
                </a:solidFill>
                <a:latin typeface="Aptos"/>
              </a:rPr>
              <a:t>residual: Xout = Xin + attention</a:t>
            </a:r>
          </a:p>
        </p:txBody>
      </p:sp>
      <p:cxnSp>
        <p:nvCxnSpPr>
          <p:cNvPr id="32" name="Connector 31"/>
          <p:cNvCxnSpPr/>
          <p:nvPr/>
        </p:nvCxnSpPr>
        <p:spPr>
          <a:xfrm>
            <a:off x="5074920" y="4480560"/>
            <a:ext cx="685800" cy="0"/>
          </a:xfrm>
          <a:prstGeom prst="line">
            <a:avLst/>
          </a:prstGeom>
          <a:ln w="22860">
            <a:solidFill>
              <a:srgbClr val="24AEA0"/>
            </a:solidFill>
          </a:ln>
        </p:spPr>
        <p:style>
          <a:lnRef idx="2">
            <a:schemeClr val="accent1"/>
          </a:lnRef>
          <a:fillRef idx="0">
            <a:schemeClr val="accent1"/>
          </a:fillRef>
          <a:effectRef idx="1">
            <a:schemeClr val="accent1"/>
          </a:effectRef>
          <a:fontRef idx="minor">
            <a:schemeClr val="tx1"/>
          </a:fontRef>
        </p:style>
      </p:cxnSp>
      <p:sp>
        <p:nvSpPr>
          <p:cNvPr id="33" name="Chevron 32"/>
          <p:cNvSpPr/>
          <p:nvPr/>
        </p:nvSpPr>
        <p:spPr>
          <a:xfrm>
            <a:off x="5669280" y="4398264"/>
            <a:ext cx="164592" cy="164592"/>
          </a:xfrm>
          <a:prstGeom prst="chevron">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97880" y="3822191"/>
            <a:ext cx="5230368" cy="132588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4023360"/>
            <a:ext cx="4709160" cy="27432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3 GRM blocks in the U-Net decoder</a:t>
            </a:r>
          </a:p>
        </p:txBody>
      </p:sp>
      <p:sp>
        <p:nvSpPr>
          <p:cNvPr id="36" name="Rounded Rectangle 35"/>
          <p:cNvSpPr/>
          <p:nvPr/>
        </p:nvSpPr>
        <p:spPr>
          <a:xfrm>
            <a:off x="6309360" y="4498848"/>
            <a:ext cx="1234440" cy="384048"/>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4599432"/>
            <a:ext cx="1143000" cy="16459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32×32</a:t>
            </a:r>
          </a:p>
        </p:txBody>
      </p:sp>
      <p:sp>
        <p:nvSpPr>
          <p:cNvPr id="38" name="Rounded Rectangle 37"/>
          <p:cNvSpPr/>
          <p:nvPr/>
        </p:nvSpPr>
        <p:spPr>
          <a:xfrm>
            <a:off x="7818120" y="4498848"/>
            <a:ext cx="1234440" cy="384048"/>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4599432"/>
            <a:ext cx="1143000" cy="16459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64×64</a:t>
            </a:r>
          </a:p>
        </p:txBody>
      </p:sp>
      <p:sp>
        <p:nvSpPr>
          <p:cNvPr id="40" name="Rounded Rectangle 39"/>
          <p:cNvSpPr/>
          <p:nvPr/>
        </p:nvSpPr>
        <p:spPr>
          <a:xfrm>
            <a:off x="9326880" y="4498848"/>
            <a:ext cx="1234440" cy="384048"/>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4599432"/>
            <a:ext cx="1143000" cy="164592"/>
          </a:xfrm>
          <a:prstGeom prst="rect">
            <a:avLst/>
          </a:prstGeom>
          <a:noFill/>
        </p:spPr>
        <p:txBody>
          <a:bodyPr wrap="square" lIns="36576" rIns="36576" tIns="36576" bIns="36576" anchor="t">
            <a:spAutoFit/>
          </a:bodyPr>
          <a:lstStyle/>
          <a:p>
            <a:pPr algn="ctr">
              <a:spcAft>
                <a:spcPts val="400"/>
              </a:spcAft>
            </a:pPr>
            <a:r>
              <a:rPr sz="1000" b="1" i="0">
                <a:solidFill>
                  <a:srgbClr val="142037"/>
                </a:solidFill>
                <a:latin typeface="Aptos"/>
              </a:rPr>
              <a:t>128×128</a:t>
            </a:r>
          </a:p>
        </p:txBody>
      </p:sp>
      <p:sp>
        <p:nvSpPr>
          <p:cNvPr id="42" name="TextBox 41"/>
          <p:cNvSpPr txBox="1"/>
          <p:nvPr/>
        </p:nvSpPr>
        <p:spPr>
          <a:xfrm>
            <a:off x="841248" y="5623560"/>
            <a:ext cx="10515600" cy="347472"/>
          </a:xfrm>
          <a:prstGeom prst="rect">
            <a:avLst/>
          </a:prstGeom>
          <a:noFill/>
        </p:spPr>
        <p:txBody>
          <a:bodyPr wrap="square" lIns="36576" rIns="36576" tIns="36576" bIns="36576" anchor="t">
            <a:spAutoFit/>
          </a:bodyPr>
          <a:lstStyle/>
          <a:p>
            <a:pPr algn="l">
              <a:spcAft>
                <a:spcPts val="400"/>
              </a:spcAft>
            </a:pPr>
            <a:r>
              <a:rPr sz="1100" b="1" i="0">
                <a:solidFill>
                  <a:srgbClr val="142037"/>
                </a:solidFill>
                <a:latin typeface="Aptos"/>
              </a:rPr>
              <a:t>Không có phép chiếu 3D → 2D ở bước này: normal map đã là biểu diễn ảnh 2D.</a:t>
            </a:r>
          </a:p>
        </p:txBody>
      </p:sp>
      <p:cxnSp>
        <p:nvCxnSpPr>
          <p:cNvPr id="43" name="Connector 42"/>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04 • TRAINING</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GReg tối ưu chất lượng toàn khung và chi tiết vùng</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Bốn loss phối hợp: perceptual toàn ảnh, perceptual vùng, cấu trúc đường viền và đối kháng.</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09 / 10</a:t>
            </a:r>
          </a:p>
        </p:txBody>
      </p:sp>
      <p:sp>
        <p:nvSpPr>
          <p:cNvPr id="6" name="Rounded Rectangle 5"/>
          <p:cNvSpPr/>
          <p:nvPr/>
        </p:nvSpPr>
        <p:spPr>
          <a:xfrm>
            <a:off x="658368" y="1719072"/>
            <a:ext cx="10881360" cy="676656"/>
          </a:xfrm>
          <a:prstGeom prst="roundRect">
            <a:avLst>
              <a:gd name="adj" fmla="val 12000"/>
            </a:avLst>
          </a:prstGeom>
          <a:solidFill>
            <a:srgbClr val="142037"/>
          </a:solidFill>
          <a:ln>
            <a:solidFill>
              <a:srgbClr val="142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20240"/>
            <a:ext cx="10378440" cy="274320"/>
          </a:xfrm>
          <a:prstGeom prst="rect">
            <a:avLst/>
          </a:prstGeom>
          <a:noFill/>
        </p:spPr>
        <p:txBody>
          <a:bodyPr wrap="square" lIns="36576" rIns="36576" tIns="36576" bIns="36576" anchor="t">
            <a:spAutoFit/>
          </a:bodyPr>
          <a:lstStyle/>
          <a:p>
            <a:pPr algn="ctr">
              <a:spcAft>
                <a:spcPts val="400"/>
              </a:spcAft>
            </a:pPr>
            <a:r>
              <a:rPr sz="1600" b="1" i="0">
                <a:solidFill>
                  <a:srgbClr val="FFFFFF"/>
                </a:solidFill>
                <a:latin typeface="Aptos"/>
              </a:rPr>
              <a:t>L = λper·Lper + λr-per·Lr-per + λstruct·Lstruct + λadv·Ladv</a:t>
            </a:r>
          </a:p>
        </p:txBody>
      </p:sp>
      <p:sp>
        <p:nvSpPr>
          <p:cNvPr id="8" name="Rounded Rectangle 7"/>
          <p:cNvSpPr/>
          <p:nvPr/>
        </p:nvSpPr>
        <p:spPr>
          <a:xfrm>
            <a:off x="713232" y="2697480"/>
            <a:ext cx="2542032" cy="141732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2862072"/>
            <a:ext cx="201168" cy="201168"/>
          </a:xfrm>
          <a:prstGeom prst="ellipse">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843784"/>
            <a:ext cx="1947672"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Lper</a:t>
            </a:r>
          </a:p>
        </p:txBody>
      </p:sp>
      <p:sp>
        <p:nvSpPr>
          <p:cNvPr id="11" name="TextBox 10"/>
          <p:cNvSpPr txBox="1"/>
          <p:nvPr/>
        </p:nvSpPr>
        <p:spPr>
          <a:xfrm>
            <a:off x="877824" y="3200400"/>
            <a:ext cx="2221991" cy="228600"/>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VGG-19 • full frame</a:t>
            </a:r>
          </a:p>
        </p:txBody>
      </p:sp>
      <p:sp>
        <p:nvSpPr>
          <p:cNvPr id="12" name="TextBox 11"/>
          <p:cNvSpPr txBox="1"/>
          <p:nvPr/>
        </p:nvSpPr>
        <p:spPr>
          <a:xfrm>
            <a:off x="877824" y="3520440"/>
            <a:ext cx="2221991" cy="438912"/>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Nội dung / kết cấu tổng thể</a:t>
            </a:r>
          </a:p>
        </p:txBody>
      </p:sp>
      <p:sp>
        <p:nvSpPr>
          <p:cNvPr id="13" name="Rounded Rectangle 12"/>
          <p:cNvSpPr/>
          <p:nvPr/>
        </p:nvSpPr>
        <p:spPr>
          <a:xfrm>
            <a:off x="3447288" y="2697480"/>
            <a:ext cx="2542032" cy="141732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11880" y="2862072"/>
            <a:ext cx="201168" cy="201168"/>
          </a:xfrm>
          <a:prstGeom prst="ellipse">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2776" y="2843784"/>
            <a:ext cx="1947672"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Lr-per</a:t>
            </a:r>
          </a:p>
        </p:txBody>
      </p:sp>
      <p:sp>
        <p:nvSpPr>
          <p:cNvPr id="16" name="TextBox 15"/>
          <p:cNvSpPr txBox="1"/>
          <p:nvPr/>
        </p:nvSpPr>
        <p:spPr>
          <a:xfrm>
            <a:off x="3611880" y="3200400"/>
            <a:ext cx="2221991" cy="228600"/>
          </a:xfrm>
          <a:prstGeom prst="rect">
            <a:avLst/>
          </a:prstGeom>
          <a:noFill/>
        </p:spPr>
        <p:txBody>
          <a:bodyPr wrap="square" lIns="36576" rIns="36576" tIns="36576" bIns="36576" anchor="t">
            <a:spAutoFit/>
          </a:bodyPr>
          <a:lstStyle/>
          <a:p>
            <a:pPr algn="l">
              <a:spcAft>
                <a:spcPts val="400"/>
              </a:spcAft>
            </a:pPr>
            <a:r>
              <a:rPr sz="900" b="1" i="0">
                <a:solidFill>
                  <a:srgbClr val="5BC4D2"/>
                </a:solidFill>
                <a:latin typeface="Aptos"/>
              </a:rPr>
              <a:t>VGG-19 • face + hands</a:t>
            </a:r>
          </a:p>
        </p:txBody>
      </p:sp>
      <p:sp>
        <p:nvSpPr>
          <p:cNvPr id="17" name="TextBox 16"/>
          <p:cNvSpPr txBox="1"/>
          <p:nvPr/>
        </p:nvSpPr>
        <p:spPr>
          <a:xfrm>
            <a:off x="3611880" y="3520440"/>
            <a:ext cx="2221991" cy="438912"/>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Nhấn mạnh vùng nhỏ, giàu thông tin</a:t>
            </a:r>
          </a:p>
        </p:txBody>
      </p:sp>
      <p:sp>
        <p:nvSpPr>
          <p:cNvPr id="18" name="Rounded Rectangle 17"/>
          <p:cNvSpPr/>
          <p:nvPr/>
        </p:nvSpPr>
        <p:spPr>
          <a:xfrm>
            <a:off x="6181344" y="2697480"/>
            <a:ext cx="2542032" cy="141732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45936" y="2862072"/>
            <a:ext cx="201168" cy="201168"/>
          </a:xfrm>
          <a:prstGeom prst="ellipse">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6831" y="2843784"/>
            <a:ext cx="1947672"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Lstruct</a:t>
            </a:r>
          </a:p>
        </p:txBody>
      </p:sp>
      <p:sp>
        <p:nvSpPr>
          <p:cNvPr id="21" name="TextBox 20"/>
          <p:cNvSpPr txBox="1"/>
          <p:nvPr/>
        </p:nvSpPr>
        <p:spPr>
          <a:xfrm>
            <a:off x="6345936" y="3200400"/>
            <a:ext cx="2221991" cy="228600"/>
          </a:xfrm>
          <a:prstGeom prst="rect">
            <a:avLst/>
          </a:prstGeom>
          <a:noFill/>
        </p:spPr>
        <p:txBody>
          <a:bodyPr wrap="square" lIns="36576" rIns="36576" tIns="36576" bIns="36576" anchor="t">
            <a:spAutoFit/>
          </a:bodyPr>
          <a:lstStyle/>
          <a:p>
            <a:pPr algn="l">
              <a:spcAft>
                <a:spcPts val="400"/>
              </a:spcAft>
            </a:pPr>
            <a:r>
              <a:rPr sz="900" b="1" i="0">
                <a:solidFill>
                  <a:srgbClr val="F2B74A"/>
                </a:solidFill>
                <a:latin typeface="Aptos"/>
              </a:rPr>
              <a:t>Predicted vs. real contour</a:t>
            </a:r>
          </a:p>
        </p:txBody>
      </p:sp>
      <p:sp>
        <p:nvSpPr>
          <p:cNvPr id="22" name="TextBox 21"/>
          <p:cNvSpPr txBox="1"/>
          <p:nvPr/>
        </p:nvSpPr>
        <p:spPr>
          <a:xfrm>
            <a:off x="6345936" y="3520440"/>
            <a:ext cx="2221991" cy="438912"/>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Học chuyên gia vùng dự đoán biên</a:t>
            </a:r>
          </a:p>
        </p:txBody>
      </p:sp>
      <p:sp>
        <p:nvSpPr>
          <p:cNvPr id="23" name="Rounded Rectangle 22"/>
          <p:cNvSpPr/>
          <p:nvPr/>
        </p:nvSpPr>
        <p:spPr>
          <a:xfrm>
            <a:off x="8915400" y="2697480"/>
            <a:ext cx="2542032" cy="141732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079992" y="2862072"/>
            <a:ext cx="201168" cy="201168"/>
          </a:xfrm>
          <a:prstGeom prst="ellipse">
            <a:avLst/>
          </a:prstGeom>
          <a:solidFill>
            <a:srgbClr val="DB5F60"/>
          </a:solidFill>
          <a:ln>
            <a:solidFill>
              <a:srgbClr val="DB5F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90888" y="2843784"/>
            <a:ext cx="1947672"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Ladv</a:t>
            </a:r>
          </a:p>
        </p:txBody>
      </p:sp>
      <p:sp>
        <p:nvSpPr>
          <p:cNvPr id="26" name="TextBox 25"/>
          <p:cNvSpPr txBox="1"/>
          <p:nvPr/>
        </p:nvSpPr>
        <p:spPr>
          <a:xfrm>
            <a:off x="9079992" y="3200400"/>
            <a:ext cx="2221991" cy="228600"/>
          </a:xfrm>
          <a:prstGeom prst="rect">
            <a:avLst/>
          </a:prstGeom>
          <a:noFill/>
        </p:spPr>
        <p:txBody>
          <a:bodyPr wrap="square" lIns="36576" rIns="36576" tIns="36576" bIns="36576" anchor="t">
            <a:spAutoFit/>
          </a:bodyPr>
          <a:lstStyle/>
          <a:p>
            <a:pPr algn="l">
              <a:spcAft>
                <a:spcPts val="400"/>
              </a:spcAft>
            </a:pPr>
            <a:r>
              <a:rPr sz="900" b="1" i="0">
                <a:solidFill>
                  <a:srgbClr val="DB5F60"/>
                </a:solidFill>
                <a:latin typeface="Aptos"/>
              </a:rPr>
              <a:t>3 PatchGAN discriminators</a:t>
            </a:r>
          </a:p>
        </p:txBody>
      </p:sp>
      <p:sp>
        <p:nvSpPr>
          <p:cNvPr id="27" name="TextBox 26"/>
          <p:cNvSpPr txBox="1"/>
          <p:nvPr/>
        </p:nvSpPr>
        <p:spPr>
          <a:xfrm>
            <a:off x="9079992" y="3520440"/>
            <a:ext cx="2221991" cy="438912"/>
          </a:xfrm>
          <a:prstGeom prst="rect">
            <a:avLst/>
          </a:prstGeom>
          <a:noFill/>
        </p:spPr>
        <p:txBody>
          <a:bodyPr wrap="square" lIns="36576" rIns="36576" tIns="36576" bIns="36576" anchor="t">
            <a:spAutoFit/>
          </a:bodyPr>
          <a:lstStyle/>
          <a:p>
            <a:pPr algn="l">
              <a:spcAft>
                <a:spcPts val="400"/>
              </a:spcAft>
            </a:pPr>
            <a:r>
              <a:rPr sz="1050" b="0" i="0">
                <a:solidFill>
                  <a:srgbClr val="253041"/>
                </a:solidFill>
                <a:latin typeface="Aptos"/>
              </a:rPr>
              <a:t>Tăng độ sắc nét / tính chân thực vùng</a:t>
            </a:r>
          </a:p>
        </p:txBody>
      </p:sp>
      <p:sp>
        <p:nvSpPr>
          <p:cNvPr id="28" name="Rounded Rectangle 27"/>
          <p:cNvSpPr/>
          <p:nvPr/>
        </p:nvSpPr>
        <p:spPr>
          <a:xfrm>
            <a:off x="713232" y="4462272"/>
            <a:ext cx="10716768" cy="1097280"/>
          </a:xfrm>
          <a:prstGeom prst="roundRect">
            <a:avLst>
              <a:gd name="adj" fmla="val 12000"/>
            </a:avLst>
          </a:prstGeom>
          <a:solidFill>
            <a:srgbClr val="E8EFF9"/>
          </a:solidFill>
          <a:ln>
            <a:solidFill>
              <a:srgbClr val="E8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645152"/>
            <a:ext cx="1920240" cy="228600"/>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PAPER SETUP</a:t>
            </a:r>
          </a:p>
        </p:txBody>
      </p:sp>
      <p:sp>
        <p:nvSpPr>
          <p:cNvPr id="30" name="TextBox 29"/>
          <p:cNvSpPr txBox="1"/>
          <p:nvPr/>
        </p:nvSpPr>
        <p:spPr>
          <a:xfrm>
            <a:off x="932688" y="4965192"/>
            <a:ext cx="1920240" cy="384048"/>
          </a:xfrm>
          <a:prstGeom prst="rect">
            <a:avLst/>
          </a:prstGeom>
          <a:noFill/>
        </p:spPr>
        <p:txBody>
          <a:bodyPr wrap="square" lIns="36576" rIns="36576" tIns="36576" bIns="36576" anchor="t">
            <a:spAutoFit/>
          </a:bodyPr>
          <a:lstStyle/>
          <a:p>
            <a:pPr algn="l">
              <a:spcAft>
                <a:spcPts val="400"/>
              </a:spcAft>
            </a:pPr>
            <a:r>
              <a:rPr sz="1000" b="0" i="0">
                <a:solidFill>
                  <a:srgbClr val="253041"/>
                </a:solidFill>
                <a:latin typeface="Aptos"/>
              </a:rPr>
              <a:t>SignAvatars + How2Sign</a:t>
            </a:r>
          </a:p>
        </p:txBody>
      </p:sp>
      <p:cxnSp>
        <p:nvCxnSpPr>
          <p:cNvPr id="31" name="Connector 30"/>
          <p:cNvCxnSpPr/>
          <p:nvPr/>
        </p:nvCxnSpPr>
        <p:spPr>
          <a:xfrm>
            <a:off x="3063240" y="4617720"/>
            <a:ext cx="0" cy="795528"/>
          </a:xfrm>
          <a:prstGeom prst="line">
            <a:avLst/>
          </a:prstGeom>
          <a:ln w="12700">
            <a:solidFill>
              <a:srgbClr val="C4D0E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10128" y="4645152"/>
            <a:ext cx="1645920" cy="228600"/>
          </a:xfrm>
          <a:prstGeom prst="rect">
            <a:avLst/>
          </a:prstGeom>
          <a:noFill/>
        </p:spPr>
        <p:txBody>
          <a:bodyPr wrap="square" lIns="36576" rIns="36576" tIns="36576" bIns="36576" anchor="t">
            <a:spAutoFit/>
          </a:bodyPr>
          <a:lstStyle/>
          <a:p>
            <a:pPr algn="l">
              <a:spcAft>
                <a:spcPts val="400"/>
              </a:spcAft>
            </a:pPr>
            <a:r>
              <a:rPr sz="900" b="1" i="0">
                <a:solidFill>
                  <a:srgbClr val="657386"/>
                </a:solidFill>
                <a:latin typeface="Aptos"/>
              </a:rPr>
              <a:t>RESOLUTION</a:t>
            </a:r>
          </a:p>
        </p:txBody>
      </p:sp>
      <p:sp>
        <p:nvSpPr>
          <p:cNvPr id="33" name="TextBox 32"/>
          <p:cNvSpPr txBox="1"/>
          <p:nvPr/>
        </p:nvSpPr>
        <p:spPr>
          <a:xfrm>
            <a:off x="3310128" y="4965192"/>
            <a:ext cx="1645920" cy="32004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256 × 256</a:t>
            </a:r>
          </a:p>
        </p:txBody>
      </p:sp>
      <p:cxnSp>
        <p:nvCxnSpPr>
          <p:cNvPr id="34" name="Connector 33"/>
          <p:cNvCxnSpPr/>
          <p:nvPr/>
        </p:nvCxnSpPr>
        <p:spPr>
          <a:xfrm>
            <a:off x="5193792" y="4617720"/>
            <a:ext cx="0" cy="795528"/>
          </a:xfrm>
          <a:prstGeom prst="line">
            <a:avLst/>
          </a:prstGeom>
          <a:ln w="12700">
            <a:solidFill>
              <a:srgbClr val="C4D0E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31536" y="4645152"/>
            <a:ext cx="1463040" cy="228600"/>
          </a:xfrm>
          <a:prstGeom prst="rect">
            <a:avLst/>
          </a:prstGeom>
          <a:noFill/>
        </p:spPr>
        <p:txBody>
          <a:bodyPr wrap="square" lIns="36576" rIns="36576" tIns="36576" bIns="36576" anchor="t">
            <a:spAutoFit/>
          </a:bodyPr>
          <a:lstStyle/>
          <a:p>
            <a:pPr algn="l">
              <a:spcAft>
                <a:spcPts val="400"/>
              </a:spcAft>
            </a:pPr>
            <a:r>
              <a:rPr sz="900" b="1" i="0">
                <a:solidFill>
                  <a:srgbClr val="657386"/>
                </a:solidFill>
                <a:latin typeface="Aptos"/>
              </a:rPr>
              <a:t>TRAINING</a:t>
            </a:r>
          </a:p>
        </p:txBody>
      </p:sp>
      <p:sp>
        <p:nvSpPr>
          <p:cNvPr id="36" name="TextBox 35"/>
          <p:cNvSpPr txBox="1"/>
          <p:nvPr/>
        </p:nvSpPr>
        <p:spPr>
          <a:xfrm>
            <a:off x="5431536" y="4965192"/>
            <a:ext cx="1463040" cy="32004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100 epochs</a:t>
            </a:r>
          </a:p>
        </p:txBody>
      </p:sp>
      <p:cxnSp>
        <p:nvCxnSpPr>
          <p:cNvPr id="37" name="Connector 36"/>
          <p:cNvCxnSpPr/>
          <p:nvPr/>
        </p:nvCxnSpPr>
        <p:spPr>
          <a:xfrm>
            <a:off x="7150608" y="4617720"/>
            <a:ext cx="0" cy="795528"/>
          </a:xfrm>
          <a:prstGeom prst="line">
            <a:avLst/>
          </a:prstGeom>
          <a:ln w="12700">
            <a:solidFill>
              <a:srgbClr val="C4D0E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88352" y="4645152"/>
            <a:ext cx="1280160" cy="228600"/>
          </a:xfrm>
          <a:prstGeom prst="rect">
            <a:avLst/>
          </a:prstGeom>
          <a:noFill/>
        </p:spPr>
        <p:txBody>
          <a:bodyPr wrap="square" lIns="36576" rIns="36576" tIns="36576" bIns="36576" anchor="t">
            <a:spAutoFit/>
          </a:bodyPr>
          <a:lstStyle/>
          <a:p>
            <a:pPr algn="l">
              <a:spcAft>
                <a:spcPts val="400"/>
              </a:spcAft>
            </a:pPr>
            <a:r>
              <a:rPr sz="900" b="1" i="0">
                <a:solidFill>
                  <a:srgbClr val="657386"/>
                </a:solidFill>
                <a:latin typeface="Aptos"/>
              </a:rPr>
              <a:t>OPTIMIZER</a:t>
            </a:r>
          </a:p>
        </p:txBody>
      </p:sp>
      <p:sp>
        <p:nvSpPr>
          <p:cNvPr id="39" name="TextBox 38"/>
          <p:cNvSpPr txBox="1"/>
          <p:nvPr/>
        </p:nvSpPr>
        <p:spPr>
          <a:xfrm>
            <a:off x="7388352" y="4965192"/>
            <a:ext cx="1280160" cy="32004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Adam</a:t>
            </a:r>
          </a:p>
        </p:txBody>
      </p:sp>
      <p:cxnSp>
        <p:nvCxnSpPr>
          <p:cNvPr id="40" name="Connector 39"/>
          <p:cNvCxnSpPr/>
          <p:nvPr/>
        </p:nvCxnSpPr>
        <p:spPr>
          <a:xfrm>
            <a:off x="8942832" y="4617720"/>
            <a:ext cx="0" cy="795528"/>
          </a:xfrm>
          <a:prstGeom prst="line">
            <a:avLst/>
          </a:prstGeom>
          <a:ln w="12700">
            <a:solidFill>
              <a:srgbClr val="C4D0E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162288" y="4645152"/>
            <a:ext cx="1965960" cy="228600"/>
          </a:xfrm>
          <a:prstGeom prst="rect">
            <a:avLst/>
          </a:prstGeom>
          <a:noFill/>
        </p:spPr>
        <p:txBody>
          <a:bodyPr wrap="square" lIns="36576" rIns="36576" tIns="36576" bIns="36576" anchor="t">
            <a:spAutoFit/>
          </a:bodyPr>
          <a:lstStyle/>
          <a:p>
            <a:pPr algn="l">
              <a:spcAft>
                <a:spcPts val="400"/>
              </a:spcAft>
            </a:pPr>
            <a:r>
              <a:rPr sz="900" b="1" i="0">
                <a:solidFill>
                  <a:srgbClr val="657386"/>
                </a:solidFill>
                <a:latin typeface="Aptos"/>
              </a:rPr>
              <a:t>REPORTED HARDWARE</a:t>
            </a:r>
          </a:p>
        </p:txBody>
      </p:sp>
      <p:sp>
        <p:nvSpPr>
          <p:cNvPr id="42" name="TextBox 41"/>
          <p:cNvSpPr txBox="1"/>
          <p:nvPr/>
        </p:nvSpPr>
        <p:spPr>
          <a:xfrm>
            <a:off x="9162288" y="4965192"/>
            <a:ext cx="1965960" cy="320040"/>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1 × RTX 3090</a:t>
            </a:r>
          </a:p>
        </p:txBody>
      </p:sp>
      <p:sp>
        <p:nvSpPr>
          <p:cNvPr id="43" name="TextBox 42"/>
          <p:cNvSpPr txBox="1"/>
          <p:nvPr/>
        </p:nvSpPr>
        <p:spPr>
          <a:xfrm>
            <a:off x="841248" y="5806440"/>
            <a:ext cx="10332720" cy="320040"/>
          </a:xfrm>
          <a:prstGeom prst="rect">
            <a:avLst/>
          </a:prstGeom>
          <a:noFill/>
        </p:spPr>
        <p:txBody>
          <a:bodyPr wrap="square" lIns="36576" rIns="36576" tIns="36576" bIns="36576" anchor="t">
            <a:spAutoFit/>
          </a:bodyPr>
          <a:lstStyle/>
          <a:p>
            <a:pPr algn="l">
              <a:spcAft>
                <a:spcPts val="400"/>
              </a:spcAft>
            </a:pPr>
            <a:r>
              <a:rPr sz="1000" b="0" i="0">
                <a:solidFill>
                  <a:srgbClr val="657386"/>
                </a:solidFill>
                <a:latin typeface="Aptos"/>
              </a:rPr>
              <a:t>Learning rate: 2e−4; giảm 10× tại epoch 70 và 90. Mỗi video lấy ngẫu nhiên một cặp khung nguồn–đích.</a:t>
            </a:r>
          </a:p>
        </p:txBody>
      </p:sp>
      <p:cxnSp>
        <p:nvCxnSpPr>
          <p:cNvPr id="44" name="Connector 43"/>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Research proposal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66928" y="274320"/>
            <a:ext cx="9966960" cy="256032"/>
          </a:xfrm>
          <a:prstGeom prst="rect">
            <a:avLst/>
          </a:prstGeom>
          <a:noFill/>
        </p:spPr>
        <p:txBody>
          <a:bodyPr wrap="square" lIns="36576" rIns="36576" tIns="36576" bIns="36576" anchor="t">
            <a:spAutoFit/>
          </a:bodyPr>
          <a:lstStyle/>
          <a:p>
            <a:pPr algn="l">
              <a:spcAft>
                <a:spcPts val="400"/>
              </a:spcAft>
            </a:pPr>
            <a:r>
              <a:rPr sz="900" b="1" i="0">
                <a:solidFill>
                  <a:srgbClr val="24AEA0"/>
                </a:solidFill>
                <a:latin typeface="Aptos"/>
              </a:rPr>
              <a:t>05 • RESULTS &amp; NEXT STEPS</a:t>
            </a:r>
          </a:p>
        </p:txBody>
      </p:sp>
      <p:sp>
        <p:nvSpPr>
          <p:cNvPr id="3" name="TextBox 2"/>
          <p:cNvSpPr txBox="1"/>
          <p:nvPr/>
        </p:nvSpPr>
        <p:spPr>
          <a:xfrm>
            <a:off x="566928" y="603504"/>
            <a:ext cx="10972800" cy="530352"/>
          </a:xfrm>
          <a:prstGeom prst="rect">
            <a:avLst/>
          </a:prstGeom>
          <a:noFill/>
        </p:spPr>
        <p:txBody>
          <a:bodyPr wrap="square" lIns="36576" rIns="36576" tIns="36576" bIns="36576" anchor="t">
            <a:spAutoFit/>
          </a:bodyPr>
          <a:lstStyle/>
          <a:p>
            <a:pPr algn="l">
              <a:spcAft>
                <a:spcPts val="400"/>
              </a:spcAft>
            </a:pPr>
            <a:r>
              <a:rPr sz="2500" b="1" i="0">
                <a:solidFill>
                  <a:srgbClr val="142037"/>
                </a:solidFill>
                <a:latin typeface="Aptos Display"/>
              </a:rPr>
              <a:t>Kết quả báo cáo: regional expert tạo khác biệt lớn nhất trong ablation</a:t>
            </a:r>
          </a:p>
        </p:txBody>
      </p:sp>
      <p:sp>
        <p:nvSpPr>
          <p:cNvPr id="4" name="TextBox 3"/>
          <p:cNvSpPr txBox="1"/>
          <p:nvPr/>
        </p:nvSpPr>
        <p:spPr>
          <a:xfrm>
            <a:off x="585216" y="1152144"/>
            <a:ext cx="10972800" cy="347472"/>
          </a:xfrm>
          <a:prstGeom prst="rect">
            <a:avLst/>
          </a:prstGeom>
          <a:noFill/>
        </p:spPr>
        <p:txBody>
          <a:bodyPr wrap="square" lIns="36576" rIns="36576" tIns="36576" bIns="36576" anchor="t">
            <a:spAutoFit/>
          </a:bodyPr>
          <a:lstStyle/>
          <a:p>
            <a:pPr algn="l">
              <a:spcAft>
                <a:spcPts val="400"/>
              </a:spcAft>
            </a:pPr>
            <a:r>
              <a:rPr sz="1100" b="0" i="0">
                <a:solidFill>
                  <a:srgbClr val="657386"/>
                </a:solidFill>
                <a:latin typeface="Aptos"/>
              </a:rPr>
              <a:t>FVD thấp hơn là tốt hơn. Các con số dưới đây được trích theo ghi chú của người trình bày; cần kiểm tra bảng gốc.</a:t>
            </a:r>
          </a:p>
        </p:txBody>
      </p:sp>
      <p:sp>
        <p:nvSpPr>
          <p:cNvPr id="5" name="TextBox 4"/>
          <p:cNvSpPr txBox="1"/>
          <p:nvPr/>
        </p:nvSpPr>
        <p:spPr>
          <a:xfrm>
            <a:off x="11201400" y="320040"/>
            <a:ext cx="411480" cy="228600"/>
          </a:xfrm>
          <a:prstGeom prst="rect">
            <a:avLst/>
          </a:prstGeom>
          <a:noFill/>
        </p:spPr>
        <p:txBody>
          <a:bodyPr wrap="square" lIns="36576" rIns="36576" tIns="36576" bIns="36576" anchor="t">
            <a:spAutoFit/>
          </a:bodyPr>
          <a:lstStyle/>
          <a:p>
            <a:pPr algn="r">
              <a:spcAft>
                <a:spcPts val="400"/>
              </a:spcAft>
            </a:pPr>
            <a:r>
              <a:rPr sz="900" b="1" i="0">
                <a:solidFill>
                  <a:srgbClr val="657386"/>
                </a:solidFill>
                <a:latin typeface="Aptos"/>
              </a:rPr>
              <a:t>10 / 10</a:t>
            </a:r>
          </a:p>
        </p:txBody>
      </p:sp>
      <p:sp>
        <p:nvSpPr>
          <p:cNvPr id="6" name="Rounded Rectangle 5"/>
          <p:cNvSpPr/>
          <p:nvPr/>
        </p:nvSpPr>
        <p:spPr>
          <a:xfrm>
            <a:off x="658368" y="1719072"/>
            <a:ext cx="5166360" cy="306324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01952"/>
            <a:ext cx="4572000"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FVD • comparison</a:t>
            </a:r>
          </a:p>
        </p:txBody>
      </p:sp>
      <p:sp>
        <p:nvSpPr>
          <p:cNvPr id="8" name="TextBox 7"/>
          <p:cNvSpPr txBox="1"/>
          <p:nvPr/>
        </p:nvSpPr>
        <p:spPr>
          <a:xfrm>
            <a:off x="896112" y="2340864"/>
            <a:ext cx="82296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GReg</a:t>
            </a:r>
          </a:p>
        </p:txBody>
      </p:sp>
      <p:sp>
        <p:nvSpPr>
          <p:cNvPr id="9" name="Rounded Rectangle 8"/>
          <p:cNvSpPr/>
          <p:nvPr/>
        </p:nvSpPr>
        <p:spPr>
          <a:xfrm>
            <a:off x="1783080" y="2359152"/>
            <a:ext cx="2048720" cy="182880"/>
          </a:xfrm>
          <a:prstGeom prst="roundRect">
            <a:avLst>
              <a:gd name="adj" fmla="val 12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2340864"/>
            <a:ext cx="548640" cy="201168"/>
          </a:xfrm>
          <a:prstGeom prst="rect">
            <a:avLst/>
          </a:prstGeom>
          <a:noFill/>
        </p:spPr>
        <p:txBody>
          <a:bodyPr wrap="square" lIns="36576" rIns="36576" tIns="36576" bIns="36576" anchor="t">
            <a:spAutoFit/>
          </a:bodyPr>
          <a:lstStyle/>
          <a:p>
            <a:pPr algn="r">
              <a:spcAft>
                <a:spcPts val="400"/>
              </a:spcAft>
            </a:pPr>
            <a:r>
              <a:rPr sz="900" b="1" i="0">
                <a:solidFill>
                  <a:srgbClr val="142037"/>
                </a:solidFill>
                <a:latin typeface="Aptos"/>
              </a:rPr>
              <a:t>391.3</a:t>
            </a:r>
          </a:p>
        </p:txBody>
      </p:sp>
      <p:sp>
        <p:nvSpPr>
          <p:cNvPr id="11" name="TextBox 10"/>
          <p:cNvSpPr txBox="1"/>
          <p:nvPr/>
        </p:nvSpPr>
        <p:spPr>
          <a:xfrm>
            <a:off x="896112" y="2816352"/>
            <a:ext cx="82296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PGMM</a:t>
            </a:r>
          </a:p>
        </p:txBody>
      </p:sp>
      <p:sp>
        <p:nvSpPr>
          <p:cNvPr id="12" name="Rounded Rectangle 11"/>
          <p:cNvSpPr/>
          <p:nvPr/>
        </p:nvSpPr>
        <p:spPr>
          <a:xfrm>
            <a:off x="1783080" y="2834640"/>
            <a:ext cx="2378044" cy="182880"/>
          </a:xfrm>
          <a:prstGeom prst="roundRect">
            <a:avLst>
              <a:gd name="adj" fmla="val 12000"/>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2816352"/>
            <a:ext cx="548640" cy="201168"/>
          </a:xfrm>
          <a:prstGeom prst="rect">
            <a:avLst/>
          </a:prstGeom>
          <a:noFill/>
        </p:spPr>
        <p:txBody>
          <a:bodyPr wrap="square" lIns="36576" rIns="36576" tIns="36576" bIns="36576" anchor="t">
            <a:spAutoFit/>
          </a:bodyPr>
          <a:lstStyle/>
          <a:p>
            <a:pPr algn="r">
              <a:spcAft>
                <a:spcPts val="400"/>
              </a:spcAft>
            </a:pPr>
            <a:r>
              <a:rPr sz="900" b="1" i="0">
                <a:solidFill>
                  <a:srgbClr val="142037"/>
                </a:solidFill>
                <a:latin typeface="Aptos"/>
              </a:rPr>
              <a:t>454.2</a:t>
            </a:r>
          </a:p>
        </p:txBody>
      </p:sp>
      <p:sp>
        <p:nvSpPr>
          <p:cNvPr id="14" name="TextBox 13"/>
          <p:cNvSpPr txBox="1"/>
          <p:nvPr/>
        </p:nvSpPr>
        <p:spPr>
          <a:xfrm>
            <a:off x="896112" y="3291840"/>
            <a:ext cx="82296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NTED</a:t>
            </a:r>
          </a:p>
        </p:txBody>
      </p:sp>
      <p:sp>
        <p:nvSpPr>
          <p:cNvPr id="15" name="Rounded Rectangle 14"/>
          <p:cNvSpPr/>
          <p:nvPr/>
        </p:nvSpPr>
        <p:spPr>
          <a:xfrm>
            <a:off x="1783080" y="3310128"/>
            <a:ext cx="2904753" cy="182880"/>
          </a:xfrm>
          <a:prstGeom prst="roundRect">
            <a:avLst>
              <a:gd name="adj" fmla="val 12000"/>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3291840"/>
            <a:ext cx="548640" cy="201168"/>
          </a:xfrm>
          <a:prstGeom prst="rect">
            <a:avLst/>
          </a:prstGeom>
          <a:noFill/>
        </p:spPr>
        <p:txBody>
          <a:bodyPr wrap="square" lIns="36576" rIns="36576" tIns="36576" bIns="36576" anchor="t">
            <a:spAutoFit/>
          </a:bodyPr>
          <a:lstStyle/>
          <a:p>
            <a:pPr algn="r">
              <a:spcAft>
                <a:spcPts val="400"/>
              </a:spcAft>
            </a:pPr>
            <a:r>
              <a:rPr sz="900" b="1" i="0">
                <a:solidFill>
                  <a:srgbClr val="142037"/>
                </a:solidFill>
                <a:latin typeface="Aptos"/>
              </a:rPr>
              <a:t>554.8</a:t>
            </a:r>
          </a:p>
        </p:txBody>
      </p:sp>
      <p:sp>
        <p:nvSpPr>
          <p:cNvPr id="17" name="TextBox 16"/>
          <p:cNvSpPr txBox="1"/>
          <p:nvPr/>
        </p:nvSpPr>
        <p:spPr>
          <a:xfrm>
            <a:off x="896112" y="3767328"/>
            <a:ext cx="822960" cy="201168"/>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SignGAN</a:t>
            </a:r>
          </a:p>
        </p:txBody>
      </p:sp>
      <p:sp>
        <p:nvSpPr>
          <p:cNvPr id="18" name="Rounded Rectangle 17"/>
          <p:cNvSpPr/>
          <p:nvPr/>
        </p:nvSpPr>
        <p:spPr>
          <a:xfrm>
            <a:off x="1783080" y="3785615"/>
            <a:ext cx="3049258" cy="182880"/>
          </a:xfrm>
          <a:prstGeom prst="roundRect">
            <a:avLst>
              <a:gd name="adj" fmla="val 12000"/>
            </a:avLst>
          </a:prstGeom>
          <a:solidFill>
            <a:srgbClr val="DB5F60"/>
          </a:solidFill>
          <a:ln>
            <a:solidFill>
              <a:srgbClr val="DB5F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4920" y="3767328"/>
            <a:ext cx="548640" cy="201168"/>
          </a:xfrm>
          <a:prstGeom prst="rect">
            <a:avLst/>
          </a:prstGeom>
          <a:noFill/>
        </p:spPr>
        <p:txBody>
          <a:bodyPr wrap="square" lIns="36576" rIns="36576" tIns="36576" bIns="36576" anchor="t">
            <a:spAutoFit/>
          </a:bodyPr>
          <a:lstStyle/>
          <a:p>
            <a:pPr algn="r">
              <a:spcAft>
                <a:spcPts val="400"/>
              </a:spcAft>
            </a:pPr>
            <a:r>
              <a:rPr sz="900" b="1" i="0">
                <a:solidFill>
                  <a:srgbClr val="142037"/>
                </a:solidFill>
                <a:latin typeface="Aptos"/>
              </a:rPr>
              <a:t>582.4</a:t>
            </a:r>
          </a:p>
        </p:txBody>
      </p:sp>
      <p:sp>
        <p:nvSpPr>
          <p:cNvPr id="20" name="TextBox 19"/>
          <p:cNvSpPr txBox="1"/>
          <p:nvPr/>
        </p:nvSpPr>
        <p:spPr>
          <a:xfrm>
            <a:off x="896112" y="4325112"/>
            <a:ext cx="4480560" cy="237744"/>
          </a:xfrm>
          <a:prstGeom prst="rect">
            <a:avLst/>
          </a:prstGeom>
          <a:noFill/>
        </p:spPr>
        <p:txBody>
          <a:bodyPr wrap="square" lIns="36576" rIns="36576" tIns="36576" bIns="36576" anchor="t">
            <a:spAutoFit/>
          </a:bodyPr>
          <a:lstStyle/>
          <a:p>
            <a:pPr algn="l">
              <a:spcAft>
                <a:spcPts val="400"/>
              </a:spcAft>
            </a:pPr>
            <a:r>
              <a:rPr sz="900" b="0" i="1">
                <a:solidFill>
                  <a:srgbClr val="657386"/>
                </a:solidFill>
                <a:latin typeface="Aptos"/>
              </a:rPr>
              <a:t>Lower is better</a:t>
            </a:r>
          </a:p>
        </p:txBody>
      </p:sp>
      <p:sp>
        <p:nvSpPr>
          <p:cNvPr id="21" name="Rounded Rectangle 20"/>
          <p:cNvSpPr/>
          <p:nvPr/>
        </p:nvSpPr>
        <p:spPr>
          <a:xfrm>
            <a:off x="6053328" y="1719072"/>
            <a:ext cx="5468112" cy="3063240"/>
          </a:xfrm>
          <a:prstGeom prst="roundRect">
            <a:avLst>
              <a:gd name="adj" fmla="val 12000"/>
            </a:avLst>
          </a:prstGeom>
          <a:solidFill>
            <a:srgbClr val="FFFFFF"/>
          </a:solidFill>
          <a:ln>
            <a:solidFill>
              <a:srgbClr val="DC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91072" y="1901952"/>
            <a:ext cx="4846320" cy="256032"/>
          </a:xfrm>
          <a:prstGeom prst="rect">
            <a:avLst/>
          </a:prstGeom>
          <a:noFill/>
        </p:spPr>
        <p:txBody>
          <a:bodyPr wrap="square" lIns="36576" rIns="36576" tIns="36576" bIns="36576" anchor="t">
            <a:spAutoFit/>
          </a:bodyPr>
          <a:lstStyle/>
          <a:p>
            <a:pPr algn="l">
              <a:spcAft>
                <a:spcPts val="400"/>
              </a:spcAft>
            </a:pPr>
            <a:r>
              <a:rPr sz="1400" b="1" i="0">
                <a:solidFill>
                  <a:srgbClr val="142037"/>
                </a:solidFill>
                <a:latin typeface="Aptos"/>
              </a:rPr>
              <a:t>Ablation • FVD</a:t>
            </a:r>
          </a:p>
        </p:txBody>
      </p:sp>
      <p:sp>
        <p:nvSpPr>
          <p:cNvPr id="23" name="TextBox 22"/>
          <p:cNvSpPr txBox="1"/>
          <p:nvPr/>
        </p:nvSpPr>
        <p:spPr>
          <a:xfrm>
            <a:off x="6309360" y="2249424"/>
            <a:ext cx="1508760" cy="201168"/>
          </a:xfrm>
          <a:prstGeom prst="rect">
            <a:avLst/>
          </a:prstGeom>
          <a:noFill/>
        </p:spPr>
        <p:txBody>
          <a:bodyPr wrap="square" lIns="36576" rIns="36576" tIns="36576" bIns="36576" anchor="t">
            <a:spAutoFit/>
          </a:bodyPr>
          <a:lstStyle/>
          <a:p>
            <a:pPr algn="l">
              <a:spcAft>
                <a:spcPts val="400"/>
              </a:spcAft>
            </a:pPr>
            <a:r>
              <a:rPr sz="880" b="1" i="0">
                <a:solidFill>
                  <a:srgbClr val="142037"/>
                </a:solidFill>
                <a:latin typeface="Aptos"/>
              </a:rPr>
              <a:t>Full GReg</a:t>
            </a:r>
          </a:p>
        </p:txBody>
      </p:sp>
      <p:sp>
        <p:nvSpPr>
          <p:cNvPr id="24" name="Rounded Rectangle 23"/>
          <p:cNvSpPr/>
          <p:nvPr/>
        </p:nvSpPr>
        <p:spPr>
          <a:xfrm>
            <a:off x="7863840" y="2267712"/>
            <a:ext cx="784344" cy="146304"/>
          </a:xfrm>
          <a:prstGeom prst="roundRect">
            <a:avLst>
              <a:gd name="adj" fmla="val 12000"/>
            </a:avLst>
          </a:prstGeom>
          <a:solidFill>
            <a:srgbClr val="24AEA0"/>
          </a:solidFill>
          <a:ln>
            <a:solidFill>
              <a:srgbClr val="24A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42448" y="224942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391.3</a:t>
            </a:r>
          </a:p>
        </p:txBody>
      </p:sp>
      <p:sp>
        <p:nvSpPr>
          <p:cNvPr id="26" name="TextBox 25"/>
          <p:cNvSpPr txBox="1"/>
          <p:nvPr/>
        </p:nvSpPr>
        <p:spPr>
          <a:xfrm>
            <a:off x="6309360" y="261518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Bright dots</a:t>
            </a:r>
          </a:p>
        </p:txBody>
      </p:sp>
      <p:sp>
        <p:nvSpPr>
          <p:cNvPr id="27" name="Rounded Rectangle 26"/>
          <p:cNvSpPr/>
          <p:nvPr/>
        </p:nvSpPr>
        <p:spPr>
          <a:xfrm>
            <a:off x="7863840" y="2633472"/>
            <a:ext cx="1183163" cy="146304"/>
          </a:xfrm>
          <a:prstGeom prst="roundRect">
            <a:avLst>
              <a:gd name="adj" fmla="val 12000"/>
            </a:avLst>
          </a:prstGeom>
          <a:solidFill>
            <a:srgbClr val="5BC4D2"/>
          </a:solidFill>
          <a:ln>
            <a:solidFill>
              <a:srgbClr val="5BC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2448" y="261518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412.3</a:t>
            </a:r>
          </a:p>
        </p:txBody>
      </p:sp>
      <p:sp>
        <p:nvSpPr>
          <p:cNvPr id="29" name="TextBox 28"/>
          <p:cNvSpPr txBox="1"/>
          <p:nvPr/>
        </p:nvSpPr>
        <p:spPr>
          <a:xfrm>
            <a:off x="6309360" y="298094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Stick skeleton</a:t>
            </a:r>
          </a:p>
        </p:txBody>
      </p:sp>
      <p:sp>
        <p:nvSpPr>
          <p:cNvPr id="30" name="Rounded Rectangle 29"/>
          <p:cNvSpPr/>
          <p:nvPr/>
        </p:nvSpPr>
        <p:spPr>
          <a:xfrm>
            <a:off x="7863840" y="2999232"/>
            <a:ext cx="1369278" cy="146304"/>
          </a:xfrm>
          <a:prstGeom prst="roundRect">
            <a:avLst>
              <a:gd name="adj" fmla="val 12000"/>
            </a:avLst>
          </a:prstGeom>
          <a:solidFill>
            <a:srgbClr val="F2B74A"/>
          </a:solidFill>
          <a:ln>
            <a:solidFill>
              <a:srgbClr val="F2B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42448" y="298094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422.1</a:t>
            </a:r>
          </a:p>
        </p:txBody>
      </p:sp>
      <p:sp>
        <p:nvSpPr>
          <p:cNvPr id="32" name="TextBox 31"/>
          <p:cNvSpPr txBox="1"/>
          <p:nvPr/>
        </p:nvSpPr>
        <p:spPr>
          <a:xfrm>
            <a:off x="6309360" y="334670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No discriminator</a:t>
            </a:r>
          </a:p>
        </p:txBody>
      </p:sp>
      <p:sp>
        <p:nvSpPr>
          <p:cNvPr id="33" name="Rounded Rectangle 32"/>
          <p:cNvSpPr/>
          <p:nvPr/>
        </p:nvSpPr>
        <p:spPr>
          <a:xfrm>
            <a:off x="7863840" y="3364992"/>
            <a:ext cx="1606671" cy="146304"/>
          </a:xfrm>
          <a:prstGeom prst="roundRect">
            <a:avLst>
              <a:gd name="adj" fmla="val 12000"/>
            </a:avLst>
          </a:prstGeom>
          <a:solidFill>
            <a:srgbClr val="DB5F60"/>
          </a:solidFill>
          <a:ln>
            <a:solidFill>
              <a:srgbClr val="DB5F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42448" y="334670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434.6</a:t>
            </a:r>
          </a:p>
        </p:txBody>
      </p:sp>
      <p:sp>
        <p:nvSpPr>
          <p:cNvPr id="35" name="TextBox 34"/>
          <p:cNvSpPr txBox="1"/>
          <p:nvPr/>
        </p:nvSpPr>
        <p:spPr>
          <a:xfrm>
            <a:off x="6309360" y="371246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No GRM</a:t>
            </a:r>
          </a:p>
        </p:txBody>
      </p:sp>
      <p:sp>
        <p:nvSpPr>
          <p:cNvPr id="36" name="Rounded Rectangle 35"/>
          <p:cNvSpPr/>
          <p:nvPr/>
        </p:nvSpPr>
        <p:spPr>
          <a:xfrm>
            <a:off x="7863840" y="3730752"/>
            <a:ext cx="1735812" cy="146304"/>
          </a:xfrm>
          <a:prstGeom prst="roundRect">
            <a:avLst>
              <a:gd name="adj" fmla="val 12000"/>
            </a:avLst>
          </a:prstGeom>
          <a:solidFill>
            <a:srgbClr val="DB5F60"/>
          </a:solidFill>
          <a:ln>
            <a:solidFill>
              <a:srgbClr val="DB5F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42448" y="371246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441.4</a:t>
            </a:r>
          </a:p>
        </p:txBody>
      </p:sp>
      <p:sp>
        <p:nvSpPr>
          <p:cNvPr id="38" name="TextBox 37"/>
          <p:cNvSpPr txBox="1"/>
          <p:nvPr/>
        </p:nvSpPr>
        <p:spPr>
          <a:xfrm>
            <a:off x="6309360" y="4078224"/>
            <a:ext cx="1508760" cy="201168"/>
          </a:xfrm>
          <a:prstGeom prst="rect">
            <a:avLst/>
          </a:prstGeom>
          <a:noFill/>
        </p:spPr>
        <p:txBody>
          <a:bodyPr wrap="square" lIns="36576" rIns="36576" tIns="36576" bIns="36576" anchor="t">
            <a:spAutoFit/>
          </a:bodyPr>
          <a:lstStyle/>
          <a:p>
            <a:pPr algn="l">
              <a:spcAft>
                <a:spcPts val="400"/>
              </a:spcAft>
            </a:pPr>
            <a:r>
              <a:rPr sz="880" b="0" i="0">
                <a:solidFill>
                  <a:srgbClr val="142037"/>
                </a:solidFill>
                <a:latin typeface="Aptos"/>
              </a:rPr>
              <a:t>No regional expert</a:t>
            </a:r>
          </a:p>
        </p:txBody>
      </p:sp>
      <p:sp>
        <p:nvSpPr>
          <p:cNvPr id="39" name="Rounded Rectangle 38"/>
          <p:cNvSpPr/>
          <p:nvPr/>
        </p:nvSpPr>
        <p:spPr>
          <a:xfrm>
            <a:off x="7863840" y="4096511"/>
            <a:ext cx="2056766" cy="146304"/>
          </a:xfrm>
          <a:prstGeom prst="roundRect">
            <a:avLst>
              <a:gd name="adj" fmla="val 12000"/>
            </a:avLst>
          </a:prstGeom>
          <a:solidFill>
            <a:srgbClr val="1F304E"/>
          </a:solidFill>
          <a:ln>
            <a:solidFill>
              <a:srgbClr val="1F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42448" y="4078224"/>
            <a:ext cx="658368" cy="201168"/>
          </a:xfrm>
          <a:prstGeom prst="rect">
            <a:avLst/>
          </a:prstGeom>
          <a:noFill/>
        </p:spPr>
        <p:txBody>
          <a:bodyPr wrap="square" lIns="36576" rIns="36576" tIns="36576" bIns="36576" anchor="t">
            <a:spAutoFit/>
          </a:bodyPr>
          <a:lstStyle/>
          <a:p>
            <a:pPr algn="r">
              <a:spcAft>
                <a:spcPts val="400"/>
              </a:spcAft>
            </a:pPr>
            <a:r>
              <a:rPr sz="880" b="1" i="0">
                <a:solidFill>
                  <a:srgbClr val="142037"/>
                </a:solidFill>
                <a:latin typeface="Aptos"/>
              </a:rPr>
              <a:t>458.3</a:t>
            </a:r>
          </a:p>
        </p:txBody>
      </p:sp>
      <p:sp>
        <p:nvSpPr>
          <p:cNvPr id="41" name="Rounded Rectangle 40"/>
          <p:cNvSpPr/>
          <p:nvPr/>
        </p:nvSpPr>
        <p:spPr>
          <a:xfrm>
            <a:off x="685800" y="5010912"/>
            <a:ext cx="5212080" cy="1115568"/>
          </a:xfrm>
          <a:prstGeom prst="roundRect">
            <a:avLst>
              <a:gd name="adj" fmla="val 12000"/>
            </a:avLst>
          </a:prstGeom>
          <a:solidFill>
            <a:srgbClr val="E2F6F3"/>
          </a:solidFill>
          <a:ln>
            <a:solidFill>
              <a:srgbClr val="E2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5175504"/>
            <a:ext cx="4709160" cy="219456"/>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IMPLEMENTATION STATUS</a:t>
            </a:r>
          </a:p>
        </p:txBody>
      </p:sp>
      <p:sp>
        <p:nvSpPr>
          <p:cNvPr id="43" name="TextBox 42"/>
          <p:cNvSpPr txBox="1"/>
          <p:nvPr/>
        </p:nvSpPr>
        <p:spPr>
          <a:xfrm>
            <a:off x="896112" y="5468112"/>
            <a:ext cx="4709160" cy="484632"/>
          </a:xfrm>
          <a:prstGeom prst="rect">
            <a:avLst/>
          </a:prstGeom>
          <a:noFill/>
        </p:spPr>
        <p:txBody>
          <a:bodyPr wrap="square" lIns="36576" rIns="36576" tIns="36576" bIns="36576" anchor="t">
            <a:spAutoFit/>
          </a:bodyPr>
          <a:lstStyle/>
          <a:p>
            <a:pPr algn="l">
              <a:spcAft>
                <a:spcPts val="400"/>
              </a:spcAft>
            </a:pPr>
            <a:r>
              <a:rPr sz="1000" b="0" i="0">
                <a:solidFill>
                  <a:srgbClr val="253041"/>
                </a:solidFill>
                <a:latin typeface="Aptos"/>
              </a:rPr>
              <a:t>End-to-end chạy CPU: 5 clip thật, 20 tests pass.</a:t>
            </a:r>
          </a:p>
          <a:p>
            <a:pPr algn="l">
              <a:spcAft>
                <a:spcPts val="400"/>
              </a:spcAft>
            </a:pPr>
            <a:r>
              <a:rPr sz="1000" b="0" i="0">
                <a:solidFill>
                  <a:srgbClr val="253041"/>
                </a:solidFill>
                <a:latin typeface="Aptos"/>
              </a:rPr>
              <a:t>Chưa train đầy đủ GPU; chưa chạy AKD / FVD.</a:t>
            </a:r>
          </a:p>
        </p:txBody>
      </p:sp>
      <p:sp>
        <p:nvSpPr>
          <p:cNvPr id="44" name="Rounded Rectangle 43"/>
          <p:cNvSpPr/>
          <p:nvPr/>
        </p:nvSpPr>
        <p:spPr>
          <a:xfrm>
            <a:off x="6144768" y="5010912"/>
            <a:ext cx="5257800" cy="1115568"/>
          </a:xfrm>
          <a:prstGeom prst="roundRect">
            <a:avLst>
              <a:gd name="adj" fmla="val 12000"/>
            </a:avLst>
          </a:prstGeom>
          <a:solidFill>
            <a:srgbClr val="FFF6E0"/>
          </a:solidFill>
          <a:ln>
            <a:solidFill>
              <a:srgbClr val="FFF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64224" y="5175504"/>
            <a:ext cx="4754880" cy="219456"/>
          </a:xfrm>
          <a:prstGeom prst="rect">
            <a:avLst/>
          </a:prstGeom>
          <a:noFill/>
        </p:spPr>
        <p:txBody>
          <a:bodyPr wrap="square" lIns="36576" rIns="36576" tIns="36576" bIns="36576" anchor="t">
            <a:spAutoFit/>
          </a:bodyPr>
          <a:lstStyle/>
          <a:p>
            <a:pPr algn="l">
              <a:spcAft>
                <a:spcPts val="400"/>
              </a:spcAft>
            </a:pPr>
            <a:r>
              <a:rPr sz="1000" b="1" i="0">
                <a:solidFill>
                  <a:srgbClr val="142037"/>
                </a:solidFill>
                <a:latin typeface="Aptos"/>
              </a:rPr>
              <a:t>NEXT STEPS</a:t>
            </a:r>
          </a:p>
        </p:txBody>
      </p:sp>
      <p:sp>
        <p:nvSpPr>
          <p:cNvPr id="46" name="TextBox 45"/>
          <p:cNvSpPr txBox="1"/>
          <p:nvPr/>
        </p:nvSpPr>
        <p:spPr>
          <a:xfrm>
            <a:off x="6364224" y="5468112"/>
            <a:ext cx="4754880" cy="484632"/>
          </a:xfrm>
          <a:prstGeom prst="rect">
            <a:avLst/>
          </a:prstGeom>
          <a:noFill/>
        </p:spPr>
        <p:txBody>
          <a:bodyPr wrap="square" lIns="36576" rIns="36576" tIns="36576" bIns="36576" anchor="t">
            <a:spAutoFit/>
          </a:bodyPr>
          <a:lstStyle/>
          <a:p>
            <a:pPr algn="l">
              <a:spcAft>
                <a:spcPts val="400"/>
              </a:spcAft>
            </a:pPr>
            <a:r>
              <a:rPr sz="950" b="0" i="0">
                <a:solidFill>
                  <a:srgbClr val="253041"/>
                </a:solidFill>
                <a:latin typeface="Aptos"/>
              </a:rPr>
              <a:t>1. Train stage 1 flow, rồi stage 2 GReg.</a:t>
            </a:r>
          </a:p>
          <a:p>
            <a:pPr algn="l">
              <a:spcAft>
                <a:spcPts val="400"/>
              </a:spcAft>
            </a:pPr>
            <a:r>
              <a:rPr sz="950" b="0" i="0">
                <a:solidFill>
                  <a:srgbClr val="253041"/>
                </a:solidFill>
                <a:latin typeface="Aptos"/>
              </a:rPr>
              <a:t>2. Sweep tham số thiếu; đánh giá AKD / FVD.</a:t>
            </a:r>
          </a:p>
          <a:p>
            <a:pPr algn="l">
              <a:spcAft>
                <a:spcPts val="400"/>
              </a:spcAft>
            </a:pPr>
            <a:r>
              <a:rPr sz="950" b="0" i="0">
                <a:solidFill>
                  <a:srgbClr val="253041"/>
                </a:solidFill>
                <a:latin typeface="Aptos"/>
              </a:rPr>
              <a:t>3. Dùng baseline để kiểm tra RQ1 và RQ2.</a:t>
            </a:r>
          </a:p>
        </p:txBody>
      </p:sp>
      <p:cxnSp>
        <p:nvCxnSpPr>
          <p:cNvPr id="47" name="Connector 46"/>
          <p:cNvCxnSpPr/>
          <p:nvPr/>
        </p:nvCxnSpPr>
        <p:spPr>
          <a:xfrm>
            <a:off x="566928" y="6473952"/>
            <a:ext cx="11064240" cy="0"/>
          </a:xfrm>
          <a:prstGeom prst="line">
            <a:avLst/>
          </a:prstGeom>
          <a:ln w="10160">
            <a:solidFill>
              <a:srgbClr val="DCE3E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85216" y="6519672"/>
            <a:ext cx="7772400" cy="164592"/>
          </a:xfrm>
          <a:prstGeom prst="rect">
            <a:avLst/>
          </a:prstGeom>
          <a:noFill/>
        </p:spPr>
        <p:txBody>
          <a:bodyPr wrap="square" lIns="36576" rIns="36576" tIns="36576" bIns="36576" anchor="t">
            <a:spAutoFit/>
          </a:bodyPr>
          <a:lstStyle/>
          <a:p>
            <a:pPr algn="l">
              <a:spcAft>
                <a:spcPts val="400"/>
              </a:spcAft>
            </a:pPr>
            <a:r>
              <a:rPr sz="800" b="0" i="0">
                <a:solidFill>
                  <a:srgbClr val="657386"/>
                </a:solidFill>
                <a:latin typeface="Aptos"/>
              </a:rPr>
              <a:t>SLVG • Source: GReg (Shi et al., ICCV 2025); verify reported metrics and implementation details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SLVG and GReg Research Proposal</dc:title>
  <dc:subject>10-slide Vietnamese research proposal presentation</dc:subject>
  <dc:creator>OpenAI</dc:creator>
  <cp:keywords>SLVG, GReg, PGMM, sign language video generation, research proposal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